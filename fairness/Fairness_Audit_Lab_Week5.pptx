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3" r:id="rId21"/>
    <p:sldId id="288" r:id="rId22"/>
    <p:sldId id="274" r:id="rId23"/>
    <p:sldId id="283" r:id="rId24"/>
    <p:sldId id="284" r:id="rId25"/>
    <p:sldId id="285" r:id="rId26"/>
    <p:sldId id="286" r:id="rId27"/>
    <p:sldId id="287" r:id="rId28"/>
    <p:sldId id="28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012807-8245-468A-95A4-75A59E9C7ED0}" v="858" dt="2026-06-23T03:50:35.307"/>
    <p1510:client id="{2516D479-D673-8AFF-2BEB-22E1E46FF92D}" v="21" dt="2026-06-23T05:17:33.471"/>
    <p1510:client id="{58AC1CC8-912E-C85A-85D1-B3A1F329523D}" v="18" dt="2026-06-22T06:36:09.619"/>
    <p1510:client id="{F64F73D1-621C-4B57-8779-F8BA17A97EA8}" v="11" dt="2026-06-23T03:36:18.8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39D1A6-6246-9545-B1A8-590E62DA7C95}" type="datetimeFigureOut">
              <a:rPr lang="en-US" smtClean="0"/>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92B54A-ACFD-3B48-B17D-789040947D71}" type="slidenum">
              <a:rPr lang="en-US" smtClean="0"/>
              <a:t>‹#›</a:t>
            </a:fld>
            <a:endParaRPr lang="en-US"/>
          </a:p>
        </p:txBody>
      </p:sp>
    </p:spTree>
    <p:extLst>
      <p:ext uri="{BB962C8B-B14F-4D97-AF65-F5344CB8AC3E}">
        <p14:creationId xmlns:p14="http://schemas.microsoft.com/office/powerpoint/2010/main" val="629674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C392B54A-ACFD-3B48-B17D-789040947D71}" type="slidenum">
              <a:rPr lang="en-US" smtClean="0"/>
              <a:t>8</a:t>
            </a:fld>
            <a:endParaRPr lang="en-US"/>
          </a:p>
        </p:txBody>
      </p:sp>
    </p:spTree>
    <p:extLst>
      <p:ext uri="{BB962C8B-B14F-4D97-AF65-F5344CB8AC3E}">
        <p14:creationId xmlns:p14="http://schemas.microsoft.com/office/powerpoint/2010/main" val="4073333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1CB5C-5047-C90D-9D8F-DCE10144C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04474F-1EE1-3364-843E-1F9F2B5740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9D5C1-DA0C-6BC7-E03C-DA2003FC1D79}"/>
              </a:ext>
            </a:extLst>
          </p:cNvPr>
          <p:cNvSpPr>
            <a:spLocks noGrp="1"/>
          </p:cNvSpPr>
          <p:nvPr>
            <p:ph type="body" idx="1"/>
          </p:nvPr>
        </p:nvSpPr>
        <p:spPr/>
        <p:txBody>
          <a:bodyPr/>
          <a:lstStyle/>
          <a:p>
            <a:pPr marL="285750" indent="-285750">
              <a:buFont typeface="Arial" panose="020B0604020202020204" pitchFamily="34" charset="0"/>
              <a:buChar char="•"/>
            </a:pPr>
            <a:r>
              <a:rPr lang="en-US"/>
              <a:t>Which fairness metric did you use?</a:t>
            </a:r>
          </a:p>
          <a:p>
            <a:pPr marL="285750" indent="-285750">
              <a:buFont typeface="Arial" panose="020B0604020202020204" pitchFamily="34" charset="0"/>
              <a:buChar char="•"/>
            </a:pPr>
            <a:r>
              <a:rPr lang="en-US"/>
              <a:t>Was the model fair?</a:t>
            </a:r>
          </a:p>
          <a:p>
            <a:pPr marL="285750" indent="-285750">
              <a:buFont typeface="Arial" panose="020B0604020202020204" pitchFamily="34" charset="0"/>
              <a:buChar char="•"/>
            </a:pPr>
            <a:r>
              <a:rPr lang="en-US"/>
              <a:t>Did mitigation help?</a:t>
            </a:r>
          </a:p>
          <a:p>
            <a:pPr marL="285750" indent="-285750">
              <a:buFont typeface="Arial" panose="020B0604020202020204" pitchFamily="34" charset="0"/>
              <a:buChar char="•"/>
            </a:pPr>
            <a:r>
              <a:rPr lang="en-US"/>
              <a:t>Did accuracy change?</a:t>
            </a:r>
          </a:p>
        </p:txBody>
      </p:sp>
      <p:sp>
        <p:nvSpPr>
          <p:cNvPr id="4" name="Slide Number Placeholder 3">
            <a:extLst>
              <a:ext uri="{FF2B5EF4-FFF2-40B4-BE49-F238E27FC236}">
                <a16:creationId xmlns:a16="http://schemas.microsoft.com/office/drawing/2014/main" id="{70239DDF-72ED-1072-6CE2-995997E340BE}"/>
              </a:ext>
            </a:extLst>
          </p:cNvPr>
          <p:cNvSpPr>
            <a:spLocks noGrp="1"/>
          </p:cNvSpPr>
          <p:nvPr>
            <p:ph type="sldNum" sz="quarter" idx="5"/>
          </p:nvPr>
        </p:nvSpPr>
        <p:spPr/>
        <p:txBody>
          <a:bodyPr/>
          <a:lstStyle/>
          <a:p>
            <a:fld id="{C392B54A-ACFD-3B48-B17D-789040947D71}" type="slidenum">
              <a:rPr lang="en-US" smtClean="0"/>
              <a:t>20</a:t>
            </a:fld>
            <a:endParaRPr lang="en-US"/>
          </a:p>
        </p:txBody>
      </p:sp>
    </p:spTree>
    <p:extLst>
      <p:ext uri="{BB962C8B-B14F-4D97-AF65-F5344CB8AC3E}">
        <p14:creationId xmlns:p14="http://schemas.microsoft.com/office/powerpoint/2010/main" val="2247182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FF769-D27E-0AFA-1461-73B55EBAE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8227E-882E-9D17-FA12-F894BBF8B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8647E4-70BB-0D61-1CE0-00504D6EC2CA}"/>
              </a:ext>
            </a:extLst>
          </p:cNvPr>
          <p:cNvSpPr>
            <a:spLocks noGrp="1"/>
          </p:cNvSpPr>
          <p:nvPr>
            <p:ph type="body" idx="1"/>
          </p:nvPr>
        </p:nvSpPr>
        <p:spPr/>
        <p:txBody>
          <a:bodyPr/>
          <a:lstStyle/>
          <a:p>
            <a:pPr marL="285750" indent="-285750">
              <a:buFont typeface="Arial" panose="020B0604020202020204" pitchFamily="34" charset="0"/>
              <a:buChar char="•"/>
            </a:pPr>
            <a:r>
              <a:rPr lang="en-US"/>
              <a:t>Which fairness metric did you use?</a:t>
            </a:r>
          </a:p>
          <a:p>
            <a:pPr marL="285750" indent="-285750">
              <a:buFont typeface="Arial" panose="020B0604020202020204" pitchFamily="34" charset="0"/>
              <a:buChar char="•"/>
            </a:pPr>
            <a:r>
              <a:rPr lang="en-US"/>
              <a:t>Was the model fair?</a:t>
            </a:r>
          </a:p>
          <a:p>
            <a:pPr marL="285750" indent="-285750">
              <a:buFont typeface="Arial" panose="020B0604020202020204" pitchFamily="34" charset="0"/>
              <a:buChar char="•"/>
            </a:pPr>
            <a:r>
              <a:rPr lang="en-US"/>
              <a:t>Did mitigation help?</a:t>
            </a:r>
          </a:p>
          <a:p>
            <a:pPr marL="285750" indent="-285750">
              <a:buFont typeface="Arial" panose="020B0604020202020204" pitchFamily="34" charset="0"/>
              <a:buChar char="•"/>
            </a:pPr>
            <a:r>
              <a:rPr lang="en-US"/>
              <a:t>Did accuracy change?</a:t>
            </a:r>
          </a:p>
        </p:txBody>
      </p:sp>
      <p:sp>
        <p:nvSpPr>
          <p:cNvPr id="4" name="Slide Number Placeholder 3">
            <a:extLst>
              <a:ext uri="{FF2B5EF4-FFF2-40B4-BE49-F238E27FC236}">
                <a16:creationId xmlns:a16="http://schemas.microsoft.com/office/drawing/2014/main" id="{6208D91A-7A35-49D8-742A-733DF32AFAC9}"/>
              </a:ext>
            </a:extLst>
          </p:cNvPr>
          <p:cNvSpPr>
            <a:spLocks noGrp="1"/>
          </p:cNvSpPr>
          <p:nvPr>
            <p:ph type="sldNum" sz="quarter" idx="5"/>
          </p:nvPr>
        </p:nvSpPr>
        <p:spPr/>
        <p:txBody>
          <a:bodyPr/>
          <a:lstStyle/>
          <a:p>
            <a:fld id="{C392B54A-ACFD-3B48-B17D-789040947D71}" type="slidenum">
              <a:rPr lang="en-US" smtClean="0"/>
              <a:t>21</a:t>
            </a:fld>
            <a:endParaRPr lang="en-US"/>
          </a:p>
        </p:txBody>
      </p:sp>
    </p:spTree>
    <p:extLst>
      <p:ext uri="{BB962C8B-B14F-4D97-AF65-F5344CB8AC3E}">
        <p14:creationId xmlns:p14="http://schemas.microsoft.com/office/powerpoint/2010/main" val="670761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AA284-82D6-DAFE-3336-BB4172647C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FEF68-9357-D0AF-2826-6F34F33AB9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526028-71AF-BA5D-34BF-EB0920E61AE9}"/>
              </a:ext>
            </a:extLst>
          </p:cNvPr>
          <p:cNvSpPr>
            <a:spLocks noGrp="1"/>
          </p:cNvSpPr>
          <p:nvPr>
            <p:ph type="body" idx="1"/>
          </p:nvPr>
        </p:nvSpPr>
        <p:spPr/>
        <p:txBody>
          <a:bodyPr/>
          <a:lstStyle/>
          <a:p>
            <a:pPr marL="285750" indent="-285750">
              <a:buFont typeface="Arial" panose="020B0604020202020204" pitchFamily="34" charset="0"/>
              <a:buChar char="•"/>
            </a:pPr>
            <a:r>
              <a:rPr lang="en-US"/>
              <a:t>Which fairness metric did you use?</a:t>
            </a:r>
          </a:p>
          <a:p>
            <a:pPr marL="285750" indent="-285750">
              <a:buFont typeface="Arial" panose="020B0604020202020204" pitchFamily="34" charset="0"/>
              <a:buChar char="•"/>
            </a:pPr>
            <a:r>
              <a:rPr lang="en-US"/>
              <a:t>Was the model fair?</a:t>
            </a:r>
          </a:p>
          <a:p>
            <a:pPr marL="285750" indent="-285750">
              <a:buFont typeface="Arial" panose="020B0604020202020204" pitchFamily="34" charset="0"/>
              <a:buChar char="•"/>
            </a:pPr>
            <a:r>
              <a:rPr lang="en-US"/>
              <a:t>Did mitigation help?</a:t>
            </a:r>
          </a:p>
          <a:p>
            <a:pPr marL="285750" indent="-285750">
              <a:buFont typeface="Arial" panose="020B0604020202020204" pitchFamily="34" charset="0"/>
              <a:buChar char="•"/>
            </a:pPr>
            <a:r>
              <a:rPr lang="en-US"/>
              <a:t>Did accuracy change?</a:t>
            </a:r>
          </a:p>
        </p:txBody>
      </p:sp>
      <p:sp>
        <p:nvSpPr>
          <p:cNvPr id="4" name="Slide Number Placeholder 3">
            <a:extLst>
              <a:ext uri="{FF2B5EF4-FFF2-40B4-BE49-F238E27FC236}">
                <a16:creationId xmlns:a16="http://schemas.microsoft.com/office/drawing/2014/main" id="{8D7ED0B8-AD7E-B698-52A3-088B690B56D1}"/>
              </a:ext>
            </a:extLst>
          </p:cNvPr>
          <p:cNvSpPr>
            <a:spLocks noGrp="1"/>
          </p:cNvSpPr>
          <p:nvPr>
            <p:ph type="sldNum" sz="quarter" idx="5"/>
          </p:nvPr>
        </p:nvSpPr>
        <p:spPr/>
        <p:txBody>
          <a:bodyPr/>
          <a:lstStyle/>
          <a:p>
            <a:fld id="{C392B54A-ACFD-3B48-B17D-789040947D71}" type="slidenum">
              <a:rPr lang="en-US" smtClean="0"/>
              <a:t>22</a:t>
            </a:fld>
            <a:endParaRPr lang="en-US"/>
          </a:p>
        </p:txBody>
      </p:sp>
    </p:spTree>
    <p:extLst>
      <p:ext uri="{BB962C8B-B14F-4D97-AF65-F5344CB8AC3E}">
        <p14:creationId xmlns:p14="http://schemas.microsoft.com/office/powerpoint/2010/main" val="1292425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E8B80-C466-C1B4-998B-CBD84794F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76935-8E83-2460-99BB-DA225FFFB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8B67A-82E6-F1C5-4422-613B6D892C82}"/>
              </a:ext>
            </a:extLst>
          </p:cNvPr>
          <p:cNvSpPr>
            <a:spLocks noGrp="1"/>
          </p:cNvSpPr>
          <p:nvPr>
            <p:ph type="body" idx="1"/>
          </p:nvPr>
        </p:nvSpPr>
        <p:spPr/>
        <p:txBody>
          <a:bodyPr/>
          <a:lstStyle/>
          <a:p>
            <a:pPr marL="285750" indent="-285750">
              <a:buFont typeface="Arial" panose="020B0604020202020204" pitchFamily="34" charset="0"/>
              <a:buChar char="•"/>
            </a:pPr>
            <a:r>
              <a:rPr lang="en-US"/>
              <a:t>Which fairness metric did you use?</a:t>
            </a:r>
          </a:p>
          <a:p>
            <a:pPr marL="285750" indent="-285750">
              <a:buFont typeface="Arial" panose="020B0604020202020204" pitchFamily="34" charset="0"/>
              <a:buChar char="•"/>
            </a:pPr>
            <a:r>
              <a:rPr lang="en-US"/>
              <a:t>Was the model fair?</a:t>
            </a:r>
          </a:p>
          <a:p>
            <a:pPr marL="285750" indent="-285750">
              <a:buFont typeface="Arial" panose="020B0604020202020204" pitchFamily="34" charset="0"/>
              <a:buChar char="•"/>
            </a:pPr>
            <a:r>
              <a:rPr lang="en-US"/>
              <a:t>Did mitigation help?</a:t>
            </a:r>
          </a:p>
          <a:p>
            <a:pPr marL="285750" indent="-285750">
              <a:buFont typeface="Arial" panose="020B0604020202020204" pitchFamily="34" charset="0"/>
              <a:buChar char="•"/>
            </a:pPr>
            <a:r>
              <a:rPr lang="en-US"/>
              <a:t>Did accuracy change?</a:t>
            </a:r>
          </a:p>
        </p:txBody>
      </p:sp>
      <p:sp>
        <p:nvSpPr>
          <p:cNvPr id="4" name="Slide Number Placeholder 3">
            <a:extLst>
              <a:ext uri="{FF2B5EF4-FFF2-40B4-BE49-F238E27FC236}">
                <a16:creationId xmlns:a16="http://schemas.microsoft.com/office/drawing/2014/main" id="{EE6C6CC2-DD63-0049-5B34-03FA1E96349F}"/>
              </a:ext>
            </a:extLst>
          </p:cNvPr>
          <p:cNvSpPr>
            <a:spLocks noGrp="1"/>
          </p:cNvSpPr>
          <p:nvPr>
            <p:ph type="sldNum" sz="quarter" idx="5"/>
          </p:nvPr>
        </p:nvSpPr>
        <p:spPr/>
        <p:txBody>
          <a:bodyPr/>
          <a:lstStyle/>
          <a:p>
            <a:fld id="{C392B54A-ACFD-3B48-B17D-789040947D71}" type="slidenum">
              <a:rPr lang="en-US" smtClean="0"/>
              <a:t>23</a:t>
            </a:fld>
            <a:endParaRPr lang="en-US"/>
          </a:p>
        </p:txBody>
      </p:sp>
    </p:spTree>
    <p:extLst>
      <p:ext uri="{BB962C8B-B14F-4D97-AF65-F5344CB8AC3E}">
        <p14:creationId xmlns:p14="http://schemas.microsoft.com/office/powerpoint/2010/main" val="3866699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24739-4530-0FA8-7BFD-C8F450753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A4441-5AB3-3E7E-BD11-C9DC97040D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51E83-42D0-32AC-7625-23C0A3AE91F4}"/>
              </a:ext>
            </a:extLst>
          </p:cNvPr>
          <p:cNvSpPr>
            <a:spLocks noGrp="1"/>
          </p:cNvSpPr>
          <p:nvPr>
            <p:ph type="body" idx="1"/>
          </p:nvPr>
        </p:nvSpPr>
        <p:spPr/>
        <p:txBody>
          <a:bodyPr/>
          <a:lstStyle/>
          <a:p>
            <a:pPr marL="285750" indent="-285750">
              <a:buFont typeface="Arial" panose="020B0604020202020204" pitchFamily="34" charset="0"/>
              <a:buChar char="•"/>
            </a:pPr>
            <a:r>
              <a:rPr lang="en-US"/>
              <a:t>Which fairness metric did you use?</a:t>
            </a:r>
          </a:p>
          <a:p>
            <a:pPr marL="285750" indent="-285750">
              <a:buFont typeface="Arial" panose="020B0604020202020204" pitchFamily="34" charset="0"/>
              <a:buChar char="•"/>
            </a:pPr>
            <a:r>
              <a:rPr lang="en-US"/>
              <a:t>Was the model fair?</a:t>
            </a:r>
          </a:p>
          <a:p>
            <a:pPr marL="285750" indent="-285750">
              <a:buFont typeface="Arial" panose="020B0604020202020204" pitchFamily="34" charset="0"/>
              <a:buChar char="•"/>
            </a:pPr>
            <a:r>
              <a:rPr lang="en-US"/>
              <a:t>Did mitigation help?</a:t>
            </a:r>
          </a:p>
          <a:p>
            <a:pPr marL="285750" indent="-285750">
              <a:buFont typeface="Arial" panose="020B0604020202020204" pitchFamily="34" charset="0"/>
              <a:buChar char="•"/>
            </a:pPr>
            <a:r>
              <a:rPr lang="en-US"/>
              <a:t>Did accuracy change?</a:t>
            </a:r>
          </a:p>
        </p:txBody>
      </p:sp>
      <p:sp>
        <p:nvSpPr>
          <p:cNvPr id="4" name="Slide Number Placeholder 3">
            <a:extLst>
              <a:ext uri="{FF2B5EF4-FFF2-40B4-BE49-F238E27FC236}">
                <a16:creationId xmlns:a16="http://schemas.microsoft.com/office/drawing/2014/main" id="{02F8D969-9390-3376-AC9D-7DE4D327F3A9}"/>
              </a:ext>
            </a:extLst>
          </p:cNvPr>
          <p:cNvSpPr>
            <a:spLocks noGrp="1"/>
          </p:cNvSpPr>
          <p:nvPr>
            <p:ph type="sldNum" sz="quarter" idx="5"/>
          </p:nvPr>
        </p:nvSpPr>
        <p:spPr/>
        <p:txBody>
          <a:bodyPr/>
          <a:lstStyle/>
          <a:p>
            <a:fld id="{C392B54A-ACFD-3B48-B17D-789040947D71}" type="slidenum">
              <a:rPr lang="en-US" smtClean="0"/>
              <a:t>24</a:t>
            </a:fld>
            <a:endParaRPr lang="en-US"/>
          </a:p>
        </p:txBody>
      </p:sp>
    </p:spTree>
    <p:extLst>
      <p:ext uri="{BB962C8B-B14F-4D97-AF65-F5344CB8AC3E}">
        <p14:creationId xmlns:p14="http://schemas.microsoft.com/office/powerpoint/2010/main" val="4050057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abs/1609.05807" TargetMode="External"/><Relationship Id="rId2" Type="http://schemas.openxmlformats.org/officeDocument/2006/relationships/hyperlink" Target="https://archive.ics.uci.edu/dataset/2/adult"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160520"/>
            <a:ext cx="12191695" cy="9144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7030A0"/>
              </a:solidFill>
            </a:endParaRPr>
          </a:p>
        </p:txBody>
      </p:sp>
      <p:sp>
        <p:nvSpPr>
          <p:cNvPr id="3" name="TextBox 2"/>
          <p:cNvSpPr txBox="1"/>
          <p:nvPr/>
        </p:nvSpPr>
        <p:spPr>
          <a:xfrm>
            <a:off x="822960" y="2286000"/>
            <a:ext cx="10515600" cy="1828800"/>
          </a:xfrm>
          <a:prstGeom prst="rect">
            <a:avLst/>
          </a:prstGeom>
          <a:noFill/>
        </p:spPr>
        <p:txBody>
          <a:bodyPr wrap="square">
            <a:spAutoFit/>
          </a:bodyPr>
          <a:lstStyle/>
          <a:p>
            <a:r>
              <a:rPr sz="3600" b="1">
                <a:solidFill>
                  <a:srgbClr val="000000"/>
                </a:solidFill>
                <a:latin typeface="Tenorite"/>
              </a:rPr>
              <a:t>Fairness Audit Lab — Auditing &amp; Mitigating Bias in a Hiring / Income AI</a:t>
            </a:r>
          </a:p>
        </p:txBody>
      </p:sp>
      <p:sp>
        <p:nvSpPr>
          <p:cNvPr id="4" name="TextBox 3"/>
          <p:cNvSpPr txBox="1"/>
          <p:nvPr/>
        </p:nvSpPr>
        <p:spPr>
          <a:xfrm>
            <a:off x="838047" y="4748514"/>
            <a:ext cx="10515600" cy="923330"/>
          </a:xfrm>
          <a:prstGeom prst="rect">
            <a:avLst/>
          </a:prstGeom>
          <a:noFill/>
        </p:spPr>
        <p:txBody>
          <a:bodyPr wrap="square">
            <a:spAutoFit/>
          </a:bodyPr>
          <a:lstStyle/>
          <a:p>
            <a:r>
              <a:rPr sz="1800">
                <a:solidFill>
                  <a:srgbClr val="595959"/>
                </a:solidFill>
                <a:latin typeface="Tenorite"/>
              </a:rPr>
              <a:t>Week 5 Fairness Audit Lab</a:t>
            </a:r>
            <a:br>
              <a:rPr lang="en-US" sz="1800">
                <a:solidFill>
                  <a:srgbClr val="595959"/>
                </a:solidFill>
                <a:latin typeface="Tenorite"/>
              </a:rPr>
            </a:br>
            <a:r>
              <a:rPr lang="en-US" sz="1800">
                <a:solidFill>
                  <a:srgbClr val="595959"/>
                </a:solidFill>
                <a:latin typeface="Tenorite"/>
              </a:rPr>
              <a:t>51.516 Trustworthy AI</a:t>
            </a:r>
            <a:br>
              <a:rPr lang="en-US" sz="1800">
                <a:solidFill>
                  <a:srgbClr val="595959"/>
                </a:solidFill>
                <a:latin typeface="Tenorite"/>
              </a:rPr>
            </a:br>
            <a:r>
              <a:rPr lang="en-US" sz="1800">
                <a:solidFill>
                  <a:srgbClr val="595959"/>
                </a:solidFill>
                <a:latin typeface="Tenorite"/>
              </a:rPr>
              <a:t>Prepared by Group 1: Charles Foo, Lee Kai Boo, Sagar Pratap Singh, Sai Chin Kai (Clarence), Tan Ai Kun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Agenda</a:t>
            </a:r>
            <a:endParaRPr sz="2800" b="1">
              <a:solidFill>
                <a:srgbClr val="000000"/>
              </a:solidFill>
              <a:latin typeface="Tenorite"/>
            </a:endParaRP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2</a:t>
            </a:r>
          </a:p>
        </p:txBody>
      </p:sp>
      <p:sp>
        <p:nvSpPr>
          <p:cNvPr id="5" name="TextBox 4"/>
          <p:cNvSpPr txBox="1"/>
          <p:nvPr/>
        </p:nvSpPr>
        <p:spPr>
          <a:xfrm>
            <a:off x="548640" y="1417320"/>
            <a:ext cx="11064240" cy="2589940"/>
          </a:xfrm>
          <a:prstGeom prst="rect">
            <a:avLst/>
          </a:prstGeom>
          <a:noFill/>
        </p:spPr>
        <p:txBody>
          <a:bodyPr wrap="square">
            <a:spAutoFit/>
          </a:bodyPr>
          <a:lstStyle/>
          <a:p>
            <a:pPr>
              <a:lnSpc>
                <a:spcPct val="105000"/>
              </a:lnSpc>
              <a:spcAft>
                <a:spcPts val="600"/>
              </a:spcAft>
            </a:pPr>
            <a:r>
              <a:rPr>
                <a:solidFill>
                  <a:srgbClr val="000000"/>
                </a:solidFill>
                <a:latin typeface="Tenorite"/>
              </a:rPr>
              <a:t>•  Lab scenario, dataset, and historical bias in the data</a:t>
            </a:r>
          </a:p>
          <a:p>
            <a:pPr>
              <a:lnSpc>
                <a:spcPct val="105000"/>
              </a:lnSpc>
              <a:spcAft>
                <a:spcPts val="600"/>
              </a:spcAft>
            </a:pPr>
            <a:r>
              <a:rPr>
                <a:solidFill>
                  <a:srgbClr val="000000"/>
                </a:solidFill>
                <a:latin typeface="Tenorite"/>
              </a:rPr>
              <a:t>•  Step 1 — Train a baseline model (Accuracy, Precision, Recall)</a:t>
            </a:r>
          </a:p>
          <a:p>
            <a:pPr>
              <a:lnSpc>
                <a:spcPct val="105000"/>
              </a:lnSpc>
              <a:spcAft>
                <a:spcPts val="600"/>
              </a:spcAft>
            </a:pPr>
            <a:r>
              <a:rPr>
                <a:solidFill>
                  <a:srgbClr val="000000"/>
                </a:solidFill>
                <a:latin typeface="Tenorite"/>
              </a:rPr>
              <a:t>•  Step 2 — Measure fairness: Demographic Parity &amp; Equal Opportunity</a:t>
            </a:r>
          </a:p>
          <a:p>
            <a:pPr>
              <a:lnSpc>
                <a:spcPct val="105000"/>
              </a:lnSpc>
              <a:spcAft>
                <a:spcPts val="600"/>
              </a:spcAft>
            </a:pPr>
            <a:r>
              <a:rPr>
                <a:solidFill>
                  <a:srgbClr val="000000"/>
                </a:solidFill>
                <a:latin typeface="Tenorite"/>
              </a:rPr>
              <a:t>•  Step 3 — Identify sources of bias (historical, sampling, measurement, model)</a:t>
            </a:r>
          </a:p>
          <a:p>
            <a:pPr>
              <a:lnSpc>
                <a:spcPct val="105000"/>
              </a:lnSpc>
              <a:spcAft>
                <a:spcPts val="600"/>
              </a:spcAft>
            </a:pPr>
            <a:r>
              <a:rPr>
                <a:solidFill>
                  <a:srgbClr val="000000"/>
                </a:solidFill>
                <a:latin typeface="Tenorite"/>
              </a:rPr>
              <a:t>•  Step 4 — Apply a mitigation technique (Reweighing)</a:t>
            </a:r>
          </a:p>
          <a:p>
            <a:pPr>
              <a:lnSpc>
                <a:spcPct val="105000"/>
              </a:lnSpc>
              <a:spcAft>
                <a:spcPts val="600"/>
              </a:spcAft>
            </a:pPr>
            <a:r>
              <a:rPr>
                <a:solidFill>
                  <a:srgbClr val="000000"/>
                </a:solidFill>
                <a:latin typeface="Tenorite"/>
              </a:rPr>
              <a:t>•  Step 5 — Re-train, re-evaluate, and examine the fairness–accuracy trade-off</a:t>
            </a:r>
          </a:p>
          <a:p>
            <a:pPr>
              <a:lnSpc>
                <a:spcPct val="105000"/>
              </a:lnSpc>
              <a:spcAft>
                <a:spcPts val="600"/>
              </a:spcAft>
            </a:pPr>
            <a:r>
              <a:rPr>
                <a:solidFill>
                  <a:srgbClr val="000000"/>
                </a:solidFill>
                <a:latin typeface="Tenorite"/>
              </a:rPr>
              <a:t>•  Reflection on the audit findings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Lab Scenario &amp; Objective</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3</a:t>
            </a:r>
          </a:p>
        </p:txBody>
      </p:sp>
      <p:sp>
        <p:nvSpPr>
          <p:cNvPr id="5" name="TextBox 4"/>
          <p:cNvSpPr txBox="1"/>
          <p:nvPr/>
        </p:nvSpPr>
        <p:spPr>
          <a:xfrm>
            <a:off x="548640" y="1417320"/>
            <a:ext cx="11064240" cy="2699200"/>
          </a:xfrm>
          <a:prstGeom prst="rect">
            <a:avLst/>
          </a:prstGeom>
          <a:noFill/>
        </p:spPr>
        <p:txBody>
          <a:bodyPr wrap="square">
            <a:spAutoFit/>
          </a:bodyPr>
          <a:lstStyle/>
          <a:p>
            <a:pPr>
              <a:lnSpc>
                <a:spcPct val="105000"/>
              </a:lnSpc>
              <a:spcAft>
                <a:spcPts val="600"/>
              </a:spcAft>
            </a:pPr>
            <a:r>
              <a:rPr sz="1600">
                <a:solidFill>
                  <a:srgbClr val="000000"/>
                </a:solidFill>
                <a:latin typeface="Tenorite"/>
              </a:rPr>
              <a:t>•  Role: an independent auditor reviewing an automated hiring / screening system</a:t>
            </a:r>
          </a:p>
          <a:p>
            <a:pPr>
              <a:lnSpc>
                <a:spcPct val="105000"/>
              </a:lnSpc>
              <a:spcAft>
                <a:spcPts val="600"/>
              </a:spcAft>
            </a:pPr>
            <a:r>
              <a:rPr sz="1600">
                <a:solidFill>
                  <a:srgbClr val="000000"/>
                </a:solidFill>
                <a:latin typeface="Tenorite"/>
              </a:rPr>
              <a:t>•  The model predicts whether a person earns &gt; $50K — used as a proxy for selecting a candidate (the </a:t>
            </a:r>
            <a:r>
              <a:rPr sz="1600" err="1">
                <a:solidFill>
                  <a:srgbClr val="000000"/>
                </a:solidFill>
                <a:latin typeface="Tenorite"/>
              </a:rPr>
              <a:t>favourable</a:t>
            </a:r>
            <a:r>
              <a:rPr sz="1600">
                <a:solidFill>
                  <a:srgbClr val="000000"/>
                </a:solidFill>
                <a:latin typeface="Tenorite"/>
              </a:rPr>
              <a:t> outcome)</a:t>
            </a:r>
          </a:p>
          <a:p>
            <a:pPr>
              <a:lnSpc>
                <a:spcPct val="105000"/>
              </a:lnSpc>
              <a:spcAft>
                <a:spcPts val="600"/>
              </a:spcAft>
            </a:pPr>
            <a:r>
              <a:rPr sz="1600">
                <a:solidFill>
                  <a:srgbClr val="000000"/>
                </a:solidFill>
                <a:latin typeface="Tenorite"/>
              </a:rPr>
              <a:t>•  Protected attributes audited: Sex, Race, Age</a:t>
            </a:r>
          </a:p>
          <a:p>
            <a:pPr>
              <a:lnSpc>
                <a:spcPct val="105000"/>
              </a:lnSpc>
              <a:spcAft>
                <a:spcPts val="600"/>
              </a:spcAft>
            </a:pPr>
            <a:r>
              <a:rPr sz="1600">
                <a:solidFill>
                  <a:srgbClr val="000000"/>
                </a:solidFill>
                <a:latin typeface="Tenorite"/>
              </a:rPr>
              <a:t>•  Objective of the audit:</a:t>
            </a:r>
          </a:p>
          <a:p>
            <a:pPr lvl="1">
              <a:lnSpc>
                <a:spcPct val="105000"/>
              </a:lnSpc>
              <a:spcAft>
                <a:spcPts val="600"/>
              </a:spcAft>
            </a:pPr>
            <a:r>
              <a:rPr sz="1600">
                <a:solidFill>
                  <a:srgbClr val="404040"/>
                </a:solidFill>
                <a:latin typeface="Tenorite"/>
              </a:rPr>
              <a:t>      –  Train a prediction model and record its performance</a:t>
            </a:r>
          </a:p>
          <a:p>
            <a:pPr lvl="1">
              <a:lnSpc>
                <a:spcPct val="105000"/>
              </a:lnSpc>
              <a:spcAft>
                <a:spcPts val="600"/>
              </a:spcAft>
            </a:pPr>
            <a:r>
              <a:rPr sz="1600">
                <a:solidFill>
                  <a:srgbClr val="404040"/>
                </a:solidFill>
                <a:latin typeface="Tenorite"/>
              </a:rPr>
              <a:t>      –  Measure fairness across demographic groups</a:t>
            </a:r>
          </a:p>
          <a:p>
            <a:pPr lvl="1">
              <a:lnSpc>
                <a:spcPct val="105000"/>
              </a:lnSpc>
              <a:spcAft>
                <a:spcPts val="600"/>
              </a:spcAft>
            </a:pPr>
            <a:r>
              <a:rPr sz="1600">
                <a:solidFill>
                  <a:srgbClr val="404040"/>
                </a:solidFill>
                <a:latin typeface="Tenorite"/>
              </a:rPr>
              <a:t>      –  Detect where and why bias arises</a:t>
            </a:r>
          </a:p>
          <a:p>
            <a:pPr lvl="1">
              <a:lnSpc>
                <a:spcPct val="105000"/>
              </a:lnSpc>
              <a:spcAft>
                <a:spcPts val="600"/>
              </a:spcAft>
            </a:pPr>
            <a:r>
              <a:rPr sz="1600">
                <a:solidFill>
                  <a:srgbClr val="404040"/>
                </a:solidFill>
                <a:latin typeface="Tenorite"/>
              </a:rPr>
              <a:t>      –  Apply a mitigation technique and evaluate the trade-offs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Dataset — UCI Adult Income</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4</a:t>
            </a:r>
          </a:p>
        </p:txBody>
      </p:sp>
      <p:sp>
        <p:nvSpPr>
          <p:cNvPr id="5" name="TextBox 4"/>
          <p:cNvSpPr txBox="1"/>
          <p:nvPr/>
        </p:nvSpPr>
        <p:spPr>
          <a:xfrm>
            <a:off x="548640" y="1325880"/>
            <a:ext cx="11064240" cy="1692771"/>
          </a:xfrm>
          <a:prstGeom prst="rect">
            <a:avLst/>
          </a:prstGeom>
          <a:noFill/>
        </p:spPr>
        <p:txBody>
          <a:bodyPr wrap="square">
            <a:spAutoFit/>
          </a:bodyPr>
          <a:lstStyle/>
          <a:p>
            <a:pPr>
              <a:lnSpc>
                <a:spcPct val="105000"/>
              </a:lnSpc>
              <a:spcAft>
                <a:spcPts val="600"/>
              </a:spcAft>
            </a:pPr>
            <a:r>
              <a:rPr sz="1600">
                <a:solidFill>
                  <a:srgbClr val="000000"/>
                </a:solidFill>
                <a:latin typeface="Tenorite"/>
              </a:rPr>
              <a:t>•  UCI Adult Income dataset (1994 US Census) — 48,842 records, 14 features</a:t>
            </a:r>
          </a:p>
          <a:p>
            <a:pPr>
              <a:lnSpc>
                <a:spcPct val="105000"/>
              </a:lnSpc>
              <a:spcAft>
                <a:spcPts val="600"/>
              </a:spcAft>
            </a:pPr>
            <a:r>
              <a:rPr sz="1600">
                <a:solidFill>
                  <a:srgbClr val="000000"/>
                </a:solidFill>
                <a:latin typeface="Tenorite"/>
              </a:rPr>
              <a:t>•  Target: income &gt; $50K (positive / </a:t>
            </a:r>
            <a:r>
              <a:rPr sz="1600" err="1">
                <a:solidFill>
                  <a:srgbClr val="000000"/>
                </a:solidFill>
                <a:latin typeface="Tenorite"/>
              </a:rPr>
              <a:t>favourable</a:t>
            </a:r>
            <a:r>
              <a:rPr sz="1600">
                <a:solidFill>
                  <a:srgbClr val="000000"/>
                </a:solidFill>
                <a:latin typeface="Tenorite"/>
              </a:rPr>
              <a:t>) vs ≤ $50K</a:t>
            </a:r>
          </a:p>
          <a:p>
            <a:pPr>
              <a:lnSpc>
                <a:spcPct val="105000"/>
              </a:lnSpc>
              <a:spcAft>
                <a:spcPts val="600"/>
              </a:spcAft>
            </a:pPr>
            <a:r>
              <a:rPr sz="1600">
                <a:solidFill>
                  <a:srgbClr val="000000"/>
                </a:solidFill>
                <a:latin typeface="Tenorite"/>
              </a:rPr>
              <a:t>•  Class imbalance: ~24% of people earn &gt; $50K</a:t>
            </a:r>
          </a:p>
          <a:p>
            <a:pPr>
              <a:lnSpc>
                <a:spcPct val="105000"/>
              </a:lnSpc>
              <a:spcAft>
                <a:spcPts val="600"/>
              </a:spcAft>
            </a:pPr>
            <a:r>
              <a:rPr sz="1600">
                <a:solidFill>
                  <a:srgbClr val="000000"/>
                </a:solidFill>
                <a:latin typeface="Tenorite"/>
              </a:rPr>
              <a:t>•  Sex skew: ~67% Male, ~33% Female</a:t>
            </a:r>
          </a:p>
          <a:p>
            <a:pPr>
              <a:lnSpc>
                <a:spcPct val="105000"/>
              </a:lnSpc>
              <a:spcAft>
                <a:spcPts val="600"/>
              </a:spcAft>
            </a:pPr>
            <a:r>
              <a:rPr sz="1600">
                <a:solidFill>
                  <a:srgbClr val="000000"/>
                </a:solidFill>
                <a:latin typeface="Tenorite"/>
              </a:rPr>
              <a:t>•  Sensitive attributes (sex, race, age) held aside for the fairness audit</a:t>
            </a:r>
          </a:p>
        </p:txBody>
      </p:sp>
      <p:pic>
        <p:nvPicPr>
          <p:cNvPr id="6" name="Picture 5" descr="fig01_balance.png"/>
          <p:cNvPicPr>
            <a:picLocks noChangeAspect="1"/>
          </p:cNvPicPr>
          <p:nvPr/>
        </p:nvPicPr>
        <p:blipFill>
          <a:blip r:embed="rId2"/>
          <a:stretch>
            <a:fillRect/>
          </a:stretch>
        </p:blipFill>
        <p:spPr>
          <a:xfrm>
            <a:off x="1755413" y="3063240"/>
            <a:ext cx="8681173" cy="3108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Historical Bias in the Data</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5</a:t>
            </a:r>
          </a:p>
        </p:txBody>
      </p:sp>
      <p:sp>
        <p:nvSpPr>
          <p:cNvPr id="5" name="TextBox 4"/>
          <p:cNvSpPr txBox="1"/>
          <p:nvPr/>
        </p:nvSpPr>
        <p:spPr>
          <a:xfrm>
            <a:off x="484216" y="1808411"/>
            <a:ext cx="11064240" cy="1357295"/>
          </a:xfrm>
          <a:prstGeom prst="rect">
            <a:avLst/>
          </a:prstGeom>
          <a:noFill/>
        </p:spPr>
        <p:txBody>
          <a:bodyPr wrap="square">
            <a:spAutoFit/>
          </a:bodyPr>
          <a:lstStyle/>
          <a:p>
            <a:pPr>
              <a:lnSpc>
                <a:spcPct val="105000"/>
              </a:lnSpc>
              <a:spcAft>
                <a:spcPts val="600"/>
              </a:spcAft>
            </a:pPr>
            <a:r>
              <a:rPr sz="1600">
                <a:solidFill>
                  <a:srgbClr val="000000"/>
                </a:solidFill>
                <a:latin typeface="Tenorite"/>
              </a:rPr>
              <a:t>•  Sex: </a:t>
            </a:r>
            <a:r>
              <a:rPr sz="1600">
                <a:latin typeface="Tenorite"/>
              </a:rPr>
              <a:t>Male 30.4% vs </a:t>
            </a:r>
            <a:r>
              <a:rPr sz="1600">
                <a:solidFill>
                  <a:srgbClr val="FF0000"/>
                </a:solidFill>
                <a:latin typeface="Tenorite"/>
              </a:rPr>
              <a:t>Female 10.9%</a:t>
            </a:r>
          </a:p>
          <a:p>
            <a:pPr>
              <a:lnSpc>
                <a:spcPct val="105000"/>
              </a:lnSpc>
              <a:spcAft>
                <a:spcPts val="600"/>
              </a:spcAft>
            </a:pPr>
            <a:r>
              <a:rPr sz="1600">
                <a:solidFill>
                  <a:srgbClr val="000000"/>
                </a:solidFill>
                <a:latin typeface="Tenorite"/>
              </a:rPr>
              <a:t>•  Race: White 25.4% / Asian 26.9% vs </a:t>
            </a:r>
            <a:r>
              <a:rPr sz="1600">
                <a:solidFill>
                  <a:srgbClr val="FF0000"/>
                </a:solidFill>
                <a:latin typeface="Tenorite"/>
              </a:rPr>
              <a:t>Black 12.1% / others ~12%</a:t>
            </a:r>
          </a:p>
          <a:p>
            <a:pPr>
              <a:lnSpc>
                <a:spcPct val="105000"/>
              </a:lnSpc>
              <a:spcAft>
                <a:spcPts val="600"/>
              </a:spcAft>
            </a:pPr>
            <a:r>
              <a:rPr sz="1600">
                <a:solidFill>
                  <a:srgbClr val="000000"/>
                </a:solidFill>
                <a:latin typeface="Tenorite"/>
              </a:rPr>
              <a:t>•  Age: over-35 34.5% vs </a:t>
            </a:r>
            <a:r>
              <a:rPr sz="1600">
                <a:solidFill>
                  <a:srgbClr val="FF0000"/>
                </a:solidFill>
                <a:latin typeface="Tenorite"/>
              </a:rPr>
              <a:t>35-and-under 11.4%</a:t>
            </a:r>
          </a:p>
          <a:p>
            <a:pPr>
              <a:lnSpc>
                <a:spcPct val="105000"/>
              </a:lnSpc>
              <a:spcAft>
                <a:spcPts val="600"/>
              </a:spcAft>
            </a:pPr>
            <a:r>
              <a:rPr sz="1600">
                <a:solidFill>
                  <a:srgbClr val="000000"/>
                </a:solidFill>
                <a:latin typeface="Tenorite"/>
              </a:rPr>
              <a:t>•  Large gaps signal historical bias encoded in the labels — a model will tend to reproduce them</a:t>
            </a:r>
          </a:p>
        </p:txBody>
      </p:sp>
      <p:pic>
        <p:nvPicPr>
          <p:cNvPr id="6" name="Picture 5" descr="fig02_baserate.png"/>
          <p:cNvPicPr>
            <a:picLocks noChangeAspect="1"/>
          </p:cNvPicPr>
          <p:nvPr/>
        </p:nvPicPr>
        <p:blipFill>
          <a:blip r:embed="rId2"/>
          <a:stretch>
            <a:fillRect/>
          </a:stretch>
        </p:blipFill>
        <p:spPr>
          <a:xfrm>
            <a:off x="533400" y="3233618"/>
            <a:ext cx="10904913" cy="3108960"/>
          </a:xfrm>
          <a:prstGeom prst="rect">
            <a:avLst/>
          </a:prstGeom>
        </p:spPr>
      </p:pic>
      <p:sp>
        <p:nvSpPr>
          <p:cNvPr id="7" name="TextBox 6">
            <a:extLst>
              <a:ext uri="{FF2B5EF4-FFF2-40B4-BE49-F238E27FC236}">
                <a16:creationId xmlns:a16="http://schemas.microsoft.com/office/drawing/2014/main" id="{70A7095C-4EA1-6753-7394-4CE14839B51F}"/>
              </a:ext>
            </a:extLst>
          </p:cNvPr>
          <p:cNvSpPr txBox="1"/>
          <p:nvPr/>
        </p:nvSpPr>
        <p:spPr>
          <a:xfrm>
            <a:off x="533400" y="1143000"/>
            <a:ext cx="11015056" cy="609398"/>
          </a:xfrm>
          <a:prstGeom prst="rect">
            <a:avLst/>
          </a:prstGeom>
          <a:noFill/>
        </p:spPr>
        <p:txBody>
          <a:bodyPr wrap="square">
            <a:spAutoFit/>
          </a:bodyPr>
          <a:lstStyle/>
          <a:p>
            <a:pPr>
              <a:lnSpc>
                <a:spcPct val="105000"/>
              </a:lnSpc>
              <a:spcAft>
                <a:spcPts val="600"/>
              </a:spcAft>
            </a:pPr>
            <a:r>
              <a:rPr lang="en-US" sz="1600">
                <a:latin typeface="Tenorite"/>
              </a:rPr>
              <a:t>We have observed that the dataset already contains the following historical bias based on societal and employment prejudiced practices. Using </a:t>
            </a:r>
            <a:r>
              <a:rPr lang="en-SG" sz="1600">
                <a:latin typeface="Tenorite"/>
              </a:rPr>
              <a:t>Base rate = share of a group that truly earns &gt; $50K (ground truth, before any model)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Method &amp; Preprocessing</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6</a:t>
            </a:r>
          </a:p>
        </p:txBody>
      </p:sp>
      <p:sp>
        <p:nvSpPr>
          <p:cNvPr id="5" name="TextBox 4"/>
          <p:cNvSpPr txBox="1"/>
          <p:nvPr/>
        </p:nvSpPr>
        <p:spPr>
          <a:xfrm>
            <a:off x="502920" y="1365031"/>
            <a:ext cx="11064240" cy="1615827"/>
          </a:xfrm>
          <a:prstGeom prst="rect">
            <a:avLst/>
          </a:prstGeom>
          <a:noFill/>
        </p:spPr>
        <p:txBody>
          <a:bodyPr wrap="square">
            <a:spAutoFit/>
          </a:bodyPr>
          <a:lstStyle/>
          <a:p>
            <a:pPr>
              <a:lnSpc>
                <a:spcPct val="105000"/>
              </a:lnSpc>
              <a:spcAft>
                <a:spcPts val="600"/>
              </a:spcAft>
            </a:pPr>
            <a:r>
              <a:rPr lang="en-SG" sz="1600">
                <a:solidFill>
                  <a:srgbClr val="000000"/>
                </a:solidFill>
                <a:latin typeface="Tenorite"/>
              </a:rPr>
              <a:t>We setup a Logistic Regression classifier (scikit-learn, </a:t>
            </a:r>
            <a:r>
              <a:rPr lang="en-SG" sz="1600" err="1">
                <a:solidFill>
                  <a:srgbClr val="000000"/>
                </a:solidFill>
                <a:latin typeface="Tenorite"/>
              </a:rPr>
              <a:t>max_iter</a:t>
            </a:r>
            <a:r>
              <a:rPr lang="en-SG" sz="1600">
                <a:solidFill>
                  <a:srgbClr val="000000"/>
                </a:solidFill>
                <a:latin typeface="Tenorite"/>
              </a:rPr>
              <a:t>=1000) that is trained to predict income &gt;50K vs ≤50K</a:t>
            </a:r>
          </a:p>
          <a:p>
            <a:pPr>
              <a:lnSpc>
                <a:spcPct val="105000"/>
              </a:lnSpc>
              <a:spcAft>
                <a:spcPts val="600"/>
              </a:spcAft>
            </a:pPr>
            <a:r>
              <a:rPr lang="en-SG" sz="1600">
                <a:solidFill>
                  <a:srgbClr val="000000"/>
                </a:solidFill>
                <a:latin typeface="Tenorite"/>
              </a:rPr>
              <a:t>Numeric features are standardized using </a:t>
            </a:r>
            <a:r>
              <a:rPr lang="en-SG" sz="1600" err="1">
                <a:solidFill>
                  <a:srgbClr val="000000"/>
                </a:solidFill>
                <a:latin typeface="Tenorite"/>
              </a:rPr>
              <a:t>StandardScaler</a:t>
            </a:r>
            <a:endParaRPr lang="en-SG" sz="1600">
              <a:solidFill>
                <a:srgbClr val="000000"/>
              </a:solidFill>
              <a:latin typeface="Tenorite"/>
            </a:endParaRPr>
          </a:p>
          <a:p>
            <a:pPr>
              <a:lnSpc>
                <a:spcPct val="105000"/>
              </a:lnSpc>
              <a:spcAft>
                <a:spcPts val="600"/>
              </a:spcAft>
            </a:pPr>
            <a:r>
              <a:rPr lang="en-SG" sz="1600">
                <a:solidFill>
                  <a:srgbClr val="000000"/>
                </a:solidFill>
                <a:latin typeface="Tenorite"/>
              </a:rPr>
              <a:t>For categorical columns, we used </a:t>
            </a:r>
            <a:r>
              <a:rPr lang="en-SG" sz="1600" err="1">
                <a:solidFill>
                  <a:srgbClr val="000000"/>
                </a:solidFill>
                <a:latin typeface="Tenorite"/>
              </a:rPr>
              <a:t>OneHotEncoding</a:t>
            </a:r>
            <a:r>
              <a:rPr lang="en-SG" sz="1600">
                <a:solidFill>
                  <a:srgbClr val="000000"/>
                </a:solidFill>
                <a:latin typeface="Tenorite"/>
              </a:rPr>
              <a:t> to convert them to binary 0/1 values</a:t>
            </a:r>
          </a:p>
          <a:p>
            <a:pPr>
              <a:lnSpc>
                <a:spcPct val="105000"/>
              </a:lnSpc>
              <a:spcAft>
                <a:spcPts val="600"/>
              </a:spcAft>
            </a:pPr>
            <a:r>
              <a:rPr lang="en-SG" sz="1600">
                <a:solidFill>
                  <a:srgbClr val="FF0000"/>
                </a:solidFill>
                <a:latin typeface="Tenorite"/>
              </a:rPr>
              <a:t>Given sex and race were also part of the UCI dataset, we made a design choice to exclude these columns from training so the model does not learn from these obvious bias signals</a:t>
            </a:r>
            <a:endParaRPr sz="1600">
              <a:solidFill>
                <a:srgbClr val="FF0000"/>
              </a:solidFill>
              <a:latin typeface="Tenorite"/>
            </a:endParaRPr>
          </a:p>
        </p:txBody>
      </p:sp>
      <p:pic>
        <p:nvPicPr>
          <p:cNvPr id="6" name="Picture 5" descr="fig03_split.png"/>
          <p:cNvPicPr>
            <a:picLocks noChangeAspect="1"/>
          </p:cNvPicPr>
          <p:nvPr/>
        </p:nvPicPr>
        <p:blipFill>
          <a:blip r:embed="rId2"/>
          <a:stretch>
            <a:fillRect/>
          </a:stretch>
        </p:blipFill>
        <p:spPr>
          <a:xfrm>
            <a:off x="3523451" y="3122098"/>
            <a:ext cx="4288302" cy="2834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Step 1 — Baseline Model</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7</a:t>
            </a:r>
          </a:p>
        </p:txBody>
      </p:sp>
      <p:sp>
        <p:nvSpPr>
          <p:cNvPr id="5" name="TextBox 4"/>
          <p:cNvSpPr txBox="1"/>
          <p:nvPr/>
        </p:nvSpPr>
        <p:spPr>
          <a:xfrm>
            <a:off x="548640" y="1325880"/>
            <a:ext cx="11064240" cy="1357295"/>
          </a:xfrm>
          <a:prstGeom prst="rect">
            <a:avLst/>
          </a:prstGeom>
          <a:noFill/>
        </p:spPr>
        <p:txBody>
          <a:bodyPr wrap="square">
            <a:spAutoFit/>
          </a:bodyPr>
          <a:lstStyle/>
          <a:p>
            <a:pPr>
              <a:lnSpc>
                <a:spcPct val="105000"/>
              </a:lnSpc>
              <a:spcAft>
                <a:spcPts val="600"/>
              </a:spcAft>
            </a:pPr>
            <a:r>
              <a:rPr sz="1600">
                <a:solidFill>
                  <a:srgbClr val="000000"/>
                </a:solidFill>
                <a:latin typeface="Tenorite"/>
              </a:rPr>
              <a:t>•  Baseline performance on the test set (12,211 rows):</a:t>
            </a:r>
          </a:p>
          <a:p>
            <a:pPr lvl="1">
              <a:lnSpc>
                <a:spcPct val="105000"/>
              </a:lnSpc>
              <a:spcAft>
                <a:spcPts val="600"/>
              </a:spcAft>
            </a:pPr>
            <a:r>
              <a:rPr sz="1600">
                <a:solidFill>
                  <a:srgbClr val="404040"/>
                </a:solidFill>
                <a:latin typeface="Tenorite"/>
              </a:rPr>
              <a:t>      –  Accuracy 0.854 · Precision 0.744 · Recall / TPR 0.592</a:t>
            </a:r>
          </a:p>
          <a:p>
            <a:pPr>
              <a:lnSpc>
                <a:spcPct val="105000"/>
              </a:lnSpc>
              <a:spcAft>
                <a:spcPts val="600"/>
              </a:spcAft>
            </a:pPr>
            <a:r>
              <a:rPr sz="1600">
                <a:solidFill>
                  <a:srgbClr val="000000"/>
                </a:solidFill>
                <a:latin typeface="Tenorite"/>
              </a:rPr>
              <a:t>•  Confusion matrix: TP 1,730 · FP 594 · FN 1,192 · TN 8,695</a:t>
            </a:r>
          </a:p>
          <a:p>
            <a:pPr>
              <a:lnSpc>
                <a:spcPct val="105000"/>
              </a:lnSpc>
              <a:spcAft>
                <a:spcPts val="600"/>
              </a:spcAft>
            </a:pPr>
            <a:r>
              <a:rPr sz="1600">
                <a:solidFill>
                  <a:srgbClr val="FF0000"/>
                </a:solidFill>
                <a:latin typeface="Tenorite"/>
              </a:rPr>
              <a:t>•  The model misses ~41% of true &gt; $50K earners (high false negatives) — conservative about awarding the positive label</a:t>
            </a:r>
          </a:p>
        </p:txBody>
      </p:sp>
      <p:pic>
        <p:nvPicPr>
          <p:cNvPr id="6" name="Picture 5" descr="fig04_confusion.png"/>
          <p:cNvPicPr>
            <a:picLocks noChangeAspect="1"/>
          </p:cNvPicPr>
          <p:nvPr/>
        </p:nvPicPr>
        <p:blipFill>
          <a:blip r:embed="rId2"/>
          <a:stretch>
            <a:fillRect/>
          </a:stretch>
        </p:blipFill>
        <p:spPr>
          <a:xfrm>
            <a:off x="2063028" y="3063240"/>
            <a:ext cx="8065943" cy="3154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Step 2 — Measuring Fairness: Definitions</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8</a:t>
            </a:r>
          </a:p>
        </p:txBody>
      </p:sp>
      <p:sp>
        <p:nvSpPr>
          <p:cNvPr id="6" name="TextBox 5">
            <a:extLst>
              <a:ext uri="{FF2B5EF4-FFF2-40B4-BE49-F238E27FC236}">
                <a16:creationId xmlns:a16="http://schemas.microsoft.com/office/drawing/2014/main" id="{5656FE13-B11E-E70D-EEA9-AC827099455B}"/>
              </a:ext>
            </a:extLst>
          </p:cNvPr>
          <p:cNvSpPr txBox="1"/>
          <p:nvPr/>
        </p:nvSpPr>
        <p:spPr>
          <a:xfrm>
            <a:off x="502920" y="1143000"/>
            <a:ext cx="11064240" cy="2132892"/>
          </a:xfrm>
          <a:prstGeom prst="rect">
            <a:avLst/>
          </a:prstGeom>
          <a:noFill/>
        </p:spPr>
        <p:txBody>
          <a:bodyPr wrap="square">
            <a:spAutoFit/>
          </a:bodyPr>
          <a:lstStyle/>
          <a:p>
            <a:pPr>
              <a:lnSpc>
                <a:spcPct val="105000"/>
              </a:lnSpc>
              <a:spcAft>
                <a:spcPts val="600"/>
              </a:spcAft>
            </a:pPr>
            <a:r>
              <a:rPr lang="en-US" sz="1600">
                <a:solidFill>
                  <a:srgbClr val="000000"/>
                </a:solidFill>
                <a:latin typeface="Tenorite"/>
              </a:rPr>
              <a:t>We have computed and compared two group fairness metrics:</a:t>
            </a:r>
            <a:br>
              <a:rPr lang="en-US" sz="1600">
                <a:solidFill>
                  <a:srgbClr val="000000"/>
                </a:solidFill>
                <a:latin typeface="Tenorite"/>
              </a:rPr>
            </a:br>
            <a:endParaRPr sz="1600">
              <a:solidFill>
                <a:srgbClr val="000000"/>
              </a:solidFill>
              <a:latin typeface="Tenorite"/>
            </a:endParaRPr>
          </a:p>
          <a:p>
            <a:pPr>
              <a:lnSpc>
                <a:spcPct val="105000"/>
              </a:lnSpc>
              <a:spcAft>
                <a:spcPts val="600"/>
              </a:spcAft>
            </a:pPr>
            <a:r>
              <a:rPr sz="1600">
                <a:solidFill>
                  <a:srgbClr val="000000"/>
                </a:solidFill>
                <a:latin typeface="Tenorite"/>
              </a:rPr>
              <a:t>•  Selection rate = P(</a:t>
            </a:r>
            <a:r>
              <a:rPr sz="1600" err="1">
                <a:solidFill>
                  <a:srgbClr val="000000"/>
                </a:solidFill>
                <a:latin typeface="Tenorite"/>
              </a:rPr>
              <a:t>ŷ</a:t>
            </a:r>
            <a:r>
              <a:rPr sz="1600">
                <a:solidFill>
                  <a:srgbClr val="000000"/>
                </a:solidFill>
                <a:latin typeface="Tenorite"/>
              </a:rPr>
              <a:t> = 1 | group)  → </a:t>
            </a:r>
            <a:r>
              <a:rPr lang="en-US" sz="1600">
                <a:solidFill>
                  <a:srgbClr val="000000"/>
                </a:solidFill>
                <a:latin typeface="Tenorite"/>
              </a:rPr>
              <a:t>Share of group that the model predicts to be earning &gt;50K. Used to evaluate </a:t>
            </a:r>
            <a:r>
              <a:rPr sz="1600">
                <a:solidFill>
                  <a:srgbClr val="000000"/>
                </a:solidFill>
                <a:latin typeface="Tenorite"/>
              </a:rPr>
              <a:t>Demographic Parity: </a:t>
            </a:r>
            <a:r>
              <a:rPr lang="en-US" sz="1600">
                <a:solidFill>
                  <a:srgbClr val="000000"/>
                </a:solidFill>
                <a:latin typeface="Tenorite"/>
              </a:rPr>
              <a:t>achieve </a:t>
            </a:r>
            <a:r>
              <a:rPr sz="1600">
                <a:solidFill>
                  <a:srgbClr val="000000"/>
                </a:solidFill>
                <a:latin typeface="Tenorite"/>
              </a:rPr>
              <a:t>equal selection rates across groups</a:t>
            </a:r>
            <a:endParaRPr lang="en-US" sz="1600">
              <a:solidFill>
                <a:srgbClr val="000000"/>
              </a:solidFill>
              <a:latin typeface="Tenorite"/>
            </a:endParaRPr>
          </a:p>
          <a:p>
            <a:pPr>
              <a:lnSpc>
                <a:spcPct val="105000"/>
              </a:lnSpc>
              <a:spcAft>
                <a:spcPts val="600"/>
              </a:spcAft>
            </a:pPr>
            <a:endParaRPr sz="1600">
              <a:solidFill>
                <a:srgbClr val="000000"/>
              </a:solidFill>
              <a:latin typeface="Tenorite"/>
            </a:endParaRPr>
          </a:p>
          <a:p>
            <a:pPr>
              <a:lnSpc>
                <a:spcPct val="105000"/>
              </a:lnSpc>
              <a:spcAft>
                <a:spcPts val="600"/>
              </a:spcAft>
            </a:pPr>
            <a:r>
              <a:rPr sz="1600">
                <a:solidFill>
                  <a:srgbClr val="000000"/>
                </a:solidFill>
                <a:latin typeface="Tenorite"/>
              </a:rPr>
              <a:t>•  TPR = TP / (TP + FN) </a:t>
            </a:r>
            <a:r>
              <a:rPr lang="en-US" sz="1600">
                <a:solidFill>
                  <a:srgbClr val="000000"/>
                </a:solidFill>
                <a:latin typeface="Tenorite"/>
              </a:rPr>
              <a:t>(Recall per group) </a:t>
            </a:r>
            <a:r>
              <a:rPr sz="1600">
                <a:solidFill>
                  <a:srgbClr val="000000"/>
                </a:solidFill>
                <a:latin typeface="Tenorite"/>
              </a:rPr>
              <a:t>= of those who truly earn &gt; $50K, the fraction correctly identified</a:t>
            </a:r>
            <a:r>
              <a:rPr lang="en-US" sz="1600">
                <a:solidFill>
                  <a:srgbClr val="000000"/>
                </a:solidFill>
                <a:latin typeface="Tenorite"/>
              </a:rPr>
              <a:t>. Used to evaluate </a:t>
            </a:r>
            <a:r>
              <a:rPr sz="1600">
                <a:solidFill>
                  <a:srgbClr val="000000"/>
                </a:solidFill>
                <a:latin typeface="Tenorite"/>
              </a:rPr>
              <a:t>Equal Opportunity: </a:t>
            </a:r>
            <a:r>
              <a:rPr lang="en-US" sz="1600">
                <a:solidFill>
                  <a:srgbClr val="000000"/>
                </a:solidFill>
                <a:latin typeface="Tenorite"/>
              </a:rPr>
              <a:t>achieve </a:t>
            </a:r>
            <a:r>
              <a:rPr sz="1600">
                <a:solidFill>
                  <a:srgbClr val="000000"/>
                </a:solidFill>
                <a:latin typeface="Tenorite"/>
              </a:rPr>
              <a:t>equal TPR across groups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Step 2 — Fairness by Sex</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9</a:t>
            </a:r>
          </a:p>
        </p:txBody>
      </p:sp>
      <p:sp>
        <p:nvSpPr>
          <p:cNvPr id="5" name="TextBox 4"/>
          <p:cNvSpPr txBox="1"/>
          <p:nvPr/>
        </p:nvSpPr>
        <p:spPr>
          <a:xfrm>
            <a:off x="548640" y="1325880"/>
            <a:ext cx="11064240" cy="1354217"/>
          </a:xfrm>
          <a:prstGeom prst="rect">
            <a:avLst/>
          </a:prstGeom>
          <a:noFill/>
        </p:spPr>
        <p:txBody>
          <a:bodyPr wrap="square">
            <a:spAutoFit/>
          </a:bodyPr>
          <a:lstStyle/>
          <a:p>
            <a:pPr>
              <a:lnSpc>
                <a:spcPct val="105000"/>
              </a:lnSpc>
              <a:spcAft>
                <a:spcPts val="600"/>
              </a:spcAft>
            </a:pPr>
            <a:r>
              <a:rPr sz="1600">
                <a:solidFill>
                  <a:srgbClr val="000000"/>
                </a:solidFill>
                <a:latin typeface="Tenorite"/>
              </a:rPr>
              <a:t>•  Selection</a:t>
            </a:r>
            <a:r>
              <a:rPr lang="en-GB" sz="1600">
                <a:solidFill>
                  <a:srgbClr val="000000"/>
                </a:solidFill>
                <a:latin typeface="Tenorite"/>
              </a:rPr>
              <a:t> (Prediction) </a:t>
            </a:r>
            <a:r>
              <a:rPr sz="1600">
                <a:solidFill>
                  <a:srgbClr val="000000"/>
                </a:solidFill>
                <a:latin typeface="Tenorite"/>
              </a:rPr>
              <a:t>rate: Male 0.246 vs Female 0.078  →  Demographic Parity diff = 0.167</a:t>
            </a:r>
          </a:p>
          <a:p>
            <a:pPr>
              <a:lnSpc>
                <a:spcPct val="105000"/>
              </a:lnSpc>
              <a:spcAft>
                <a:spcPts val="600"/>
              </a:spcAft>
            </a:pPr>
            <a:r>
              <a:rPr sz="1600">
                <a:solidFill>
                  <a:srgbClr val="000000"/>
                </a:solidFill>
                <a:latin typeface="Tenorite"/>
              </a:rPr>
              <a:t>•  TPR: Male 0.604 vs Female 0.525  →  Equal Opportunity diff = 0.079</a:t>
            </a:r>
          </a:p>
          <a:p>
            <a:pPr>
              <a:lnSpc>
                <a:spcPct val="105000"/>
              </a:lnSpc>
              <a:spcAft>
                <a:spcPts val="600"/>
              </a:spcAft>
            </a:pPr>
            <a:r>
              <a:rPr sz="1600">
                <a:solidFill>
                  <a:srgbClr val="FF0000"/>
                </a:solidFill>
                <a:latin typeface="Tenorite"/>
              </a:rPr>
              <a:t>•  The model selects</a:t>
            </a:r>
            <a:r>
              <a:rPr lang="en-GB" sz="1600">
                <a:solidFill>
                  <a:srgbClr val="FF0000"/>
                </a:solidFill>
                <a:latin typeface="Tenorite"/>
              </a:rPr>
              <a:t> (predicts)</a:t>
            </a:r>
            <a:r>
              <a:rPr sz="1600">
                <a:solidFill>
                  <a:srgbClr val="FF0000"/>
                </a:solidFill>
                <a:latin typeface="Tenorite"/>
              </a:rPr>
              <a:t> men ~3× more often, and identifies qualified men more often</a:t>
            </a:r>
            <a:r>
              <a:rPr lang="en-US" sz="1600">
                <a:solidFill>
                  <a:srgbClr val="FF0000"/>
                </a:solidFill>
                <a:latin typeface="Tenorite"/>
              </a:rPr>
              <a:t> than women</a:t>
            </a:r>
            <a:endParaRPr sz="1600">
              <a:solidFill>
                <a:srgbClr val="FF0000"/>
              </a:solidFill>
              <a:latin typeface="Tenorite"/>
            </a:endParaRPr>
          </a:p>
          <a:p>
            <a:pPr>
              <a:lnSpc>
                <a:spcPct val="105000"/>
              </a:lnSpc>
              <a:spcAft>
                <a:spcPts val="600"/>
              </a:spcAft>
            </a:pPr>
            <a:r>
              <a:rPr sz="1600">
                <a:solidFill>
                  <a:srgbClr val="FF0000"/>
                </a:solidFill>
                <a:latin typeface="Tenorite"/>
              </a:rPr>
              <a:t>•  Bias appears even though sex was not a feature → carried by proxy variables</a:t>
            </a:r>
            <a:r>
              <a:rPr lang="en-US" sz="1600">
                <a:solidFill>
                  <a:srgbClr val="FF0000"/>
                </a:solidFill>
                <a:latin typeface="Tenorite"/>
              </a:rPr>
              <a:t> (for e.g. relationship: husband/wife)</a:t>
            </a:r>
            <a:endParaRPr sz="1600">
              <a:solidFill>
                <a:srgbClr val="FF0000"/>
              </a:solidFill>
              <a:latin typeface="Tenorite"/>
            </a:endParaRPr>
          </a:p>
        </p:txBody>
      </p:sp>
      <p:pic>
        <p:nvPicPr>
          <p:cNvPr id="6" name="Picture 5" descr="fig05_dp_eo_sex.png"/>
          <p:cNvPicPr>
            <a:picLocks noChangeAspect="1"/>
          </p:cNvPicPr>
          <p:nvPr/>
        </p:nvPicPr>
        <p:blipFill>
          <a:blip r:embed="rId2"/>
          <a:stretch>
            <a:fillRect/>
          </a:stretch>
        </p:blipFill>
        <p:spPr>
          <a:xfrm>
            <a:off x="1823888" y="3063240"/>
            <a:ext cx="8544224" cy="3154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47068"/>
            <a:ext cx="11155680" cy="868680"/>
          </a:xfrm>
          <a:prstGeom prst="rect">
            <a:avLst/>
          </a:prstGeom>
          <a:noFill/>
        </p:spPr>
        <p:txBody>
          <a:bodyPr wrap="square" anchor="ctr">
            <a:spAutoFit/>
          </a:bodyPr>
          <a:lstStyle/>
          <a:p>
            <a:pPr algn="l"/>
            <a:r>
              <a:rPr sz="3600" b="1">
                <a:solidFill>
                  <a:srgbClr val="000000"/>
                </a:solidFill>
                <a:latin typeface="Tenorite"/>
              </a:rPr>
              <a:t>Step 2 — Fairness by Race &amp; Age</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10</a:t>
            </a:r>
          </a:p>
        </p:txBody>
      </p:sp>
      <p:sp>
        <p:nvSpPr>
          <p:cNvPr id="5" name="TextBox 4"/>
          <p:cNvSpPr txBox="1"/>
          <p:nvPr/>
        </p:nvSpPr>
        <p:spPr>
          <a:xfrm>
            <a:off x="548640" y="1325880"/>
            <a:ext cx="11064240" cy="1615827"/>
          </a:xfrm>
          <a:prstGeom prst="rect">
            <a:avLst/>
          </a:prstGeom>
          <a:noFill/>
        </p:spPr>
        <p:txBody>
          <a:bodyPr wrap="square">
            <a:spAutoFit/>
          </a:bodyPr>
          <a:lstStyle/>
          <a:p>
            <a:pPr>
              <a:lnSpc>
                <a:spcPct val="105000"/>
              </a:lnSpc>
              <a:spcAft>
                <a:spcPts val="600"/>
              </a:spcAft>
            </a:pPr>
            <a:r>
              <a:rPr sz="1600">
                <a:solidFill>
                  <a:srgbClr val="000000"/>
                </a:solidFill>
                <a:latin typeface="Tenorite"/>
              </a:rPr>
              <a:t>•  Race: Demographic Parity diff 0.158, Equal Opportunity diff 0.235 (largest TPR gap)</a:t>
            </a:r>
          </a:p>
          <a:p>
            <a:pPr>
              <a:lnSpc>
                <a:spcPct val="105000"/>
              </a:lnSpc>
              <a:spcAft>
                <a:spcPts val="600"/>
              </a:spcAft>
            </a:pPr>
            <a:r>
              <a:rPr sz="1600">
                <a:solidFill>
                  <a:srgbClr val="000000"/>
                </a:solidFill>
                <a:latin typeface="Tenorite"/>
              </a:rPr>
              <a:t>•  Age: Demographic Parity diff 0.197, Equal Opportunity diff 0.136</a:t>
            </a:r>
          </a:p>
          <a:p>
            <a:pPr>
              <a:lnSpc>
                <a:spcPct val="105000"/>
              </a:lnSpc>
              <a:spcAft>
                <a:spcPts val="600"/>
              </a:spcAft>
            </a:pPr>
            <a:r>
              <a:rPr sz="1600">
                <a:solidFill>
                  <a:srgbClr val="000000"/>
                </a:solidFill>
                <a:latin typeface="Tenorite"/>
              </a:rPr>
              <a:t>•  </a:t>
            </a:r>
            <a:r>
              <a:rPr lang="en-US" sz="1600">
                <a:solidFill>
                  <a:srgbClr val="FF0000"/>
                </a:solidFill>
                <a:latin typeface="Tenorite"/>
              </a:rPr>
              <a:t>Race exhibits another fairness issue – Asian-Pac-Islanders and White races have considerably higher selection rates and TPR compared with other smaller groups</a:t>
            </a:r>
          </a:p>
          <a:p>
            <a:pPr marL="285750" indent="-285750">
              <a:lnSpc>
                <a:spcPct val="105000"/>
              </a:lnSpc>
              <a:spcAft>
                <a:spcPts val="600"/>
              </a:spcAft>
              <a:buFont typeface="Arial" panose="020B0604020202020204" pitchFamily="34" charset="0"/>
              <a:buChar char="•"/>
            </a:pPr>
            <a:r>
              <a:rPr lang="en-US" sz="1600">
                <a:solidFill>
                  <a:srgbClr val="FF0000"/>
                </a:solidFill>
                <a:latin typeface="Tenorite"/>
              </a:rPr>
              <a:t>Age may not necessarily be a bias given that higher income can be generally correlated to more experience</a:t>
            </a:r>
          </a:p>
        </p:txBody>
      </p:sp>
      <p:pic>
        <p:nvPicPr>
          <p:cNvPr id="6" name="Picture 5" descr="fig06_race_age.png"/>
          <p:cNvPicPr>
            <a:picLocks noChangeAspect="1"/>
          </p:cNvPicPr>
          <p:nvPr/>
        </p:nvPicPr>
        <p:blipFill>
          <a:blip r:embed="rId2"/>
          <a:stretch>
            <a:fillRect/>
          </a:stretch>
        </p:blipFill>
        <p:spPr>
          <a:xfrm>
            <a:off x="1475111" y="3063240"/>
            <a:ext cx="9241778" cy="31546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Step 3 — Sources of Bias</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11</a:t>
            </a:r>
          </a:p>
        </p:txBody>
      </p:sp>
      <p:graphicFrame>
        <p:nvGraphicFramePr>
          <p:cNvPr id="5" name="Table 4"/>
          <p:cNvGraphicFramePr>
            <a:graphicFrameLocks noGrp="1"/>
          </p:cNvGraphicFramePr>
          <p:nvPr>
            <p:extLst>
              <p:ext uri="{D42A27DB-BD31-4B8C-83A1-F6EECF244321}">
                <p14:modId xmlns:p14="http://schemas.microsoft.com/office/powerpoint/2010/main" val="2761499465"/>
              </p:ext>
            </p:extLst>
          </p:nvPr>
        </p:nvGraphicFramePr>
        <p:xfrm>
          <a:off x="502920" y="1257300"/>
          <a:ext cx="11064240" cy="4343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8961120">
                  <a:extLst>
                    <a:ext uri="{9D8B030D-6E8A-4147-A177-3AD203B41FA5}">
                      <a16:colId xmlns:a16="http://schemas.microsoft.com/office/drawing/2014/main" val="20001"/>
                    </a:ext>
                  </a:extLst>
                </a:gridCol>
              </a:tblGrid>
              <a:tr h="868680">
                <a:tc>
                  <a:txBody>
                    <a:bodyPr/>
                    <a:lstStyle/>
                    <a:p>
                      <a:r>
                        <a:rPr sz="1600" b="1">
                          <a:solidFill>
                            <a:srgbClr val="FFFFFF"/>
                          </a:solidFill>
                          <a:latin typeface="Tenorite"/>
                        </a:rPr>
                        <a:t>Bias type</a:t>
                      </a:r>
                    </a:p>
                  </a:txBody>
                  <a:tcPr marR="73152" marT="36576" marB="36576" anchor="ctr">
                    <a:solidFill>
                      <a:srgbClr val="1F3864"/>
                    </a:solidFill>
                  </a:tcPr>
                </a:tc>
                <a:tc>
                  <a:txBody>
                    <a:bodyPr/>
                    <a:lstStyle/>
                    <a:p>
                      <a:r>
                        <a:rPr sz="1600" b="1">
                          <a:solidFill>
                            <a:srgbClr val="FFFFFF"/>
                          </a:solidFill>
                          <a:latin typeface="Tenorite"/>
                        </a:rPr>
                        <a:t>How it appears in this dataset / model</a:t>
                      </a:r>
                    </a:p>
                  </a:txBody>
                  <a:tcPr marR="73152" marT="36576" marB="36576" anchor="ctr">
                    <a:solidFill>
                      <a:srgbClr val="1F3864"/>
                    </a:solidFill>
                  </a:tcPr>
                </a:tc>
                <a:extLst>
                  <a:ext uri="{0D108BD9-81ED-4DB2-BD59-A6C34878D82A}">
                    <a16:rowId xmlns:a16="http://schemas.microsoft.com/office/drawing/2014/main" val="10000"/>
                  </a:ext>
                </a:extLst>
              </a:tr>
              <a:tr h="868680">
                <a:tc>
                  <a:txBody>
                    <a:bodyPr/>
                    <a:lstStyle/>
                    <a:p>
                      <a:r>
                        <a:rPr sz="1600">
                          <a:solidFill>
                            <a:srgbClr val="000000"/>
                          </a:solidFill>
                          <a:latin typeface="Tenorite"/>
                        </a:rPr>
                        <a:t>Historical</a:t>
                      </a:r>
                    </a:p>
                  </a:txBody>
                  <a:tcPr marR="73152" marT="36576" marB="36576" anchor="ctr">
                    <a:solidFill>
                      <a:srgbClr val="FFFFFF"/>
                    </a:solidFill>
                  </a:tcPr>
                </a:tc>
                <a:tc>
                  <a:txBody>
                    <a:bodyPr/>
                    <a:lstStyle/>
                    <a:p>
                      <a:r>
                        <a:rPr sz="1600" dirty="0">
                          <a:solidFill>
                            <a:srgbClr val="000000"/>
                          </a:solidFill>
                          <a:latin typeface="Tenorite"/>
                        </a:rPr>
                        <a:t>Base-rate gaps (Male 30% vs Female 11%</a:t>
                      </a:r>
                      <a:r>
                        <a:rPr lang="en-GB" sz="1600" dirty="0">
                          <a:solidFill>
                            <a:srgbClr val="000000"/>
                          </a:solidFill>
                          <a:latin typeface="Tenorite"/>
                        </a:rPr>
                        <a:t> earns &gt;50K</a:t>
                      </a:r>
                      <a:r>
                        <a:rPr sz="1600" dirty="0">
                          <a:solidFill>
                            <a:srgbClr val="000000"/>
                          </a:solidFill>
                          <a:latin typeface="Tenorite"/>
                        </a:rPr>
                        <a:t>) encode past </a:t>
                      </a:r>
                      <a:r>
                        <a:rPr sz="1600" dirty="0" err="1">
                          <a:solidFill>
                            <a:srgbClr val="000000"/>
                          </a:solidFill>
                          <a:latin typeface="Tenorite"/>
                        </a:rPr>
                        <a:t>labour</a:t>
                      </a:r>
                      <a:r>
                        <a:rPr sz="1600" dirty="0">
                          <a:solidFill>
                            <a:srgbClr val="000000"/>
                          </a:solidFill>
                          <a:latin typeface="Tenorite"/>
                        </a:rPr>
                        <a:t>-market inequality</a:t>
                      </a:r>
                    </a:p>
                  </a:txBody>
                  <a:tcPr marR="73152" marT="36576" marB="36576" anchor="ctr">
                    <a:solidFill>
                      <a:srgbClr val="FFFFFF"/>
                    </a:solidFill>
                  </a:tcPr>
                </a:tc>
                <a:extLst>
                  <a:ext uri="{0D108BD9-81ED-4DB2-BD59-A6C34878D82A}">
                    <a16:rowId xmlns:a16="http://schemas.microsoft.com/office/drawing/2014/main" val="10001"/>
                  </a:ext>
                </a:extLst>
              </a:tr>
              <a:tr h="868680">
                <a:tc>
                  <a:txBody>
                    <a:bodyPr/>
                    <a:lstStyle/>
                    <a:p>
                      <a:r>
                        <a:rPr sz="1600">
                          <a:solidFill>
                            <a:srgbClr val="000000"/>
                          </a:solidFill>
                          <a:latin typeface="Tenorite"/>
                        </a:rPr>
                        <a:t>Sampling</a:t>
                      </a:r>
                    </a:p>
                  </a:txBody>
                  <a:tcPr marR="73152" marT="36576" marB="36576" anchor="ctr">
                    <a:solidFill>
                      <a:srgbClr val="EFF1F6"/>
                    </a:solidFill>
                  </a:tcPr>
                </a:tc>
                <a:tc>
                  <a:txBody>
                    <a:bodyPr/>
                    <a:lstStyle/>
                    <a:p>
                      <a:r>
                        <a:rPr sz="1600">
                          <a:solidFill>
                            <a:srgbClr val="000000"/>
                          </a:solidFill>
                          <a:latin typeface="Tenorite"/>
                        </a:rPr>
                        <a:t>Females are only ~33% of rows; some race groups have very few examples</a:t>
                      </a:r>
                    </a:p>
                  </a:txBody>
                  <a:tcPr marR="73152" marT="36576" marB="36576" anchor="ctr">
                    <a:solidFill>
                      <a:srgbClr val="EFF1F6"/>
                    </a:solidFill>
                  </a:tcPr>
                </a:tc>
                <a:extLst>
                  <a:ext uri="{0D108BD9-81ED-4DB2-BD59-A6C34878D82A}">
                    <a16:rowId xmlns:a16="http://schemas.microsoft.com/office/drawing/2014/main" val="10002"/>
                  </a:ext>
                </a:extLst>
              </a:tr>
              <a:tr h="868680">
                <a:tc>
                  <a:txBody>
                    <a:bodyPr/>
                    <a:lstStyle/>
                    <a:p>
                      <a:r>
                        <a:rPr sz="1600">
                          <a:solidFill>
                            <a:srgbClr val="000000"/>
                          </a:solidFill>
                          <a:latin typeface="Tenorite"/>
                        </a:rPr>
                        <a:t>Measurement</a:t>
                      </a:r>
                      <a:r>
                        <a:rPr lang="en-GB" sz="1600">
                          <a:solidFill>
                            <a:srgbClr val="000000"/>
                          </a:solidFill>
                          <a:latin typeface="Tenorite"/>
                        </a:rPr>
                        <a:t> (Proxy bias)</a:t>
                      </a:r>
                      <a:endParaRPr sz="1600">
                        <a:solidFill>
                          <a:srgbClr val="000000"/>
                        </a:solidFill>
                        <a:latin typeface="Tenorite"/>
                      </a:endParaRPr>
                    </a:p>
                  </a:txBody>
                  <a:tcPr marR="73152" marT="36576" marB="36576" anchor="ctr">
                    <a:solidFill>
                      <a:srgbClr val="FFFFFF"/>
                    </a:solidFill>
                  </a:tcPr>
                </a:tc>
                <a:tc>
                  <a:txBody>
                    <a:bodyPr/>
                    <a:lstStyle/>
                    <a:p>
                      <a:r>
                        <a:rPr sz="1600">
                          <a:solidFill>
                            <a:srgbClr val="000000"/>
                          </a:solidFill>
                          <a:latin typeface="Tenorite"/>
                        </a:rPr>
                        <a:t>Dropping sex/race is not enough — proxies (relationship, marital-status, hours) leak the attribute</a:t>
                      </a:r>
                    </a:p>
                  </a:txBody>
                  <a:tcPr marR="73152" marT="36576" marB="36576" anchor="ctr">
                    <a:solidFill>
                      <a:srgbClr val="FFFFFF"/>
                    </a:solidFill>
                  </a:tcPr>
                </a:tc>
                <a:extLst>
                  <a:ext uri="{0D108BD9-81ED-4DB2-BD59-A6C34878D82A}">
                    <a16:rowId xmlns:a16="http://schemas.microsoft.com/office/drawing/2014/main" val="10003"/>
                  </a:ext>
                </a:extLst>
              </a:tr>
              <a:tr h="868680">
                <a:tc>
                  <a:txBody>
                    <a:bodyPr/>
                    <a:lstStyle/>
                    <a:p>
                      <a:r>
                        <a:rPr sz="1600">
                          <a:solidFill>
                            <a:srgbClr val="000000"/>
                          </a:solidFill>
                          <a:latin typeface="Tenorite"/>
                        </a:rPr>
                        <a:t>Model</a:t>
                      </a:r>
                    </a:p>
                  </a:txBody>
                  <a:tcPr marR="73152" marT="36576" marB="36576" anchor="ctr">
                    <a:solidFill>
                      <a:srgbClr val="EFF1F6"/>
                    </a:solidFill>
                  </a:tcPr>
                </a:tc>
                <a:tc>
                  <a:txBody>
                    <a:bodyPr/>
                    <a:lstStyle/>
                    <a:p>
                      <a:r>
                        <a:rPr sz="1600">
                          <a:solidFill>
                            <a:srgbClr val="000000"/>
                          </a:solidFill>
                          <a:latin typeface="Tenorite"/>
                        </a:rPr>
                        <a:t>Logistic Regression </a:t>
                      </a:r>
                      <a:r>
                        <a:rPr lang="en-US" sz="1600">
                          <a:solidFill>
                            <a:srgbClr val="000000"/>
                          </a:solidFill>
                          <a:latin typeface="Tenorite"/>
                        </a:rPr>
                        <a:t>model’s learning objective prioritizes overall accuracy, which </a:t>
                      </a:r>
                      <a:r>
                        <a:rPr lang="en-US" sz="1600" b="0" i="0" u="none" strike="noStrike" noProof="0">
                          <a:solidFill>
                            <a:srgbClr val="000000"/>
                          </a:solidFill>
                          <a:latin typeface="Tenorite"/>
                        </a:rPr>
                        <a:t>reproduces </a:t>
                      </a:r>
                      <a:r>
                        <a:rPr lang="en-US" sz="1600">
                          <a:solidFill>
                            <a:srgbClr val="000000"/>
                          </a:solidFill>
                          <a:latin typeface="Tenorite"/>
                        </a:rPr>
                        <a:t>the majority pattern and trends in the dataset to achieve this goal</a:t>
                      </a:r>
                      <a:endParaRPr sz="1600">
                        <a:solidFill>
                          <a:srgbClr val="000000"/>
                        </a:solidFill>
                        <a:latin typeface="Tenorite"/>
                      </a:endParaRPr>
                    </a:p>
                  </a:txBody>
                  <a:tcPr marR="73152" marT="36576" marB="36576" anchor="ctr">
                    <a:solidFill>
                      <a:srgbClr val="EFF1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Step 3 — </a:t>
            </a:r>
            <a:r>
              <a:rPr lang="en-US" sz="3600" b="1">
                <a:solidFill>
                  <a:srgbClr val="000000"/>
                </a:solidFill>
                <a:latin typeface="Tenorite"/>
              </a:rPr>
              <a:t>Does t</a:t>
            </a:r>
            <a:r>
              <a:rPr sz="3600" b="1">
                <a:solidFill>
                  <a:srgbClr val="000000"/>
                </a:solidFill>
                <a:latin typeface="Tenorite"/>
              </a:rPr>
              <a:t>he Model </a:t>
            </a:r>
            <a:r>
              <a:rPr lang="en-US" sz="3600" b="1">
                <a:solidFill>
                  <a:srgbClr val="000000"/>
                </a:solidFill>
                <a:latin typeface="Tenorite"/>
              </a:rPr>
              <a:t>a</a:t>
            </a:r>
            <a:r>
              <a:rPr sz="3600" b="1">
                <a:solidFill>
                  <a:srgbClr val="000000"/>
                </a:solidFill>
                <a:latin typeface="Tenorite"/>
              </a:rPr>
              <a:t>mplif</a:t>
            </a:r>
            <a:r>
              <a:rPr lang="en-US" sz="3600" b="1">
                <a:solidFill>
                  <a:srgbClr val="000000"/>
                </a:solidFill>
                <a:latin typeface="Tenorite"/>
              </a:rPr>
              <a:t>y </a:t>
            </a:r>
            <a:r>
              <a:rPr sz="3600" b="1">
                <a:solidFill>
                  <a:srgbClr val="000000"/>
                </a:solidFill>
                <a:latin typeface="Tenorite"/>
              </a:rPr>
              <a:t>the </a:t>
            </a:r>
            <a:r>
              <a:rPr lang="en-US" sz="3600" b="1">
                <a:solidFill>
                  <a:srgbClr val="000000"/>
                </a:solidFill>
                <a:latin typeface="Tenorite"/>
              </a:rPr>
              <a:t>g</a:t>
            </a:r>
            <a:r>
              <a:rPr sz="3600" b="1">
                <a:solidFill>
                  <a:srgbClr val="000000"/>
                </a:solidFill>
                <a:latin typeface="Tenorite"/>
              </a:rPr>
              <a:t>ap</a:t>
            </a:r>
            <a:r>
              <a:rPr lang="en-US" sz="3600" b="1">
                <a:solidFill>
                  <a:srgbClr val="000000"/>
                </a:solidFill>
                <a:latin typeface="Tenorite"/>
              </a:rPr>
              <a:t>?</a:t>
            </a:r>
            <a:endParaRPr sz="3600" b="1">
              <a:solidFill>
                <a:srgbClr val="000000"/>
              </a:solidFill>
              <a:latin typeface="Tenorite"/>
            </a:endParaRP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12</a:t>
            </a:r>
          </a:p>
        </p:txBody>
      </p:sp>
      <p:sp>
        <p:nvSpPr>
          <p:cNvPr id="5" name="TextBox 4"/>
          <p:cNvSpPr txBox="1"/>
          <p:nvPr/>
        </p:nvSpPr>
        <p:spPr>
          <a:xfrm>
            <a:off x="502920" y="1234521"/>
            <a:ext cx="11064240" cy="2132892"/>
          </a:xfrm>
          <a:prstGeom prst="rect">
            <a:avLst/>
          </a:prstGeom>
          <a:noFill/>
        </p:spPr>
        <p:txBody>
          <a:bodyPr wrap="square">
            <a:spAutoFit/>
          </a:bodyPr>
          <a:lstStyle/>
          <a:p>
            <a:pPr>
              <a:lnSpc>
                <a:spcPct val="105000"/>
              </a:lnSpc>
              <a:spcAft>
                <a:spcPts val="600"/>
              </a:spcAft>
            </a:pPr>
            <a:r>
              <a:rPr sz="1600">
                <a:solidFill>
                  <a:srgbClr val="000000"/>
                </a:solidFill>
                <a:latin typeface="Tenorite"/>
              </a:rPr>
              <a:t>Compar</a:t>
            </a:r>
            <a:r>
              <a:rPr lang="en-US" sz="1600">
                <a:solidFill>
                  <a:srgbClr val="000000"/>
                </a:solidFill>
                <a:latin typeface="Tenorite"/>
              </a:rPr>
              <a:t>ing the </a:t>
            </a:r>
            <a:r>
              <a:rPr sz="1600">
                <a:solidFill>
                  <a:srgbClr val="000000"/>
                </a:solidFill>
                <a:latin typeface="Tenorite"/>
              </a:rPr>
              <a:t>model's selection rate against the actual base rate</a:t>
            </a:r>
            <a:r>
              <a:rPr lang="en-US" sz="1600">
                <a:solidFill>
                  <a:srgbClr val="000000"/>
                </a:solidFill>
                <a:latin typeface="Tenorite"/>
              </a:rPr>
              <a:t> by sex -</a:t>
            </a:r>
          </a:p>
          <a:p>
            <a:pPr marL="285750" indent="-285750">
              <a:lnSpc>
                <a:spcPct val="105000"/>
              </a:lnSpc>
              <a:spcAft>
                <a:spcPts val="600"/>
              </a:spcAft>
              <a:buFont typeface="Arial" panose="020B0604020202020204" pitchFamily="34" charset="0"/>
              <a:buChar char="•"/>
            </a:pPr>
            <a:r>
              <a:rPr lang="en-US" sz="1600">
                <a:solidFill>
                  <a:srgbClr val="000000"/>
                </a:solidFill>
                <a:latin typeface="Tenorite"/>
              </a:rPr>
              <a:t>We observed that men and women have very different base rates of earning over $50K in the data — 30.2% for men versus 11.3% for women — giving a true historical gap of 0.302 − 0.113 = 0.189</a:t>
            </a:r>
          </a:p>
          <a:p>
            <a:pPr marL="285750" indent="-285750">
              <a:lnSpc>
                <a:spcPct val="105000"/>
              </a:lnSpc>
              <a:spcAft>
                <a:spcPts val="600"/>
              </a:spcAft>
              <a:buFont typeface="Arial" panose="020B0604020202020204" pitchFamily="34" charset="0"/>
              <a:buChar char="•"/>
            </a:pPr>
            <a:r>
              <a:rPr lang="en-US" sz="1600">
                <a:solidFill>
                  <a:srgbClr val="000000"/>
                </a:solidFill>
                <a:latin typeface="Tenorite"/>
              </a:rPr>
              <a:t>The model's selection-rate gap is narrower than this: it predicts &gt;$50K for 24.6% of men and 7.8% of women, a gap of 0.246 − 0.078 = 0.167</a:t>
            </a:r>
          </a:p>
          <a:p>
            <a:pPr marL="285750" indent="-285750">
              <a:lnSpc>
                <a:spcPct val="105000"/>
              </a:lnSpc>
              <a:spcAft>
                <a:spcPts val="600"/>
              </a:spcAft>
              <a:buFont typeface="Arial" panose="020B0604020202020204" pitchFamily="34" charset="0"/>
              <a:buChar char="•"/>
            </a:pPr>
            <a:r>
              <a:rPr lang="en-US" sz="1600">
                <a:solidFill>
                  <a:srgbClr val="FF0000"/>
                </a:solidFill>
                <a:latin typeface="Tenorite"/>
              </a:rPr>
              <a:t>The disparity is largely inherited from the biased training data rather than newly created by the model, yet the gap remains substantial and unfair and requires mitigation</a:t>
            </a:r>
          </a:p>
        </p:txBody>
      </p:sp>
      <p:pic>
        <p:nvPicPr>
          <p:cNvPr id="6" name="Picture 5" descr="fig07_amplify.png"/>
          <p:cNvPicPr>
            <a:picLocks noChangeAspect="1"/>
          </p:cNvPicPr>
          <p:nvPr/>
        </p:nvPicPr>
        <p:blipFill>
          <a:blip r:embed="rId2"/>
          <a:stretch>
            <a:fillRect/>
          </a:stretch>
        </p:blipFill>
        <p:spPr>
          <a:xfrm>
            <a:off x="3387090" y="3372784"/>
            <a:ext cx="5417820" cy="3017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Step 4 — Mitigation: Reweighing</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13</a:t>
            </a:r>
          </a:p>
        </p:txBody>
      </p:sp>
      <p:pic>
        <p:nvPicPr>
          <p:cNvPr id="6" name="Picture 5" descr="fig08_weights.png"/>
          <p:cNvPicPr>
            <a:picLocks noChangeAspect="1"/>
          </p:cNvPicPr>
          <p:nvPr/>
        </p:nvPicPr>
        <p:blipFill>
          <a:blip r:embed="rId2"/>
          <a:stretch>
            <a:fillRect/>
          </a:stretch>
        </p:blipFill>
        <p:spPr>
          <a:xfrm>
            <a:off x="3139994" y="3396595"/>
            <a:ext cx="5912012" cy="2926080"/>
          </a:xfrm>
          <a:prstGeom prst="rect">
            <a:avLst/>
          </a:prstGeom>
        </p:spPr>
      </p:pic>
      <p:sp>
        <p:nvSpPr>
          <p:cNvPr id="7" name="TextBox 6">
            <a:extLst>
              <a:ext uri="{FF2B5EF4-FFF2-40B4-BE49-F238E27FC236}">
                <a16:creationId xmlns:a16="http://schemas.microsoft.com/office/drawing/2014/main" id="{8860C792-F92D-E250-4440-444986E8C210}"/>
              </a:ext>
            </a:extLst>
          </p:cNvPr>
          <p:cNvSpPr txBox="1"/>
          <p:nvPr/>
        </p:nvSpPr>
        <p:spPr>
          <a:xfrm>
            <a:off x="502920" y="1143000"/>
            <a:ext cx="11064240" cy="2129814"/>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US" sz="1600">
                <a:solidFill>
                  <a:srgbClr val="000000"/>
                </a:solidFill>
                <a:latin typeface="Tenorite"/>
              </a:rPr>
              <a:t>We applied the the Kamiran–</a:t>
            </a:r>
            <a:r>
              <a:rPr lang="en-US" sz="1600" err="1">
                <a:solidFill>
                  <a:srgbClr val="000000"/>
                </a:solidFill>
                <a:latin typeface="Tenorite"/>
              </a:rPr>
              <a:t>Calders</a:t>
            </a:r>
            <a:r>
              <a:rPr lang="en-US" sz="1600">
                <a:solidFill>
                  <a:srgbClr val="000000"/>
                </a:solidFill>
                <a:latin typeface="Tenorite"/>
              </a:rPr>
              <a:t> Reweighing method, which assigns a weight to each training example so that in the weighted data, a person's sex and their income label become statistically independent.</a:t>
            </a: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Computed each weight as (</a:t>
            </a:r>
            <a:r>
              <a:rPr lang="en-SG" sz="1600" err="1">
                <a:solidFill>
                  <a:srgbClr val="000000"/>
                </a:solidFill>
                <a:latin typeface="Tenorite"/>
              </a:rPr>
              <a:t>n_group</a:t>
            </a:r>
            <a:r>
              <a:rPr lang="en-SG" sz="1600">
                <a:solidFill>
                  <a:srgbClr val="000000"/>
                </a:solidFill>
                <a:latin typeface="Tenorite"/>
              </a:rPr>
              <a:t> × </a:t>
            </a:r>
            <a:r>
              <a:rPr lang="en-SG" sz="1600" err="1">
                <a:solidFill>
                  <a:srgbClr val="000000"/>
                </a:solidFill>
                <a:latin typeface="Tenorite"/>
              </a:rPr>
              <a:t>n_label</a:t>
            </a:r>
            <a:r>
              <a:rPr lang="en-SG" sz="1600">
                <a:solidFill>
                  <a:srgbClr val="000000"/>
                </a:solidFill>
                <a:latin typeface="Tenorite"/>
              </a:rPr>
              <a:t>) / (n × </a:t>
            </a:r>
            <a:r>
              <a:rPr lang="en-SG" sz="1600" err="1">
                <a:solidFill>
                  <a:srgbClr val="000000"/>
                </a:solidFill>
                <a:latin typeface="Tenorite"/>
              </a:rPr>
              <a:t>n_group,label</a:t>
            </a:r>
            <a:r>
              <a:rPr lang="en-SG" sz="1600">
                <a:solidFill>
                  <a:srgbClr val="000000"/>
                </a:solidFill>
                <a:latin typeface="Tenorite"/>
              </a:rPr>
              <a:t>), so that under-represented combinations of group and outcome receive a weight above 1 and over-represented combinations receive a weight below 1.</a:t>
            </a: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Up-weighted the under-represented combinations, giving "Female &amp; &gt;50K" a weight of 2.21 and "Male &amp; ≤50K" a weight of 1.09, so the model pays more attention to these examples.</a:t>
            </a: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Down-weighted the over-represented combinations, reducing "Male &amp; &gt;50K" to 0.79 and "Female &amp; ≤50K" to 0.85</a:t>
            </a:r>
            <a:endParaRPr sz="1600">
              <a:solidFill>
                <a:srgbClr val="000000"/>
              </a:solidFill>
              <a:latin typeface="Tenorit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Step 5 — Re-train &amp; Re-evaluate</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14</a:t>
            </a:r>
          </a:p>
        </p:txBody>
      </p:sp>
      <p:sp>
        <p:nvSpPr>
          <p:cNvPr id="5" name="TextBox 4"/>
          <p:cNvSpPr txBox="1"/>
          <p:nvPr/>
        </p:nvSpPr>
        <p:spPr>
          <a:xfrm>
            <a:off x="548640" y="1256430"/>
            <a:ext cx="11064240" cy="1538883"/>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sz="1600">
                <a:solidFill>
                  <a:srgbClr val="000000"/>
                </a:solidFill>
                <a:latin typeface="Tenorite"/>
              </a:rPr>
              <a:t>The same pipeline is retrained, now passing the reweighing sample weights</a:t>
            </a:r>
            <a:endParaRPr lang="en-US" sz="16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We found that the selection-rate gap narrowed sharply, such that the </a:t>
            </a:r>
            <a:r>
              <a:rPr lang="en-SG" sz="1600">
                <a:solidFill>
                  <a:srgbClr val="00B050"/>
                </a:solidFill>
                <a:latin typeface="Tenorite"/>
              </a:rPr>
              <a:t>Demographic Parity difference fell </a:t>
            </a:r>
            <a:r>
              <a:rPr lang="en-SG" sz="1600">
                <a:solidFill>
                  <a:srgbClr val="000000"/>
                </a:solidFill>
                <a:latin typeface="Tenorite"/>
              </a:rPr>
              <a:t>from 0.167 to 0.087 (Male 0.246 → 0.208, Female 0.078 → 0.121)</a:t>
            </a: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The TPR gap did not narrow: the </a:t>
            </a:r>
            <a:r>
              <a:rPr lang="en-SG" sz="1600">
                <a:solidFill>
                  <a:srgbClr val="C00000"/>
                </a:solidFill>
                <a:latin typeface="Tenorite"/>
              </a:rPr>
              <a:t>Equal Opportunity difference increased </a:t>
            </a:r>
            <a:r>
              <a:rPr lang="en-SG" sz="1600">
                <a:solidFill>
                  <a:srgbClr val="000000"/>
                </a:solidFill>
                <a:latin typeface="Tenorite"/>
              </a:rPr>
              <a:t>from 0.079 to 0.104 and reversed direction, with women's TPR (0.640) now exceeding men's (0.536)</a:t>
            </a:r>
            <a:endParaRPr sz="1600">
              <a:solidFill>
                <a:srgbClr val="000000"/>
              </a:solidFill>
              <a:latin typeface="Tenorite"/>
            </a:endParaRPr>
          </a:p>
        </p:txBody>
      </p:sp>
      <p:pic>
        <p:nvPicPr>
          <p:cNvPr id="6" name="Picture 5" descr="fig09_beforeafter.png"/>
          <p:cNvPicPr>
            <a:picLocks noChangeAspect="1"/>
          </p:cNvPicPr>
          <p:nvPr/>
        </p:nvPicPr>
        <p:blipFill>
          <a:blip r:embed="rId2"/>
          <a:stretch>
            <a:fillRect/>
          </a:stretch>
        </p:blipFill>
        <p:spPr>
          <a:xfrm>
            <a:off x="1475111" y="3063240"/>
            <a:ext cx="9241778" cy="31546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Step 5 — Before vs After Summary</a:t>
            </a:r>
          </a:p>
        </p:txBody>
      </p:sp>
      <p:sp>
        <p:nvSpPr>
          <p:cNvPr id="3" name="TextBox 2"/>
          <p:cNvSpPr txBox="1"/>
          <p:nvPr/>
        </p:nvSpPr>
        <p:spPr>
          <a:xfrm>
            <a:off x="502920" y="6400800"/>
            <a:ext cx="8229600" cy="365760"/>
          </a:xfrm>
          <a:prstGeom prst="rect">
            <a:avLst/>
          </a:prstGeom>
          <a:noFill/>
        </p:spPr>
        <p:txBody>
          <a:bodyPr wrap="square">
            <a:spAutoFit/>
          </a:bodyPr>
          <a:lstStyle/>
          <a:p>
            <a:r>
              <a:rPr sz="900">
                <a:solidFill>
                  <a:srgbClr val="595959"/>
                </a:solidFill>
              </a:rPr>
              <a:t>Trustworthy AI  |  Week 5 Lecture 2 — Fairness Audit Lab</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15</a:t>
            </a:r>
          </a:p>
        </p:txBody>
      </p:sp>
      <p:sp>
        <p:nvSpPr>
          <p:cNvPr id="5" name="TextBox 4"/>
          <p:cNvSpPr txBox="1"/>
          <p:nvPr/>
        </p:nvSpPr>
        <p:spPr>
          <a:xfrm>
            <a:off x="502920" y="1143000"/>
            <a:ext cx="11064240" cy="1797415"/>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Reweighting substantially improved demographic parity, halving the selection-rate gap from a Demographic Parity difference of 0.167 to 0.087, while costing almost nothing in overall accuracy (0.854 → 0.846, a drop of just 0.008)</a:t>
            </a: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Equal Opportunity difference actually widened from 0.079 to 0.104, demonstrating that improving one fairness metric can worsen another when the groups have different base rates</a:t>
            </a:r>
          </a:p>
          <a:p>
            <a:pPr marL="285750" indent="-285750">
              <a:lnSpc>
                <a:spcPct val="105000"/>
              </a:lnSpc>
              <a:spcAft>
                <a:spcPts val="600"/>
              </a:spcAft>
              <a:buFont typeface="Arial" panose="020B0604020202020204" pitchFamily="34" charset="0"/>
              <a:buChar char="•"/>
            </a:pPr>
            <a:r>
              <a:rPr lang="en-SG" sz="1600" u="sng">
                <a:solidFill>
                  <a:srgbClr val="000000"/>
                </a:solidFill>
                <a:latin typeface="Tenorite"/>
              </a:rPr>
              <a:t>Conclusion</a:t>
            </a:r>
            <a:r>
              <a:rPr lang="en-SG" sz="1600">
                <a:solidFill>
                  <a:srgbClr val="000000"/>
                </a:solidFill>
                <a:latin typeface="Tenorite"/>
              </a:rPr>
              <a:t>: reweighting is an effective but partial fix — it is designed to promote demographic parity (equal outcomes) rather than guaranteeing fairness across all definitions</a:t>
            </a:r>
            <a:endParaRPr sz="1600">
              <a:solidFill>
                <a:srgbClr val="000000"/>
              </a:solidFill>
              <a:latin typeface="Tenorite"/>
            </a:endParaRPr>
          </a:p>
        </p:txBody>
      </p:sp>
      <p:pic>
        <p:nvPicPr>
          <p:cNvPr id="6" name="Picture 5" descr="fig10_summary.png"/>
          <p:cNvPicPr>
            <a:picLocks noChangeAspect="1"/>
          </p:cNvPicPr>
          <p:nvPr/>
        </p:nvPicPr>
        <p:blipFill>
          <a:blip r:embed="rId2"/>
          <a:stretch>
            <a:fillRect/>
          </a:stretch>
        </p:blipFill>
        <p:spPr>
          <a:xfrm>
            <a:off x="3044540" y="3094625"/>
            <a:ext cx="6102919" cy="30175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The Impossibility Trade-off</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16</a:t>
            </a:r>
          </a:p>
        </p:txBody>
      </p:sp>
      <p:sp>
        <p:nvSpPr>
          <p:cNvPr id="5" name="TextBox 4"/>
          <p:cNvSpPr txBox="1"/>
          <p:nvPr/>
        </p:nvSpPr>
        <p:spPr>
          <a:xfrm>
            <a:off x="548640" y="1301570"/>
            <a:ext cx="11064240" cy="4767459"/>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Since men and women have very different base rates of earning over $50K (ground truth), giving both groups an equal true-positive rate (equal opportunity) will still leave their overall selection rates unequal, which breaks demographic parity</a:t>
            </a:r>
            <a:br>
              <a:rPr lang="en-SG" sz="1600">
                <a:solidFill>
                  <a:srgbClr val="000000"/>
                </a:solidFill>
                <a:latin typeface="Tenorite"/>
              </a:rPr>
            </a:br>
            <a:endParaRPr lang="en-SG" sz="16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This trade-off was visible in this experiment, where reweighting reduced the demographic-parity gap (0.167 → 0.087) but widened the equal-opportunity gap (0.079 → 0.104), confirming that improving one criterion came at the expense of the other</a:t>
            </a:r>
          </a:p>
          <a:p>
            <a:pPr marL="285750" indent="-285750">
              <a:lnSpc>
                <a:spcPct val="105000"/>
              </a:lnSpc>
              <a:spcAft>
                <a:spcPts val="600"/>
              </a:spcAft>
              <a:buFont typeface="Arial" panose="020B0604020202020204" pitchFamily="34" charset="0"/>
              <a:buChar char="•"/>
            </a:pPr>
            <a:endParaRPr lang="en-SG" sz="16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This is a well-established impossibility result from Kleinberg/</a:t>
            </a:r>
            <a:r>
              <a:rPr lang="en-SG" sz="1600" err="1">
                <a:solidFill>
                  <a:srgbClr val="000000"/>
                </a:solidFill>
                <a:latin typeface="Tenorite"/>
              </a:rPr>
              <a:t>Chouldechova</a:t>
            </a:r>
            <a:r>
              <a:rPr lang="en-SG" sz="1600">
                <a:solidFill>
                  <a:srgbClr val="000000"/>
                </a:solidFill>
                <a:latin typeface="Tenorite"/>
              </a:rPr>
              <a:t> (2016–17): when groups have different base rates, multiple fairness criteria cannot all be satisfied at the same time by a single useful model</a:t>
            </a:r>
          </a:p>
          <a:p>
            <a:pPr marL="285750" indent="-285750">
              <a:lnSpc>
                <a:spcPct val="105000"/>
              </a:lnSpc>
              <a:spcAft>
                <a:spcPts val="600"/>
              </a:spcAft>
              <a:buFont typeface="Arial" panose="020B0604020202020204" pitchFamily="34" charset="0"/>
              <a:buChar char="•"/>
            </a:pPr>
            <a:endParaRPr lang="en-SG" sz="16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We would choose demographic parity when the goal is equal representation in outcomes, when the base rate gap is seen as unjust, for example loan or interview screening</a:t>
            </a:r>
          </a:p>
          <a:p>
            <a:pPr>
              <a:lnSpc>
                <a:spcPct val="105000"/>
              </a:lnSpc>
              <a:spcAft>
                <a:spcPts val="600"/>
              </a:spcAft>
            </a:pPr>
            <a:endParaRPr lang="en-SG" sz="16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600">
                <a:solidFill>
                  <a:srgbClr val="000000"/>
                </a:solidFill>
                <a:latin typeface="Tenorite"/>
              </a:rPr>
              <a:t>We would choose equal opportunity when the goal is to treat qualified people equally, when the labels can be trusted as fair signal of merit or need, or when the positive label is a genuine condition to detect (like a disease or real risk)</a:t>
            </a:r>
            <a:endParaRPr sz="1600">
              <a:solidFill>
                <a:srgbClr val="000000"/>
              </a:solidFill>
              <a:latin typeface="Tenorit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74320"/>
            <a:ext cx="11155680" cy="868680"/>
          </a:xfrm>
          <a:prstGeom prst="rect">
            <a:avLst/>
          </a:prstGeom>
          <a:noFill/>
        </p:spPr>
        <p:txBody>
          <a:bodyPr wrap="square" anchor="ctr">
            <a:spAutoFit/>
          </a:bodyPr>
          <a:lstStyle/>
          <a:p>
            <a:pPr algn="l"/>
            <a:r>
              <a:rPr sz="3600" b="1">
                <a:solidFill>
                  <a:srgbClr val="000000"/>
                </a:solidFill>
                <a:latin typeface="Tenorite"/>
              </a:rPr>
              <a:t>Key Takeaways &amp; Conclusion</a:t>
            </a:r>
          </a:p>
        </p:txBody>
      </p:sp>
      <p:sp>
        <p:nvSpPr>
          <p:cNvPr id="4" name="TextBox 3"/>
          <p:cNvSpPr txBox="1"/>
          <p:nvPr/>
        </p:nvSpPr>
        <p:spPr>
          <a:xfrm>
            <a:off x="11338560" y="6400800"/>
            <a:ext cx="640080" cy="365760"/>
          </a:xfrm>
          <a:prstGeom prst="rect">
            <a:avLst/>
          </a:prstGeom>
          <a:noFill/>
        </p:spPr>
        <p:txBody>
          <a:bodyPr wrap="square">
            <a:spAutoFit/>
          </a:bodyPr>
          <a:lstStyle/>
          <a:p>
            <a:pPr algn="r"/>
            <a:r>
              <a:rPr sz="900">
                <a:solidFill>
                  <a:srgbClr val="595959"/>
                </a:solidFill>
              </a:rPr>
              <a:t>18</a:t>
            </a:r>
          </a:p>
        </p:txBody>
      </p:sp>
      <p:sp>
        <p:nvSpPr>
          <p:cNvPr id="5" name="TextBox 4"/>
          <p:cNvSpPr txBox="1"/>
          <p:nvPr/>
        </p:nvSpPr>
        <p:spPr>
          <a:xfrm>
            <a:off x="548640" y="1417320"/>
            <a:ext cx="11064240" cy="3850285"/>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We learned that removing the protected attributes is not enough, because the model still picked up sex through proxy variables like relationship and marital status, and the disparity remained.</a:t>
            </a:r>
          </a:p>
          <a:p>
            <a:pPr>
              <a:lnSpc>
                <a:spcPct val="105000"/>
              </a:lnSpc>
              <a:spcAft>
                <a:spcPts val="600"/>
              </a:spcAft>
            </a:pPr>
            <a:endParaRPr lang="en-SG" sz="17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We confirmed that a model can be accurate overall yet unfair across groups — our baseline reached 0.854 accuracy while still selecting men far more often than women.</a:t>
            </a:r>
          </a:p>
          <a:p>
            <a:pPr marL="285750" indent="-285750">
              <a:lnSpc>
                <a:spcPct val="105000"/>
              </a:lnSpc>
              <a:spcAft>
                <a:spcPts val="600"/>
              </a:spcAft>
              <a:buFont typeface="Arial" panose="020B0604020202020204" pitchFamily="34" charset="0"/>
              <a:buChar char="•"/>
            </a:pPr>
            <a:endParaRPr lang="en-SG" sz="17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We saw that different fairness measures can disagree, so the choice of metric matters: reweighting improved demographic parity (0.167 → 0.087) but worsened equal opportunity (0.079 → 0.104).</a:t>
            </a:r>
          </a:p>
          <a:p>
            <a:pPr marL="285750" indent="-285750">
              <a:lnSpc>
                <a:spcPct val="105000"/>
              </a:lnSpc>
              <a:spcAft>
                <a:spcPts val="600"/>
              </a:spcAft>
              <a:buFont typeface="Arial" panose="020B0604020202020204" pitchFamily="34" charset="0"/>
              <a:buChar char="•"/>
            </a:pPr>
            <a:endParaRPr lang="en-SG" sz="17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We recognised that choosing between demographic parity and equal opportunity is a values decision, depending on whether we trust the labels and whether we care more about equal outcomes or equal treatment of the qualified.</a:t>
            </a:r>
            <a:endParaRPr sz="1700">
              <a:solidFill>
                <a:srgbClr val="000000"/>
              </a:solidFill>
              <a:latin typeface="Tenorit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3FD858-7129-56CD-0787-7BD832954483}"/>
              </a:ext>
            </a:extLst>
          </p:cNvPr>
          <p:cNvSpPr txBox="1"/>
          <p:nvPr/>
        </p:nvSpPr>
        <p:spPr>
          <a:xfrm>
            <a:off x="502920" y="385494"/>
            <a:ext cx="11155680" cy="646331"/>
          </a:xfrm>
          <a:prstGeom prst="rect">
            <a:avLst/>
          </a:prstGeom>
          <a:noFill/>
        </p:spPr>
        <p:txBody>
          <a:bodyPr wrap="square" anchor="ctr">
            <a:spAutoFit/>
          </a:bodyPr>
          <a:lstStyle/>
          <a:p>
            <a:pPr algn="l"/>
            <a:r>
              <a:rPr lang="en-US" sz="3600" b="1">
                <a:solidFill>
                  <a:srgbClr val="000000"/>
                </a:solidFill>
                <a:latin typeface="Tenorite"/>
              </a:rPr>
              <a:t>References and AI Usage</a:t>
            </a:r>
            <a:endParaRPr sz="3600" b="1">
              <a:solidFill>
                <a:srgbClr val="000000"/>
              </a:solidFill>
              <a:latin typeface="Tenorite"/>
            </a:endParaRPr>
          </a:p>
        </p:txBody>
      </p:sp>
      <p:sp>
        <p:nvSpPr>
          <p:cNvPr id="3" name="TextBox 2">
            <a:extLst>
              <a:ext uri="{FF2B5EF4-FFF2-40B4-BE49-F238E27FC236}">
                <a16:creationId xmlns:a16="http://schemas.microsoft.com/office/drawing/2014/main" id="{6B2E24D7-BBDD-F773-6126-B3E0EAC53E8F}"/>
              </a:ext>
            </a:extLst>
          </p:cNvPr>
          <p:cNvSpPr txBox="1"/>
          <p:nvPr/>
        </p:nvSpPr>
        <p:spPr>
          <a:xfrm>
            <a:off x="548640" y="1417320"/>
            <a:ext cx="11064240" cy="4905189"/>
          </a:xfrm>
          <a:prstGeom prst="rect">
            <a:avLst/>
          </a:prstGeom>
          <a:noFill/>
        </p:spPr>
        <p:txBody>
          <a:bodyPr wrap="square">
            <a:spAutoFit/>
          </a:bodyPr>
          <a:lstStyle/>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The following AI prompts were used for this lab exercise:</a:t>
            </a:r>
          </a:p>
          <a:p>
            <a:pPr marL="742950" lvl="1" indent="-285750">
              <a:lnSpc>
                <a:spcPct val="105000"/>
              </a:lnSpc>
              <a:spcAft>
                <a:spcPts val="600"/>
              </a:spcAft>
              <a:buFont typeface="Arial" panose="020B0604020202020204" pitchFamily="34" charset="0"/>
              <a:buChar char="•"/>
            </a:pPr>
            <a:r>
              <a:rPr lang="en-SG" sz="1700" i="1">
                <a:solidFill>
                  <a:srgbClr val="000000"/>
                </a:solidFill>
                <a:latin typeface="Tenorite"/>
              </a:rPr>
              <a:t>Generate a scaffolded Jupyter notebook based on the steps laid out in the lab instructions @Week5_Lecture2_Lab.pdf. Number each cell- markdown and python (commented). Leave the python cells blank (do not implement)</a:t>
            </a:r>
          </a:p>
          <a:p>
            <a:pPr marL="742950" lvl="1" indent="-285750">
              <a:lnSpc>
                <a:spcPct val="105000"/>
              </a:lnSpc>
              <a:spcAft>
                <a:spcPts val="600"/>
              </a:spcAft>
              <a:buFont typeface="Arial" panose="020B0604020202020204" pitchFamily="34" charset="0"/>
              <a:buChar char="•"/>
            </a:pPr>
            <a:endParaRPr lang="en-SG" sz="1700" i="1">
              <a:solidFill>
                <a:srgbClr val="000000"/>
              </a:solidFill>
              <a:latin typeface="Tenorite"/>
            </a:endParaRPr>
          </a:p>
          <a:p>
            <a:pPr marL="742950" lvl="1" indent="-285750">
              <a:lnSpc>
                <a:spcPct val="105000"/>
              </a:lnSpc>
              <a:spcAft>
                <a:spcPts val="600"/>
              </a:spcAft>
              <a:buFont typeface="Arial" panose="020B0604020202020204" pitchFamily="34" charset="0"/>
              <a:buChar char="•"/>
            </a:pPr>
            <a:r>
              <a:rPr lang="en-SG" sz="1700" i="1">
                <a:solidFill>
                  <a:srgbClr val="000000"/>
                </a:solidFill>
                <a:latin typeface="Tenorite"/>
              </a:rPr>
              <a:t>Generating matplotlib charts for visualizing model accuracy, confusion matrix and fairness metrics for the baseline and reweighted model</a:t>
            </a:r>
          </a:p>
          <a:p>
            <a:pPr marL="742950" lvl="1" indent="-285750">
              <a:lnSpc>
                <a:spcPct val="105000"/>
              </a:lnSpc>
              <a:spcAft>
                <a:spcPts val="600"/>
              </a:spcAft>
              <a:buFont typeface="Arial" panose="020B0604020202020204" pitchFamily="34" charset="0"/>
              <a:buChar char="•"/>
            </a:pPr>
            <a:endParaRPr lang="en-SG" sz="1700" i="1">
              <a:solidFill>
                <a:srgbClr val="000000"/>
              </a:solidFill>
              <a:latin typeface="Tenorite"/>
            </a:endParaRPr>
          </a:p>
          <a:p>
            <a:pPr>
              <a:lnSpc>
                <a:spcPct val="105000"/>
              </a:lnSpc>
              <a:spcAft>
                <a:spcPts val="600"/>
              </a:spcAft>
            </a:pPr>
            <a:endParaRPr lang="en-SG" sz="1700" i="1">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B. Becker and R. Kohavi, "Adult," UCI Machine Learning Repository, 1996. [Online]. Available: </a:t>
            </a:r>
            <a:r>
              <a:rPr lang="en-SG" sz="1700">
                <a:solidFill>
                  <a:srgbClr val="000000"/>
                </a:solidFill>
                <a:latin typeface="Tenorite"/>
                <a:hlinkClick r:id="rId2"/>
              </a:rPr>
              <a:t>https://archive.ics.uci.edu/dataset/2/adult</a:t>
            </a:r>
            <a:endParaRPr lang="en-SG" sz="1700">
              <a:solidFill>
                <a:srgbClr val="000000"/>
              </a:solidFill>
              <a:latin typeface="Tenorite"/>
            </a:endParaRPr>
          </a:p>
          <a:p>
            <a:pPr marL="285750" indent="-285750">
              <a:lnSpc>
                <a:spcPct val="105000"/>
              </a:lnSpc>
              <a:spcAft>
                <a:spcPts val="600"/>
              </a:spcAft>
              <a:buFont typeface="Arial" panose="020B0604020202020204" pitchFamily="34" charset="0"/>
              <a:buChar char="•"/>
            </a:pPr>
            <a:endParaRPr lang="en-SG" sz="1700">
              <a:solidFill>
                <a:srgbClr val="000000"/>
              </a:solidFill>
              <a:latin typeface="Tenorite"/>
            </a:endParaRPr>
          </a:p>
          <a:p>
            <a:pPr marL="285750" indent="-285750">
              <a:lnSpc>
                <a:spcPct val="105000"/>
              </a:lnSpc>
              <a:spcAft>
                <a:spcPts val="600"/>
              </a:spcAft>
              <a:buFont typeface="Arial" panose="020B0604020202020204" pitchFamily="34" charset="0"/>
              <a:buChar char="•"/>
            </a:pPr>
            <a:r>
              <a:rPr lang="en-SG" sz="1700">
                <a:solidFill>
                  <a:srgbClr val="000000"/>
                </a:solidFill>
                <a:latin typeface="Tenorite"/>
              </a:rPr>
              <a:t>Kleinberg, Mullainathan &amp; Raghavan “Inherent Trade-Offs in the Fair Determination of Risk Scores” (2017) </a:t>
            </a:r>
            <a:br>
              <a:rPr lang="en-SG" sz="1700">
                <a:solidFill>
                  <a:srgbClr val="000000"/>
                </a:solidFill>
                <a:latin typeface="Tenorite"/>
              </a:rPr>
            </a:br>
            <a:r>
              <a:rPr lang="en-SG" sz="1700" err="1">
                <a:solidFill>
                  <a:srgbClr val="000000"/>
                </a:solidFill>
                <a:latin typeface="Tenorite"/>
              </a:rPr>
              <a:t>arXiv</a:t>
            </a:r>
            <a:r>
              <a:rPr lang="en-SG" sz="1700">
                <a:solidFill>
                  <a:srgbClr val="000000"/>
                </a:solidFill>
                <a:latin typeface="Tenorite"/>
              </a:rPr>
              <a:t>: </a:t>
            </a:r>
            <a:r>
              <a:rPr lang="en-SG" sz="1700">
                <a:solidFill>
                  <a:srgbClr val="000000"/>
                </a:solidFill>
                <a:latin typeface="Tenorite"/>
                <a:hlinkClick r:id="rId3"/>
              </a:rPr>
              <a:t>https://arxiv.org/abs/1609.05807</a:t>
            </a:r>
            <a:endParaRPr lang="en-SG" sz="1700">
              <a:solidFill>
                <a:srgbClr val="000000"/>
              </a:solidFill>
              <a:latin typeface="Tenorite"/>
            </a:endParaRPr>
          </a:p>
          <a:p>
            <a:pPr marL="285750" indent="-285750">
              <a:lnSpc>
                <a:spcPct val="105000"/>
              </a:lnSpc>
              <a:spcAft>
                <a:spcPts val="600"/>
              </a:spcAft>
              <a:buFont typeface="Arial" panose="020B0604020202020204" pitchFamily="34" charset="0"/>
              <a:buChar char="•"/>
            </a:pPr>
            <a:endParaRPr sz="1700">
              <a:solidFill>
                <a:srgbClr val="000000"/>
              </a:solidFill>
              <a:latin typeface="Tenorite"/>
            </a:endParaRPr>
          </a:p>
        </p:txBody>
      </p:sp>
    </p:spTree>
    <p:extLst>
      <p:ext uri="{BB962C8B-B14F-4D97-AF65-F5344CB8AC3E}">
        <p14:creationId xmlns:p14="http://schemas.microsoft.com/office/powerpoint/2010/main" val="1568318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0"/>
            <a:ext cx="320040" cy="100584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105834"/>
            <a:ext cx="10515600" cy="646331"/>
          </a:xfrm>
          <a:prstGeom prst="rect">
            <a:avLst/>
          </a:prstGeom>
          <a:noFill/>
        </p:spPr>
        <p:txBody>
          <a:bodyPr wrap="square" anchor="ctr">
            <a:spAutoFit/>
          </a:bodyPr>
          <a:lstStyle/>
          <a:p>
            <a:r>
              <a:rPr sz="3600" b="1">
                <a:solidFill>
                  <a:srgbClr val="000000"/>
                </a:solidFill>
                <a:latin typeface="Tenorite"/>
              </a:rPr>
              <a:t>Reflection</a:t>
            </a:r>
            <a:r>
              <a:rPr lang="en-US" sz="3600" b="1">
                <a:solidFill>
                  <a:srgbClr val="000000"/>
                </a:solidFill>
                <a:latin typeface="Tenorite"/>
              </a:rPr>
              <a:t>s</a:t>
            </a:r>
            <a:endParaRPr sz="3600" b="1">
              <a:solidFill>
                <a:srgbClr val="000000"/>
              </a:solidFill>
              <a:latin typeface="Tenorite"/>
            </a:endParaRPr>
          </a:p>
        </p:txBody>
      </p:sp>
      <p:sp>
        <p:nvSpPr>
          <p:cNvPr id="5" name="TextBox 4"/>
          <p:cNvSpPr txBox="1"/>
          <p:nvPr/>
        </p:nvSpPr>
        <p:spPr>
          <a:xfrm>
            <a:off x="11338560" y="6400800"/>
            <a:ext cx="640080" cy="365760"/>
          </a:xfrm>
          <a:prstGeom prst="rect">
            <a:avLst/>
          </a:prstGeom>
          <a:noFill/>
        </p:spPr>
        <p:txBody>
          <a:bodyPr wrap="square">
            <a:spAutoFit/>
          </a:bodyPr>
          <a:lstStyle/>
          <a:p>
            <a:pPr algn="r"/>
            <a:r>
              <a:rPr sz="900">
                <a:solidFill>
                  <a:srgbClr val="595959"/>
                </a:solidFil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AC4B7-1FEC-FB86-AA67-B9E50C33C6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F5633A-5544-55C4-A2C6-CA7089C4118F}"/>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(Ai Kun)</a:t>
            </a:r>
            <a:endParaRPr sz="3600" b="1">
              <a:solidFill>
                <a:srgbClr val="000000"/>
              </a:solidFill>
              <a:latin typeface="Tenorite"/>
            </a:endParaRPr>
          </a:p>
        </p:txBody>
      </p:sp>
      <p:sp>
        <p:nvSpPr>
          <p:cNvPr id="4" name="TextBox 3">
            <a:extLst>
              <a:ext uri="{FF2B5EF4-FFF2-40B4-BE49-F238E27FC236}">
                <a16:creationId xmlns:a16="http://schemas.microsoft.com/office/drawing/2014/main" id="{8A1BA0C2-5246-B8D1-891A-4FC8383CD9C5}"/>
              </a:ext>
            </a:extLst>
          </p:cNvPr>
          <p:cNvSpPr txBox="1"/>
          <p:nvPr/>
        </p:nvSpPr>
        <p:spPr>
          <a:xfrm>
            <a:off x="502920" y="1364430"/>
            <a:ext cx="10947552" cy="4801314"/>
          </a:xfrm>
          <a:prstGeom prst="rect">
            <a:avLst/>
          </a:prstGeom>
          <a:noFill/>
          <a:ln w="12700">
            <a:solidFill>
              <a:srgbClr val="7030A0"/>
            </a:solidFill>
            <a:prstDash val="lgDash"/>
          </a:ln>
          <a:effectLst/>
        </p:spPr>
        <p:txBody>
          <a:bodyPr wrap="square" lIns="91440" tIns="45720" rIns="91440" bIns="45720" rtlCol="0" anchor="t">
            <a:spAutoFit/>
          </a:bodyPr>
          <a:lstStyle/>
          <a:p>
            <a:r>
              <a:rPr lang="en-US">
                <a:ea typeface="+mn-lt"/>
                <a:cs typeface="+mn-lt"/>
              </a:rPr>
              <a:t>One of the most interesting insights from this lab was realizing that fairness is far more difficult to define than accuracy. We evaluated the model using both Demographic Parity and Equal Opportunity, yet the two metrics highlighted different aspects of fairness. Before mitigation, the model exhibited measurable disparities across demographic groups, suggesting that the model was not entirely fair under either definition. </a:t>
            </a:r>
          </a:p>
          <a:p>
            <a:endParaRPr lang="en-US"/>
          </a:p>
          <a:p>
            <a:r>
              <a:rPr lang="en-US">
                <a:ea typeface="+mn-lt"/>
                <a:cs typeface="+mn-lt"/>
              </a:rPr>
              <a:t>What stood out to me was that the fairness metrics were often competing with one another. After applying reweighing, the Demographic Parity gap was reduced, indicating an improvement in outcome fairness. However, the Equal Opportunity gap increased slightly, illustrating how improving one notion of fairness may worsen another. At the same time, overall accuracy changed only marginally, demonstrating that fairness interventions can alter model </a:t>
            </a:r>
            <a:r>
              <a:rPr lang="en-US" err="1">
                <a:ea typeface="+mn-lt"/>
                <a:cs typeface="+mn-lt"/>
              </a:rPr>
              <a:t>behaviour</a:t>
            </a:r>
            <a:r>
              <a:rPr lang="en-US">
                <a:ea typeface="+mn-lt"/>
                <a:cs typeface="+mn-lt"/>
              </a:rPr>
              <a:t> in ways that are not fully captured by accuracy alone.</a:t>
            </a:r>
            <a:br>
              <a:rPr lang="en-US"/>
            </a:br>
            <a:endParaRPr lang="en-US">
              <a:ea typeface="Calibri"/>
              <a:cs typeface="Calibri"/>
            </a:endParaRPr>
          </a:p>
          <a:p>
            <a:r>
              <a:rPr lang="en-US">
                <a:ea typeface="+mn-lt"/>
                <a:cs typeface="+mn-lt"/>
              </a:rPr>
              <a:t>The lab reinforced my view that Trustworthy AI requires more than selecting the right algorithm or fairness metric. Fairness must be evaluated within the context of how the system is used, who is affected by its decisions, and what outcomes society considers acceptable. Metrics can help identify and quantify disparities, but they cannot determine what is fair on their own. Ultimately, fairness remains a human judgement that requires oversight, governance, and careful consideration of the trade-offs involved.</a:t>
            </a:r>
          </a:p>
          <a:p>
            <a:endParaRPr lang="en-US" i="1">
              <a:latin typeface="Segoe UI"/>
              <a:cs typeface="Segoe UI"/>
            </a:endParaRPr>
          </a:p>
        </p:txBody>
      </p:sp>
    </p:spTree>
    <p:extLst>
      <p:ext uri="{BB962C8B-B14F-4D97-AF65-F5344CB8AC3E}">
        <p14:creationId xmlns:p14="http://schemas.microsoft.com/office/powerpoint/2010/main" val="666770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6014D-64FE-1BB7-D6CC-4A23FE90CB8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B2672C-4EE0-A4DF-5625-9D2B8DF17D20}"/>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(Charles Foo)</a:t>
            </a:r>
            <a:endParaRPr sz="3600" b="1">
              <a:solidFill>
                <a:srgbClr val="000000"/>
              </a:solidFill>
              <a:latin typeface="Tenorite"/>
            </a:endParaRPr>
          </a:p>
        </p:txBody>
      </p:sp>
      <p:sp>
        <p:nvSpPr>
          <p:cNvPr id="4" name="TextBox 3">
            <a:extLst>
              <a:ext uri="{FF2B5EF4-FFF2-40B4-BE49-F238E27FC236}">
                <a16:creationId xmlns:a16="http://schemas.microsoft.com/office/drawing/2014/main" id="{FFE146E7-4BA2-2886-0FE0-40149D426039}"/>
              </a:ext>
            </a:extLst>
          </p:cNvPr>
          <p:cNvSpPr txBox="1"/>
          <p:nvPr/>
        </p:nvSpPr>
        <p:spPr>
          <a:xfrm>
            <a:off x="502920" y="1364430"/>
            <a:ext cx="10947552" cy="5262979"/>
          </a:xfrm>
          <a:prstGeom prst="rect">
            <a:avLst/>
          </a:prstGeom>
          <a:noFill/>
          <a:ln w="12700">
            <a:solidFill>
              <a:srgbClr val="7030A0"/>
            </a:solidFill>
            <a:prstDash val="lgDash"/>
          </a:ln>
          <a:effectLst/>
        </p:spPr>
        <p:txBody>
          <a:bodyPr wrap="square" rtlCol="0">
            <a:spAutoFit/>
          </a:bodyPr>
          <a:lstStyle/>
          <a:p>
            <a:r>
              <a:rPr lang="en-SG" sz="1400"/>
              <a:t>We audited the model with Demographic Parity (equal selection rates) and Equal Opportunity (equal true-positive rates among genuine &gt;$50K earners), and under both the baseline was unfair. It selected men roughly three times as often as women, and the disparity survived even after we dropped sex and race from the features, re-entering through proxies like relationship and marital status.</a:t>
            </a:r>
          </a:p>
          <a:p>
            <a:endParaRPr lang="en-SG" sz="1400"/>
          </a:p>
          <a:p>
            <a:r>
              <a:rPr lang="en-SG" sz="1400"/>
              <a:t>Removing a protected attribute hides the mechanism, not the bias. Reweighing then halved the Demographic Parity gap (0.167 → 0.087) at almost no accuracy cost (0.854 → 0.846), but the Equal Opportunity gap widened and reversed (0.079 → 0.104). </a:t>
            </a:r>
            <a:r>
              <a:rPr lang="en-SG" sz="1400" b="1"/>
              <a:t>This is the impossibility result made concrete</a:t>
            </a:r>
            <a:r>
              <a:rPr lang="en-SG" sz="1400"/>
              <a:t>: with different base rates across groups, you cannot equalise selection rates and true-positive rates at once — forcing one apart moves the other.</a:t>
            </a:r>
          </a:p>
          <a:p>
            <a:endParaRPr lang="en-SG" sz="1400"/>
          </a:p>
          <a:p>
            <a:r>
              <a:rPr lang="en-SG" sz="1400"/>
              <a:t>In our lab, the label is income &gt;$50K, a record of past pay that embeds the very discrimination we are auditing, so Equal Opportunity would faithfully reproduce that bias and call it fair. </a:t>
            </a:r>
            <a:r>
              <a:rPr lang="en-SG" sz="1400" b="1"/>
              <a:t>This has no easy fix and it would require questioning whether income is a sound proxy for merit at all, not just where the $50K line is drawn.</a:t>
            </a:r>
          </a:p>
          <a:p>
            <a:endParaRPr lang="en-SG" sz="1400" b="1"/>
          </a:p>
          <a:p>
            <a:r>
              <a:rPr lang="en-SG" sz="1400" b="1"/>
              <a:t>In other settings</a:t>
            </a:r>
            <a:r>
              <a:rPr lang="en-SG" sz="1400"/>
              <a:t>, </a:t>
            </a:r>
            <a:r>
              <a:rPr lang="en-SG" sz="1400" b="1"/>
              <a:t>hiring</a:t>
            </a:r>
            <a:r>
              <a:rPr lang="en-SG" sz="1400"/>
              <a:t> for example: one way to resolve the tension between equal outcome and equal opportunity is a </a:t>
            </a:r>
            <a:r>
              <a:rPr lang="en-SG" sz="1400" b="1"/>
              <a:t>two-stage process</a:t>
            </a:r>
            <a:r>
              <a:rPr lang="en-SG" sz="1400"/>
              <a:t>.</a:t>
            </a:r>
          </a:p>
          <a:p>
            <a:r>
              <a:rPr lang="en-SG" sz="1400" b="1"/>
              <a:t>First, a qualification gate </a:t>
            </a:r>
            <a:r>
              <a:rPr lang="en-SG" sz="1400"/>
              <a:t>whose only job is to identify genuinely capable people without bias, equalising the true-positive rate across groups so no qualified candidate is screened out more often because of who they are, with the qualification criteria themselves audited for proxy bias, since a biased bar makes everything downstream cosmetic.</a:t>
            </a:r>
          </a:p>
          <a:p>
            <a:endParaRPr lang="en-SG" sz="1400"/>
          </a:p>
          <a:p>
            <a:r>
              <a:rPr lang="en-SG" sz="1400" b="1"/>
              <a:t>Then, </a:t>
            </a:r>
            <a:r>
              <a:rPr lang="en-SG" sz="1400"/>
              <a:t>only among candidates already established as comparably qualified, </a:t>
            </a:r>
            <a:r>
              <a:rPr lang="en-SG" sz="1400" b="1"/>
              <a:t>diversity can legitimately e</a:t>
            </a:r>
            <a:r>
              <a:rPr lang="en-SG" sz="1400"/>
              <a:t>nter as a tie-breaker to shape the final selection. Because merit is settled before diversity is considered, this never trades capability for representation. It applies the values-based choice at the one point where candidates are genuinely interchangeable on merit. </a:t>
            </a:r>
          </a:p>
          <a:p>
            <a:endParaRPr lang="en-SG" sz="1400"/>
          </a:p>
          <a:p>
            <a:r>
              <a:rPr lang="en-SG" sz="1400"/>
              <a:t>Fairness, on this view, is not a property of the model but a judgement that belongs to human oversight, informed by the metrics rather than delegated to them. This is one way to model the AI to work “fairly”.</a:t>
            </a:r>
          </a:p>
        </p:txBody>
      </p:sp>
    </p:spTree>
    <p:extLst>
      <p:ext uri="{BB962C8B-B14F-4D97-AF65-F5344CB8AC3E}">
        <p14:creationId xmlns:p14="http://schemas.microsoft.com/office/powerpoint/2010/main" val="1230402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25E7F-9EAF-8BA8-E08D-39B27446D5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CC7F264-1F7B-D35C-818C-8A7B9E6871C0}"/>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(Clarence)</a:t>
            </a:r>
            <a:endParaRPr sz="3600" b="1">
              <a:solidFill>
                <a:srgbClr val="000000"/>
              </a:solidFill>
              <a:latin typeface="Tenorite"/>
            </a:endParaRPr>
          </a:p>
        </p:txBody>
      </p:sp>
      <p:sp>
        <p:nvSpPr>
          <p:cNvPr id="4" name="TextBox 3">
            <a:extLst>
              <a:ext uri="{FF2B5EF4-FFF2-40B4-BE49-F238E27FC236}">
                <a16:creationId xmlns:a16="http://schemas.microsoft.com/office/drawing/2014/main" id="{1183B681-BFD1-9366-00A3-B0748A55FA3A}"/>
              </a:ext>
            </a:extLst>
          </p:cNvPr>
          <p:cNvSpPr txBox="1"/>
          <p:nvPr/>
        </p:nvSpPr>
        <p:spPr>
          <a:xfrm>
            <a:off x="437781" y="1068900"/>
            <a:ext cx="11285957" cy="5632311"/>
          </a:xfrm>
          <a:prstGeom prst="rect">
            <a:avLst/>
          </a:prstGeom>
          <a:noFill/>
          <a:ln w="12700">
            <a:solidFill>
              <a:srgbClr val="7030A0"/>
            </a:solidFill>
            <a:prstDash val="lgDash"/>
          </a:ln>
          <a:effectLst/>
        </p:spPr>
        <p:txBody>
          <a:bodyPr wrap="square" rtlCol="0">
            <a:spAutoFit/>
          </a:bodyPr>
          <a:lstStyle/>
          <a:p>
            <a:r>
              <a:rPr lang="en-SG"/>
              <a:t>This lab showed that fairness cannot be fixed just by checking one metric and adjusting the model after training. Removing protected attributes like sex and race did not make the model fair. Even without those columns, the model still selected men for the &gt;$50K income group about three times more often than women, at 24.6% compared to 7.8%.</a:t>
            </a:r>
          </a:p>
          <a:p>
            <a:endParaRPr lang="en-SG"/>
          </a:p>
          <a:p>
            <a:r>
              <a:rPr lang="en-SG"/>
              <a:t>This happened because other variables, such as relationship status and marital status, acted as substitutes for protected attributes. These variables allowed the same unfair patterns to enter the model again, even after the obvious signals were removed. The lab also showed that fairness has different meanings. Demographic Parity checks whether different groups receive positive outcomes at similar rates, while Equal Opportunity checks whether qualified people from different groups receive positive outcomes at similar rates.</a:t>
            </a:r>
          </a:p>
          <a:p>
            <a:endParaRPr lang="en-SG"/>
          </a:p>
          <a:p>
            <a:r>
              <a:rPr lang="en-SG"/>
              <a:t>Reweighting improved the Demographic Parity gap from 0.167 to 0.087, but the Equal Opportunity gap became slightly worse, from 0.079 to 0.104. This does not mean the fix failed. It shows that when groups have different base rates in the data, it is not possible to satisfy both fairness definitions at the same time. Improving one fairness measure can make another fairness measure worse.</a:t>
            </a:r>
          </a:p>
          <a:p>
            <a:endParaRPr lang="en-SG"/>
          </a:p>
          <a:p>
            <a:r>
              <a:rPr lang="en-SG"/>
              <a:t>The accuracy drop was small, from 0.854 to 0.846, so fairness did not seriously hurt model performance. Overall, fairness depends on the purpose of the system. If the goal is to reduce historical unfairness, Demographic Parity may matter more. If the goal is to follow the data as a measure of merit, Equal Opportunity may matter more. A metric can show where the gap is, but people must decide which gap matters most and why.</a:t>
            </a:r>
          </a:p>
          <a:p>
            <a:endParaRPr lang="en-US"/>
          </a:p>
        </p:txBody>
      </p:sp>
    </p:spTree>
    <p:extLst>
      <p:ext uri="{BB962C8B-B14F-4D97-AF65-F5344CB8AC3E}">
        <p14:creationId xmlns:p14="http://schemas.microsoft.com/office/powerpoint/2010/main" val="1732339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4C7C6-AB61-625A-CEB6-9E447EA411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E7045D-4C61-E3E1-BB3C-C8414461FA50}"/>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(Kai Boo)</a:t>
            </a:r>
            <a:endParaRPr sz="3600" b="1">
              <a:solidFill>
                <a:srgbClr val="000000"/>
              </a:solidFill>
              <a:latin typeface="Tenorite"/>
            </a:endParaRPr>
          </a:p>
        </p:txBody>
      </p:sp>
      <p:sp>
        <p:nvSpPr>
          <p:cNvPr id="4" name="TextBox 3">
            <a:extLst>
              <a:ext uri="{FF2B5EF4-FFF2-40B4-BE49-F238E27FC236}">
                <a16:creationId xmlns:a16="http://schemas.microsoft.com/office/drawing/2014/main" id="{C76F5D27-0EDB-0940-0FE0-A01BA644D5A3}"/>
              </a:ext>
            </a:extLst>
          </p:cNvPr>
          <p:cNvSpPr txBox="1"/>
          <p:nvPr/>
        </p:nvSpPr>
        <p:spPr>
          <a:xfrm>
            <a:off x="502920" y="1364430"/>
            <a:ext cx="10947552" cy="5078313"/>
          </a:xfrm>
          <a:prstGeom prst="rect">
            <a:avLst/>
          </a:prstGeom>
          <a:noFill/>
          <a:ln w="12700">
            <a:solidFill>
              <a:srgbClr val="7030A0"/>
            </a:solidFill>
            <a:prstDash val="lgDash"/>
          </a:ln>
          <a:effectLst/>
        </p:spPr>
        <p:txBody>
          <a:bodyPr wrap="square" lIns="91440" tIns="45720" rIns="91440" bIns="45720" rtlCol="0" anchor="t">
            <a:spAutoFit/>
          </a:bodyPr>
          <a:lstStyle/>
          <a:p>
            <a:r>
              <a:rPr lang="en-US">
                <a:ea typeface="+mn-lt"/>
                <a:cs typeface="+mn-lt"/>
              </a:rPr>
              <a:t>In this fairness audit, we evaluated the model using Demographic Parity and Equal Opportunity, which measure selection‑rate differences and true‑positive‑rate differences across demographic groups. These metrics showed that the baseline model was not fair, even though protected attributes like sex and race were removed from training. The model still selected men far more often than women (24.6% vs 7.8%) and showed similar gaps across race and age groups. This confirmed that proxy variables in the dataset continued to carry historical bias, causing the model to reproduce existing inequalities.</a:t>
            </a:r>
            <a:endParaRPr lang="en-US"/>
          </a:p>
          <a:p>
            <a:endParaRPr lang="en-US"/>
          </a:p>
          <a:p>
            <a:r>
              <a:rPr lang="en-US">
                <a:ea typeface="+mn-lt"/>
                <a:cs typeface="+mn-lt"/>
              </a:rPr>
              <a:t>To address this, the Kamiran–</a:t>
            </a:r>
            <a:r>
              <a:rPr lang="en-US" err="1">
                <a:ea typeface="+mn-lt"/>
                <a:cs typeface="+mn-lt"/>
              </a:rPr>
              <a:t>Calders</a:t>
            </a:r>
            <a:r>
              <a:rPr lang="en-US">
                <a:ea typeface="+mn-lt"/>
                <a:cs typeface="+mn-lt"/>
              </a:rPr>
              <a:t> reweighing method was applied. Mitigation does help partially as it significantly reduced the Demographic Parity gap from 0.167 to 0.087, meaning the model’s positive predictions became more balanced across sexes. However, Equal Opportunity worsened, with the TPR gap increasing from 0.079 to 0.104. This highlighted the inherent trade‑off between fairness metrics when groups have different base rates.</a:t>
            </a:r>
            <a:endParaRPr lang="en-US"/>
          </a:p>
          <a:p>
            <a:endParaRPr lang="en-US"/>
          </a:p>
          <a:p>
            <a:r>
              <a:rPr lang="en-US">
                <a:ea typeface="+mn-lt"/>
                <a:cs typeface="+mn-lt"/>
              </a:rPr>
              <a:t>Accuracy changed only slightly, dropping from 0.854 to 0.846, showing that improving fairness did not meaningfully harm overall performance. Overall, the audit demonstrated that removing sensitive attributes is insufficient, fairness metrics can conflict, and mitigation requires choosing which fairness definition aligns best with the system’s goals.</a:t>
            </a:r>
            <a:endParaRPr lang="en-US"/>
          </a:p>
          <a:p>
            <a:endParaRPr lang="en-US"/>
          </a:p>
        </p:txBody>
      </p:sp>
    </p:spTree>
    <p:extLst>
      <p:ext uri="{BB962C8B-B14F-4D97-AF65-F5344CB8AC3E}">
        <p14:creationId xmlns:p14="http://schemas.microsoft.com/office/powerpoint/2010/main" val="4019521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7E3A-CC39-0E26-8011-C4305C15DD6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4489D3-2C7F-3A62-D234-D086E12182AD}"/>
              </a:ext>
            </a:extLst>
          </p:cNvPr>
          <p:cNvSpPr txBox="1"/>
          <p:nvPr/>
        </p:nvSpPr>
        <p:spPr>
          <a:xfrm>
            <a:off x="502920" y="385494"/>
            <a:ext cx="11155680" cy="646331"/>
          </a:xfrm>
          <a:prstGeom prst="rect">
            <a:avLst/>
          </a:prstGeom>
          <a:noFill/>
        </p:spPr>
        <p:txBody>
          <a:bodyPr wrap="square" anchor="ctr">
            <a:spAutoFit/>
          </a:bodyPr>
          <a:lstStyle/>
          <a:p>
            <a:pPr algn="l"/>
            <a:r>
              <a:rPr sz="3600" b="1">
                <a:solidFill>
                  <a:srgbClr val="000000"/>
                </a:solidFill>
                <a:latin typeface="Tenorite"/>
              </a:rPr>
              <a:t>Reflection </a:t>
            </a:r>
            <a:r>
              <a:rPr lang="en-US" sz="3600" b="1">
                <a:solidFill>
                  <a:srgbClr val="000000"/>
                </a:solidFill>
                <a:latin typeface="Tenorite"/>
              </a:rPr>
              <a:t>(Sagar Pratap Singh)</a:t>
            </a:r>
            <a:endParaRPr sz="3600" b="1">
              <a:solidFill>
                <a:srgbClr val="000000"/>
              </a:solidFill>
              <a:latin typeface="Tenorite"/>
            </a:endParaRPr>
          </a:p>
        </p:txBody>
      </p:sp>
      <p:sp>
        <p:nvSpPr>
          <p:cNvPr id="4" name="TextBox 3">
            <a:extLst>
              <a:ext uri="{FF2B5EF4-FFF2-40B4-BE49-F238E27FC236}">
                <a16:creationId xmlns:a16="http://schemas.microsoft.com/office/drawing/2014/main" id="{0D2FCAC9-3D7A-A691-A84F-04F2F55D5218}"/>
              </a:ext>
            </a:extLst>
          </p:cNvPr>
          <p:cNvSpPr txBox="1"/>
          <p:nvPr/>
        </p:nvSpPr>
        <p:spPr>
          <a:xfrm>
            <a:off x="502920" y="1364430"/>
            <a:ext cx="10947552" cy="4524315"/>
          </a:xfrm>
          <a:prstGeom prst="rect">
            <a:avLst/>
          </a:prstGeom>
          <a:noFill/>
          <a:ln w="12700">
            <a:solidFill>
              <a:srgbClr val="7030A0"/>
            </a:solidFill>
            <a:prstDash val="lgDash"/>
          </a:ln>
          <a:effectLst/>
        </p:spPr>
        <p:txBody>
          <a:bodyPr wrap="square" lIns="91440" tIns="45720" rIns="91440" bIns="45720" rtlCol="0" anchor="t">
            <a:spAutoFit/>
          </a:bodyPr>
          <a:lstStyle/>
          <a:p>
            <a:r>
              <a:rPr lang="en-US" sz="1600">
                <a:latin typeface="Segoe UI"/>
                <a:cs typeface="Segoe UI"/>
              </a:rPr>
              <a:t>We used both Demographic parity and Equal Opportunity metrics. Demographic parity to achieve equal outcomes across groups (male and female in this experiment). Equal opportunity to ensure equal treatment of the qualified across the two groups</a:t>
            </a:r>
          </a:p>
          <a:p>
            <a:br>
              <a:rPr lang="en-US" sz="1600" dirty="0">
                <a:latin typeface="Segoe UI" panose="020B0502040204020203" pitchFamily="34" charset="0"/>
                <a:cs typeface="Segoe UI" panose="020B0502040204020203" pitchFamily="34" charset="0"/>
              </a:rPr>
            </a:br>
            <a:r>
              <a:rPr lang="en-US" sz="1600">
                <a:latin typeface="Segoe UI"/>
                <a:cs typeface="Segoe UI"/>
              </a:rPr>
              <a:t>The first interesting insight was that even after removing the obvious bias signals from the dataset (sex for example), the model was still able to learn these biased patterns using feature proxies like relationship (husband/wife). The model continued to inherit the gender, race, age disparities from the training data. As an example, the model selected men 3x more often than women in the &gt;50K bracket. Hence, the model was not fair and bias from historical data persisted</a:t>
            </a:r>
          </a:p>
          <a:p>
            <a:br>
              <a:rPr lang="en-US" sz="1600" dirty="0">
                <a:latin typeface="Segoe UI" panose="020B0502040204020203" pitchFamily="34" charset="0"/>
                <a:cs typeface="Segoe UI" panose="020B0502040204020203" pitchFamily="34" charset="0"/>
              </a:rPr>
            </a:br>
            <a:r>
              <a:rPr lang="en-US" sz="1600" dirty="0">
                <a:latin typeface="Segoe UI"/>
                <a:cs typeface="Segoe UI"/>
              </a:rPr>
              <a:t>Mitigation helped for the metric that was targeted, i.e. selection rate. By reweighting the model, the Demographic Parity difference reduced from 0.167 to 0.087 (roughly halved). However, we observed that the Equal Opportunity metric suffered as a trade-off and this is the Impossibility Result in action.</a:t>
            </a:r>
          </a:p>
          <a:p>
            <a:br>
              <a:rPr lang="en-US" sz="1600" dirty="0">
                <a:latin typeface="Segoe UI" panose="020B0502040204020203" pitchFamily="34" charset="0"/>
                <a:cs typeface="Segoe UI" panose="020B0502040204020203" pitchFamily="34" charset="0"/>
              </a:rPr>
            </a:br>
            <a:r>
              <a:rPr lang="en-US" sz="1600">
                <a:latin typeface="Segoe UI"/>
                <a:cs typeface="Segoe UI"/>
              </a:rPr>
              <a:t>While the model was reweighted for fairness to improve Demographic parity significantly, its accuracy dropped only slightly, from 0.854 to 0.846 (-0.008). This illustrates that fairness can be achieved while maintaining a reasonable model accuracy. Context is important to optimize the right metric for fairness. Human evaluation and trial runs are needed to reasonably assess which fairness metric should be improved depending on the use case where the model is deployed.</a:t>
            </a:r>
          </a:p>
          <a:p>
            <a:endParaRPr lang="en-US" sz="1600" dirty="0">
              <a:latin typeface="Segoe UI"/>
              <a:cs typeface="Segoe UI"/>
            </a:endParaRPr>
          </a:p>
        </p:txBody>
      </p:sp>
    </p:spTree>
    <p:extLst>
      <p:ext uri="{BB962C8B-B14F-4D97-AF65-F5344CB8AC3E}">
        <p14:creationId xmlns:p14="http://schemas.microsoft.com/office/powerpoint/2010/main" val="2548338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FD42B-94BA-953D-BDE7-A10EE6CE21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0F742B-513E-B708-C3C6-ED1BA6AC17AC}"/>
              </a:ext>
            </a:extLst>
          </p:cNvPr>
          <p:cNvSpPr/>
          <p:nvPr/>
        </p:nvSpPr>
        <p:spPr>
          <a:xfrm>
            <a:off x="0" y="4160520"/>
            <a:ext cx="12191695" cy="9144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7030A0"/>
              </a:solidFill>
            </a:endParaRPr>
          </a:p>
        </p:txBody>
      </p:sp>
      <p:sp>
        <p:nvSpPr>
          <p:cNvPr id="3" name="TextBox 2">
            <a:extLst>
              <a:ext uri="{FF2B5EF4-FFF2-40B4-BE49-F238E27FC236}">
                <a16:creationId xmlns:a16="http://schemas.microsoft.com/office/drawing/2014/main" id="{EAA1E7BC-B720-DE49-9697-B21087F2380A}"/>
              </a:ext>
            </a:extLst>
          </p:cNvPr>
          <p:cNvSpPr txBox="1"/>
          <p:nvPr/>
        </p:nvSpPr>
        <p:spPr>
          <a:xfrm>
            <a:off x="822960" y="2286000"/>
            <a:ext cx="10515600" cy="646331"/>
          </a:xfrm>
          <a:prstGeom prst="rect">
            <a:avLst/>
          </a:prstGeom>
          <a:noFill/>
        </p:spPr>
        <p:txBody>
          <a:bodyPr wrap="square">
            <a:spAutoFit/>
          </a:bodyPr>
          <a:lstStyle/>
          <a:p>
            <a:r>
              <a:rPr lang="en-US" sz="3600" b="1">
                <a:solidFill>
                  <a:srgbClr val="000000"/>
                </a:solidFill>
                <a:latin typeface="Tenorite"/>
              </a:rPr>
              <a:t>End.</a:t>
            </a:r>
            <a:endParaRPr sz="3600" b="1">
              <a:solidFill>
                <a:srgbClr val="000000"/>
              </a:solidFill>
              <a:latin typeface="Tenorite"/>
            </a:endParaRPr>
          </a:p>
        </p:txBody>
      </p:sp>
    </p:spTree>
    <p:extLst>
      <p:ext uri="{BB962C8B-B14F-4D97-AF65-F5344CB8AC3E}">
        <p14:creationId xmlns:p14="http://schemas.microsoft.com/office/powerpoint/2010/main" val="1328370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0DAD8E17DB1D6489C9F8E466F16B9AB" ma:contentTypeVersion="10" ma:contentTypeDescription="Create a new document." ma:contentTypeScope="" ma:versionID="aa59de97aa30a7163b1229a20548241f">
  <xsd:schema xmlns:xsd="http://www.w3.org/2001/XMLSchema" xmlns:xs="http://www.w3.org/2001/XMLSchema" xmlns:p="http://schemas.microsoft.com/office/2006/metadata/properties" xmlns:ns2="63227951-1c8e-4598-94ad-0eb8f159cf89" xmlns:ns3="e9d6c3ec-f850-486d-bc56-3d497e792a92" targetNamespace="http://schemas.microsoft.com/office/2006/metadata/properties" ma:root="true" ma:fieldsID="4874d8fe8e6cb23005ce7a462f80cbc1" ns2:_="" ns3:_="">
    <xsd:import namespace="63227951-1c8e-4598-94ad-0eb8f159cf89"/>
    <xsd:import namespace="e9d6c3ec-f850-486d-bc56-3d497e792a9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227951-1c8e-4598-94ad-0eb8f159cf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08ee23d-8eb2-4faa-a2fb-6340af2942b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d6c3ec-f850-486d-bc56-3d497e792a9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f7045c5-cc55-4800-8a81-b4fbbe8fe649}" ma:internalName="TaxCatchAll" ma:showField="CatchAllData" ma:web="e9d6c3ec-f850-486d-bc56-3d497e792a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e9d6c3ec-f850-486d-bc56-3d497e792a92" xsi:nil="true"/>
    <lcf76f155ced4ddcb4097134ff3c332f xmlns="63227951-1c8e-4598-94ad-0eb8f159cf8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21415DE-AB8F-4AAA-87E5-F7F8EB4BA606}">
  <ds:schemaRefs>
    <ds:schemaRef ds:uri="http://schemas.microsoft.com/sharepoint/v3/contenttype/forms"/>
  </ds:schemaRefs>
</ds:datastoreItem>
</file>

<file path=customXml/itemProps2.xml><?xml version="1.0" encoding="utf-8"?>
<ds:datastoreItem xmlns:ds="http://schemas.openxmlformats.org/officeDocument/2006/customXml" ds:itemID="{44637335-156B-4903-8A74-33DF7CF04EDE}">
  <ds:schemaRefs>
    <ds:schemaRef ds:uri="63227951-1c8e-4598-94ad-0eb8f159cf89"/>
    <ds:schemaRef ds:uri="e9d6c3ec-f850-486d-bc56-3d497e792a9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4B74364-8DBA-43DA-B16C-A2F52A7E478C}">
  <ds:schemaRefs>
    <ds:schemaRef ds:uri="63227951-1c8e-4598-94ad-0eb8f159cf89"/>
    <ds:schemaRef ds:uri="e9d6c3ec-f850-486d-bc56-3d497e792a9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25</Slides>
  <Notes>6</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8</cp:revision>
  <dcterms:created xsi:type="dcterms:W3CDTF">2013-01-27T09:14:16Z</dcterms:created>
  <dcterms:modified xsi:type="dcterms:W3CDTF">2026-06-23T10:02:01Z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0x01010020DAD8E17DB1D6489C9F8E466F16B9AB</vt:lpwstr>
  </property>
  <property fmtid="{D5CDD505-2E9C-101B-9397-08002B2CF9AE}" pid="3" name="MediaServiceImageTags">
    <vt:lpwstr/>
  </property>
</Properties>
</file>