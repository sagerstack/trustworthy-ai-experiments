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2" r:id="rId10"/>
    <p:sldId id="263" r:id="rId11"/>
    <p:sldId id="264" r:id="rId12"/>
    <p:sldId id="265" r:id="rId13"/>
    <p:sldId id="267" r:id="rId14"/>
    <p:sldId id="268" r:id="rId15"/>
    <p:sldId id="273" r:id="rId16"/>
    <p:sldId id="288" r:id="rId17"/>
    <p:sldId id="274" r:id="rId18"/>
    <p:sldId id="283" r:id="rId19"/>
    <p:sldId id="284" r:id="rId20"/>
    <p:sldId id="287" r:id="rId21"/>
    <p:sldId id="286" r:id="rId22"/>
    <p:sldId id="285" r:id="rId23"/>
    <p:sldId id="28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A00C40-0C97-2E9B-4B62-3F6507119012}" v="56" dt="2026-07-06T17:28:04.769"/>
    <p1510:client id="{4FD58A91-4C70-DF0D-EF80-ABC28699DF9E}" v="19" dt="2026-07-06T08:58:49.998"/>
    <p1510:client id="{5F4E7925-A985-877A-7FC3-8929F7BB504E}" v="50" dt="2026-07-06T05:47:46.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TR - Lee Kai Boo" userId="S::kaiboo_lee@mymail.sutd.edu.sg::e914e057-4c10-42b4-a59a-ee3dd7ce72b2" providerId="AD" clId="Web-{22A00C40-0C97-2E9B-4B62-3F6507119012}"/>
    <pc:docChg chg="modSld">
      <pc:chgData name="MSTR - Lee Kai Boo" userId="S::kaiboo_lee@mymail.sutd.edu.sg::e914e057-4c10-42b4-a59a-ee3dd7ce72b2" providerId="AD" clId="Web-{22A00C40-0C97-2E9B-4B62-3F6507119012}" dt="2026-07-06T17:28:04.769" v="39" actId="20577"/>
      <pc:docMkLst>
        <pc:docMk/>
      </pc:docMkLst>
      <pc:sldChg chg="modSp">
        <pc:chgData name="MSTR - Lee Kai Boo" userId="S::kaiboo_lee@mymail.sutd.edu.sg::e914e057-4c10-42b4-a59a-ee3dd7ce72b2" providerId="AD" clId="Web-{22A00C40-0C97-2E9B-4B62-3F6507119012}" dt="2026-07-06T17:28:04.769" v="39" actId="20577"/>
        <pc:sldMkLst>
          <pc:docMk/>
          <pc:sldMk cId="4019521753" sldId="286"/>
        </pc:sldMkLst>
        <pc:spChg chg="mod">
          <ac:chgData name="MSTR - Lee Kai Boo" userId="S::kaiboo_lee@mymail.sutd.edu.sg::e914e057-4c10-42b4-a59a-ee3dd7ce72b2" providerId="AD" clId="Web-{22A00C40-0C97-2E9B-4B62-3F6507119012}" dt="2026-07-06T17:28:04.769" v="39" actId="20577"/>
          <ac:spMkLst>
            <pc:docMk/>
            <pc:sldMk cId="4019521753" sldId="286"/>
            <ac:spMk id="4" creationId="{C76F5D27-0EDB-0940-0FE0-A01BA644D5A3}"/>
          </ac:spMkLst>
        </pc:spChg>
      </pc:sldChg>
    </pc:docChg>
  </pc:docChgLst>
  <pc:docChgLst>
    <pc:chgData name="MSTR - Sai-Chin-Kai" userId="S::chinkai_sai@mymail.sutd.edu.sg::b97de4dc-8873-4f21-99e7-498f7f9efec4" providerId="AD" clId="Web-{5F4E7925-A985-877A-7FC3-8929F7BB504E}"/>
    <pc:docChg chg="modSld sldOrd">
      <pc:chgData name="MSTR - Sai-Chin-Kai" userId="S::chinkai_sai@mymail.sutd.edu.sg::b97de4dc-8873-4f21-99e7-498f7f9efec4" providerId="AD" clId="Web-{5F4E7925-A985-877A-7FC3-8929F7BB504E}" dt="2026-07-06T05:47:46.099" v="36"/>
      <pc:docMkLst>
        <pc:docMk/>
      </pc:docMkLst>
      <pc:sldChg chg="modSp">
        <pc:chgData name="MSTR - Sai-Chin-Kai" userId="S::chinkai_sai@mymail.sutd.edu.sg::b97de4dc-8873-4f21-99e7-498f7f9efec4" providerId="AD" clId="Web-{5F4E7925-A985-877A-7FC3-8929F7BB504E}" dt="2026-07-06T05:44:11.535" v="34" actId="20577"/>
        <pc:sldMkLst>
          <pc:docMk/>
          <pc:sldMk cId="1732339639" sldId="285"/>
        </pc:sldMkLst>
        <pc:spChg chg="mod">
          <ac:chgData name="MSTR - Sai-Chin-Kai" userId="S::chinkai_sai@mymail.sutd.edu.sg::b97de4dc-8873-4f21-99e7-498f7f9efec4" providerId="AD" clId="Web-{5F4E7925-A985-877A-7FC3-8929F7BB504E}" dt="2026-07-06T05:44:11.535" v="34" actId="20577"/>
          <ac:spMkLst>
            <pc:docMk/>
            <pc:sldMk cId="1732339639" sldId="285"/>
            <ac:spMk id="4" creationId="{1183B681-BFD1-9366-00A3-B0748A55FA3A}"/>
          </ac:spMkLst>
        </pc:spChg>
      </pc:sldChg>
      <pc:sldChg chg="ord">
        <pc:chgData name="MSTR - Sai-Chin-Kai" userId="S::chinkai_sai@mymail.sutd.edu.sg::b97de4dc-8873-4f21-99e7-498f7f9efec4" providerId="AD" clId="Web-{5F4E7925-A985-877A-7FC3-8929F7BB504E}" dt="2026-07-06T05:47:38.333" v="35"/>
        <pc:sldMkLst>
          <pc:docMk/>
          <pc:sldMk cId="4019521753" sldId="286"/>
        </pc:sldMkLst>
      </pc:sldChg>
      <pc:sldChg chg="ord">
        <pc:chgData name="MSTR - Sai-Chin-Kai" userId="S::chinkai_sai@mymail.sutd.edu.sg::b97de4dc-8873-4f21-99e7-498f7f9efec4" providerId="AD" clId="Web-{5F4E7925-A985-877A-7FC3-8929F7BB504E}" dt="2026-07-06T05:47:46.099" v="36"/>
        <pc:sldMkLst>
          <pc:docMk/>
          <pc:sldMk cId="2548338713" sldId="287"/>
        </pc:sldMkLst>
      </pc:sldChg>
    </pc:docChg>
  </pc:docChgLst>
  <pc:docChgLst>
    <pc:chgData name="MSTR - Tan Ai Kun" userId="S::aikun_tan@mymail.sutd.edu.sg::efb57637-7385-40e9-8427-c7c7962c2739" providerId="AD" clId="Web-{4FD58A91-4C70-DF0D-EF80-ABC28699DF9E}"/>
    <pc:docChg chg="modSld">
      <pc:chgData name="MSTR - Tan Ai Kun" userId="S::aikun_tan@mymail.sutd.edu.sg::efb57637-7385-40e9-8427-c7c7962c2739" providerId="AD" clId="Web-{4FD58A91-4C70-DF0D-EF80-ABC28699DF9E}" dt="2026-07-06T08:58:49.998" v="16"/>
      <pc:docMkLst>
        <pc:docMk/>
      </pc:docMkLst>
      <pc:sldChg chg="modSp">
        <pc:chgData name="MSTR - Tan Ai Kun" userId="S::aikun_tan@mymail.sutd.edu.sg::efb57637-7385-40e9-8427-c7c7962c2739" providerId="AD" clId="Web-{4FD58A91-4C70-DF0D-EF80-ABC28699DF9E}" dt="2026-07-06T08:58:49.998" v="16"/>
        <pc:sldMkLst>
          <pc:docMk/>
          <pc:sldMk cId="0" sldId="265"/>
        </pc:sldMkLst>
        <pc:spChg chg="mod">
          <ac:chgData name="MSTR - Tan Ai Kun" userId="S::aikun_tan@mymail.sutd.edu.sg::efb57637-7385-40e9-8427-c7c7962c2739" providerId="AD" clId="Web-{4FD58A91-4C70-DF0D-EF80-ABC28699DF9E}" dt="2026-07-06T08:58:49.998" v="16"/>
          <ac:spMkLst>
            <pc:docMk/>
            <pc:sldMk cId="0" sldId="265"/>
            <ac:spMk id="5" creationId="{00000000-0000-0000-0000-000000000000}"/>
          </ac:spMkLst>
        </pc:spChg>
      </pc:sldChg>
      <pc:sldChg chg="modSp">
        <pc:chgData name="MSTR - Tan Ai Kun" userId="S::aikun_tan@mymail.sutd.edu.sg::efb57637-7385-40e9-8427-c7c7962c2739" providerId="AD" clId="Web-{4FD58A91-4C70-DF0D-EF80-ABC28699DF9E}" dt="2026-07-06T08:56:38.259" v="14" actId="20577"/>
        <pc:sldMkLst>
          <pc:docMk/>
          <pc:sldMk cId="666770014" sldId="283"/>
        </pc:sldMkLst>
        <pc:spChg chg="mod">
          <ac:chgData name="MSTR - Tan Ai Kun" userId="S::aikun_tan@mymail.sutd.edu.sg::efb57637-7385-40e9-8427-c7c7962c2739" providerId="AD" clId="Web-{4FD58A91-4C70-DF0D-EF80-ABC28699DF9E}" dt="2026-07-06T08:56:38.259" v="14" actId="20577"/>
          <ac:spMkLst>
            <pc:docMk/>
            <pc:sldMk cId="666770014" sldId="283"/>
            <ac:spMk id="4" creationId="{8A1BA0C2-5246-B8D1-891A-4FC8383CD9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39D1A6-6246-9545-B1A8-590E62DA7C95}" type="datetimeFigureOut">
              <a:rPr lang="en-US" smtClean="0"/>
              <a:t>7/6/2026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92B54A-ACFD-3B48-B17D-789040947D71}" type="slidenum">
              <a:rPr lang="en-US" smtClean="0"/>
              <a:t>‹#›</a:t>
            </a:fld>
            <a:endParaRPr lang="en-US"/>
          </a:p>
        </p:txBody>
      </p:sp>
    </p:spTree>
    <p:extLst>
      <p:ext uri="{BB962C8B-B14F-4D97-AF65-F5344CB8AC3E}">
        <p14:creationId xmlns:p14="http://schemas.microsoft.com/office/powerpoint/2010/main" val="629674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C392B54A-ACFD-3B48-B17D-789040947D71}" type="slidenum">
              <a:rPr lang="en-US" smtClean="0"/>
              <a:t>7</a:t>
            </a:fld>
            <a:endParaRPr lang="en-US"/>
          </a:p>
        </p:txBody>
      </p:sp>
    </p:spTree>
    <p:extLst>
      <p:ext uri="{BB962C8B-B14F-4D97-AF65-F5344CB8AC3E}">
        <p14:creationId xmlns:p14="http://schemas.microsoft.com/office/powerpoint/2010/main" val="4073333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1CB5C-5047-C90D-9D8F-DCE10144C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4474F-1EE1-3364-843E-1F9F2B574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9D5C1-DA0C-6BC7-E03C-DA2003FC1D79}"/>
              </a:ext>
            </a:extLst>
          </p:cNvPr>
          <p:cNvSpPr>
            <a:spLocks noGrp="1"/>
          </p:cNvSpPr>
          <p:nvPr>
            <p:ph type="body" idx="1"/>
          </p:nvPr>
        </p:nvSpPr>
        <p:spPr/>
        <p:txBody>
          <a:bodyPr/>
          <a:lstStyle/>
          <a:p>
            <a:pPr marL="285750" indent="-2857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70239DDF-72ED-1072-6CE2-995997E340BE}"/>
              </a:ext>
            </a:extLst>
          </p:cNvPr>
          <p:cNvSpPr>
            <a:spLocks noGrp="1"/>
          </p:cNvSpPr>
          <p:nvPr>
            <p:ph type="sldNum" sz="quarter" idx="5"/>
          </p:nvPr>
        </p:nvSpPr>
        <p:spPr/>
        <p:txBody>
          <a:bodyPr/>
          <a:lstStyle/>
          <a:p>
            <a:fld id="{C392B54A-ACFD-3B48-B17D-789040947D71}" type="slidenum">
              <a:rPr lang="en-US" smtClean="0"/>
              <a:t>15</a:t>
            </a:fld>
            <a:endParaRPr lang="en-US"/>
          </a:p>
        </p:txBody>
      </p:sp>
    </p:spTree>
    <p:extLst>
      <p:ext uri="{BB962C8B-B14F-4D97-AF65-F5344CB8AC3E}">
        <p14:creationId xmlns:p14="http://schemas.microsoft.com/office/powerpoint/2010/main" val="2247182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FF769-D27E-0AFA-1461-73B55EBAE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8227E-882E-9D17-FA12-F894BBF8B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8647E4-70BB-0D61-1CE0-00504D6EC2CA}"/>
              </a:ext>
            </a:extLst>
          </p:cNvPr>
          <p:cNvSpPr>
            <a:spLocks noGrp="1"/>
          </p:cNvSpPr>
          <p:nvPr>
            <p:ph type="body" idx="1"/>
          </p:nvPr>
        </p:nvSpPr>
        <p:spPr/>
        <p:txBody>
          <a:bodyPr/>
          <a:lstStyle/>
          <a:p>
            <a:pPr marL="285750" indent="-2857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6208D91A-7A35-49D8-742A-733DF32AFAC9}"/>
              </a:ext>
            </a:extLst>
          </p:cNvPr>
          <p:cNvSpPr>
            <a:spLocks noGrp="1"/>
          </p:cNvSpPr>
          <p:nvPr>
            <p:ph type="sldNum" sz="quarter" idx="5"/>
          </p:nvPr>
        </p:nvSpPr>
        <p:spPr/>
        <p:txBody>
          <a:bodyPr/>
          <a:lstStyle/>
          <a:p>
            <a:fld id="{C392B54A-ACFD-3B48-B17D-789040947D71}" type="slidenum">
              <a:rPr lang="en-US" smtClean="0"/>
              <a:t>16</a:t>
            </a:fld>
            <a:endParaRPr lang="en-US"/>
          </a:p>
        </p:txBody>
      </p:sp>
    </p:spTree>
    <p:extLst>
      <p:ext uri="{BB962C8B-B14F-4D97-AF65-F5344CB8AC3E}">
        <p14:creationId xmlns:p14="http://schemas.microsoft.com/office/powerpoint/2010/main" val="670761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4739-4530-0FA8-7BFD-C8F450753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A4441-5AB3-3E7E-BD11-C9DC97040D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51E83-42D0-32AC-7625-23C0A3AE91F4}"/>
              </a:ext>
            </a:extLst>
          </p:cNvPr>
          <p:cNvSpPr>
            <a:spLocks noGrp="1"/>
          </p:cNvSpPr>
          <p:nvPr>
            <p:ph type="body" idx="1"/>
          </p:nvPr>
        </p:nvSpPr>
        <p:spPr/>
        <p:txBody>
          <a:bodyPr/>
          <a:lstStyle/>
          <a:p>
            <a:pPr marL="285750" indent="-2857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02F8D969-9390-3376-AC9D-7DE4D327F3A9}"/>
              </a:ext>
            </a:extLst>
          </p:cNvPr>
          <p:cNvSpPr>
            <a:spLocks noGrp="1"/>
          </p:cNvSpPr>
          <p:nvPr>
            <p:ph type="sldNum" sz="quarter" idx="5"/>
          </p:nvPr>
        </p:nvSpPr>
        <p:spPr/>
        <p:txBody>
          <a:bodyPr/>
          <a:lstStyle/>
          <a:p>
            <a:fld id="{C392B54A-ACFD-3B48-B17D-789040947D71}" type="slidenum">
              <a:rPr lang="en-US" smtClean="0"/>
              <a:t>17</a:t>
            </a:fld>
            <a:endParaRPr lang="en-US"/>
          </a:p>
        </p:txBody>
      </p:sp>
    </p:spTree>
    <p:extLst>
      <p:ext uri="{BB962C8B-B14F-4D97-AF65-F5344CB8AC3E}">
        <p14:creationId xmlns:p14="http://schemas.microsoft.com/office/powerpoint/2010/main" val="405005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E8B80-C466-C1B4-998B-CBD84794F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76935-8E83-2460-99BB-DA225FFFB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8B67A-82E6-F1C5-4422-613B6D892C82}"/>
              </a:ext>
            </a:extLst>
          </p:cNvPr>
          <p:cNvSpPr>
            <a:spLocks noGrp="1"/>
          </p:cNvSpPr>
          <p:nvPr>
            <p:ph type="body" idx="1"/>
          </p:nvPr>
        </p:nvSpPr>
        <p:spPr/>
        <p:txBody>
          <a:bodyPr/>
          <a:lstStyle/>
          <a:p>
            <a:pPr marL="285750" indent="-2857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EE6C6CC2-DD63-0049-5B34-03FA1E96349F}"/>
              </a:ext>
            </a:extLst>
          </p:cNvPr>
          <p:cNvSpPr>
            <a:spLocks noGrp="1"/>
          </p:cNvSpPr>
          <p:nvPr>
            <p:ph type="sldNum" sz="quarter" idx="5"/>
          </p:nvPr>
        </p:nvSpPr>
        <p:spPr/>
        <p:txBody>
          <a:bodyPr/>
          <a:lstStyle/>
          <a:p>
            <a:fld id="{C392B54A-ACFD-3B48-B17D-789040947D71}" type="slidenum">
              <a:rPr lang="en-US" smtClean="0"/>
              <a:t>18</a:t>
            </a:fld>
            <a:endParaRPr lang="en-US"/>
          </a:p>
        </p:txBody>
      </p:sp>
    </p:spTree>
    <p:extLst>
      <p:ext uri="{BB962C8B-B14F-4D97-AF65-F5344CB8AC3E}">
        <p14:creationId xmlns:p14="http://schemas.microsoft.com/office/powerpoint/2010/main" val="3866699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AA284-82D6-DAFE-3336-BB4172647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FEF68-9357-D0AF-2826-6F34F33AB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26028-71AF-BA5D-34BF-EB0920E61AE9}"/>
              </a:ext>
            </a:extLst>
          </p:cNvPr>
          <p:cNvSpPr>
            <a:spLocks noGrp="1"/>
          </p:cNvSpPr>
          <p:nvPr>
            <p:ph type="body" idx="1"/>
          </p:nvPr>
        </p:nvSpPr>
        <p:spPr/>
        <p:txBody>
          <a:bodyPr/>
          <a:lstStyle/>
          <a:p>
            <a:pPr marL="285750" indent="-2857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D7ED0B8-AD7E-B698-52A3-088B690B56D1}"/>
              </a:ext>
            </a:extLst>
          </p:cNvPr>
          <p:cNvSpPr>
            <a:spLocks noGrp="1"/>
          </p:cNvSpPr>
          <p:nvPr>
            <p:ph type="sldNum" sz="quarter" idx="5"/>
          </p:nvPr>
        </p:nvSpPr>
        <p:spPr/>
        <p:txBody>
          <a:bodyPr/>
          <a:lstStyle/>
          <a:p>
            <a:fld id="{C392B54A-ACFD-3B48-B17D-789040947D71}" type="slidenum">
              <a:rPr lang="en-US" smtClean="0"/>
              <a:t>19</a:t>
            </a:fld>
            <a:endParaRPr lang="en-US"/>
          </a:p>
        </p:txBody>
      </p:sp>
    </p:spTree>
    <p:extLst>
      <p:ext uri="{BB962C8B-B14F-4D97-AF65-F5344CB8AC3E}">
        <p14:creationId xmlns:p14="http://schemas.microsoft.com/office/powerpoint/2010/main" val="1292425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160520"/>
            <a:ext cx="12191695" cy="9144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7030A0"/>
              </a:solidFill>
            </a:endParaRPr>
          </a:p>
        </p:txBody>
      </p:sp>
      <p:sp>
        <p:nvSpPr>
          <p:cNvPr id="3" name="TextBox 2"/>
          <p:cNvSpPr txBox="1"/>
          <p:nvPr/>
        </p:nvSpPr>
        <p:spPr>
          <a:xfrm>
            <a:off x="822960" y="2286000"/>
            <a:ext cx="10515600" cy="646331"/>
          </a:xfrm>
          <a:prstGeom prst="rect">
            <a:avLst/>
          </a:prstGeom>
          <a:noFill/>
        </p:spPr>
        <p:txBody>
          <a:bodyPr wrap="square">
            <a:spAutoFit/>
          </a:bodyPr>
          <a:lstStyle/>
          <a:p>
            <a:r>
              <a:rPr lang="en-GB" sz="3600" b="1">
                <a:solidFill>
                  <a:srgbClr val="000000"/>
                </a:solidFill>
                <a:latin typeface="Tenorite"/>
              </a:rPr>
              <a:t>Uncertainty Aware AI Systems</a:t>
            </a:r>
            <a:endParaRPr sz="3600" b="1">
              <a:solidFill>
                <a:srgbClr val="000000"/>
              </a:solidFill>
              <a:latin typeface="Tenorite"/>
            </a:endParaRPr>
          </a:p>
        </p:txBody>
      </p:sp>
      <p:sp>
        <p:nvSpPr>
          <p:cNvPr id="4" name="TextBox 3"/>
          <p:cNvSpPr txBox="1"/>
          <p:nvPr/>
        </p:nvSpPr>
        <p:spPr>
          <a:xfrm>
            <a:off x="838047" y="4748514"/>
            <a:ext cx="10515600" cy="923330"/>
          </a:xfrm>
          <a:prstGeom prst="rect">
            <a:avLst/>
          </a:prstGeom>
          <a:noFill/>
        </p:spPr>
        <p:txBody>
          <a:bodyPr wrap="square">
            <a:spAutoFit/>
          </a:bodyPr>
          <a:lstStyle/>
          <a:p>
            <a:r>
              <a:rPr sz="1800">
                <a:solidFill>
                  <a:srgbClr val="595959"/>
                </a:solidFill>
                <a:latin typeface="Tenorite"/>
              </a:rPr>
              <a:t>Week </a:t>
            </a:r>
            <a:r>
              <a:rPr lang="en-GB" sz="1800">
                <a:solidFill>
                  <a:srgbClr val="595959"/>
                </a:solidFill>
                <a:latin typeface="Tenorite"/>
              </a:rPr>
              <a:t>6</a:t>
            </a:r>
            <a:br>
              <a:rPr lang="en-US" sz="1800">
                <a:solidFill>
                  <a:srgbClr val="595959"/>
                </a:solidFill>
                <a:latin typeface="Tenorite"/>
              </a:rPr>
            </a:br>
            <a:r>
              <a:rPr lang="en-US" sz="1800">
                <a:solidFill>
                  <a:srgbClr val="595959"/>
                </a:solidFill>
                <a:latin typeface="Tenorite"/>
              </a:rPr>
              <a:t>51.516 Trustworthy AI</a:t>
            </a:r>
            <a:br>
              <a:rPr lang="en-US" sz="1800">
                <a:solidFill>
                  <a:srgbClr val="595959"/>
                </a:solidFill>
                <a:latin typeface="Tenorite"/>
              </a:rPr>
            </a:br>
            <a:r>
              <a:rPr lang="en-US" sz="1800">
                <a:solidFill>
                  <a:srgbClr val="595959"/>
                </a:solidFill>
                <a:latin typeface="Tenorite"/>
              </a:rPr>
              <a:t>Prepared by Group 1: Charles Foo, Lee Kai Boo, Sagar Pratap Singh, Sai Chin Kai (Clarence), Tan Ai Kun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Agenda</a:t>
            </a:r>
            <a:endParaRPr sz="2800" b="1">
              <a:solidFill>
                <a:srgbClr val="000000"/>
              </a:solidFill>
              <a:latin typeface="Tenorite"/>
            </a:endParaRP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2</a:t>
            </a:r>
          </a:p>
        </p:txBody>
      </p:sp>
      <p:sp>
        <p:nvSpPr>
          <p:cNvPr id="5" name="TextBox 4"/>
          <p:cNvSpPr txBox="1"/>
          <p:nvPr/>
        </p:nvSpPr>
        <p:spPr>
          <a:xfrm>
            <a:off x="548640" y="1417320"/>
            <a:ext cx="11064240" cy="3309817"/>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a:t>Lab scenario, dataset, and the class-imbalance problem </a:t>
            </a:r>
          </a:p>
          <a:p>
            <a:pPr marL="285750" indent="-285750">
              <a:lnSpc>
                <a:spcPct val="105000"/>
              </a:lnSpc>
              <a:spcAft>
                <a:spcPts val="600"/>
              </a:spcAft>
              <a:buFont typeface="Arial" panose="020B0604020202020204" pitchFamily="34" charset="0"/>
              <a:buChar char="•"/>
            </a:pPr>
            <a:r>
              <a:rPr lang="en-SG"/>
              <a:t>Step 1: Train a baseline model and measure clean accuracy </a:t>
            </a:r>
          </a:p>
          <a:p>
            <a:pPr marL="285750" indent="-285750">
              <a:lnSpc>
                <a:spcPct val="105000"/>
              </a:lnSpc>
              <a:spcAft>
                <a:spcPts val="600"/>
              </a:spcAft>
              <a:buFont typeface="Arial" panose="020B0604020202020204" pitchFamily="34" charset="0"/>
              <a:buChar char="•"/>
            </a:pPr>
            <a:r>
              <a:rPr lang="en-SG"/>
              <a:t>Step 2: Measure confidence and observe its saturation </a:t>
            </a:r>
          </a:p>
          <a:p>
            <a:pPr marL="285750" indent="-285750">
              <a:lnSpc>
                <a:spcPct val="105000"/>
              </a:lnSpc>
              <a:spcAft>
                <a:spcPts val="600"/>
              </a:spcAft>
              <a:buFont typeface="Arial" panose="020B0604020202020204" pitchFamily="34" charset="0"/>
              <a:buChar char="•"/>
            </a:pPr>
            <a:r>
              <a:rPr lang="en-SG"/>
              <a:t>Step 3: Identify silent failures (high-confidence errors) </a:t>
            </a:r>
          </a:p>
          <a:p>
            <a:pPr marL="285750" indent="-285750">
              <a:lnSpc>
                <a:spcPct val="105000"/>
              </a:lnSpc>
              <a:spcAft>
                <a:spcPts val="600"/>
              </a:spcAft>
              <a:buFont typeface="Arial" panose="020B0604020202020204" pitchFamily="34" charset="0"/>
              <a:buChar char="•"/>
            </a:pPr>
            <a:r>
              <a:rPr lang="en-SG"/>
              <a:t>Step 4: Observe Out-of-Distribution (OOD) behaviour </a:t>
            </a:r>
          </a:p>
          <a:p>
            <a:pPr marL="285750" indent="-285750">
              <a:lnSpc>
                <a:spcPct val="105000"/>
              </a:lnSpc>
              <a:spcAft>
                <a:spcPts val="600"/>
              </a:spcAft>
              <a:buFont typeface="Arial" panose="020B0604020202020204" pitchFamily="34" charset="0"/>
              <a:buChar char="•"/>
            </a:pPr>
            <a:r>
              <a:rPr lang="en-SG"/>
              <a:t>Step 5: Examine the error profile and accuracy trap (confusion matrix) </a:t>
            </a:r>
          </a:p>
          <a:p>
            <a:pPr marL="285750" indent="-285750">
              <a:lnSpc>
                <a:spcPct val="105000"/>
              </a:lnSpc>
              <a:spcAft>
                <a:spcPts val="600"/>
              </a:spcAft>
              <a:buFont typeface="Arial" panose="020B0604020202020204" pitchFamily="34" charset="0"/>
              <a:buChar char="•"/>
            </a:pPr>
            <a:r>
              <a:rPr lang="en-SG"/>
              <a:t>Step 6: Design Human-in-the-Loop routing and select a confidence threshold </a:t>
            </a:r>
          </a:p>
          <a:p>
            <a:pPr marL="285750" indent="-285750">
              <a:lnSpc>
                <a:spcPct val="105000"/>
              </a:lnSpc>
              <a:spcAft>
                <a:spcPts val="600"/>
              </a:spcAft>
              <a:buFont typeface="Arial" panose="020B0604020202020204" pitchFamily="34" charset="0"/>
              <a:buChar char="•"/>
            </a:pPr>
            <a:r>
              <a:rPr lang="en-SG"/>
              <a:t>Reflection on the audit findings</a:t>
            </a:r>
          </a:p>
          <a:p>
            <a:pPr>
              <a:lnSpc>
                <a:spcPct val="105000"/>
              </a:lnSpc>
              <a:spcAft>
                <a:spcPts val="600"/>
              </a:spcAft>
            </a:pPr>
            <a:endParaRPr>
              <a:solidFill>
                <a:srgbClr val="000000"/>
              </a:solidFill>
              <a:latin typeface="Tenorit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Lab Scenario &amp; Objective</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3</a:t>
            </a:r>
          </a:p>
        </p:txBody>
      </p:sp>
      <p:sp>
        <p:nvSpPr>
          <p:cNvPr id="5" name="TextBox 4"/>
          <p:cNvSpPr txBox="1"/>
          <p:nvPr/>
        </p:nvSpPr>
        <p:spPr>
          <a:xfrm>
            <a:off x="548640" y="1417320"/>
            <a:ext cx="11064240" cy="3694409"/>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t>Role: an independent auditor reviewing an automated credit-card fraud detection system</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The model predicts whether a transaction is fraudulent (positive) or legitimate, used to auto-approve or block transactions</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The audit's focus: not just </a:t>
            </a:r>
            <a:r>
              <a:rPr lang="en-SG" sz="1600" i="1"/>
              <a:t>is the model accurate</a:t>
            </a:r>
            <a:r>
              <a:rPr lang="en-SG" sz="1600"/>
              <a:t>, but </a:t>
            </a:r>
            <a:r>
              <a:rPr lang="en-SG" sz="1600" i="1"/>
              <a:t>does it know when it should not decide</a:t>
            </a:r>
            <a:r>
              <a:rPr lang="en-SG" sz="1600"/>
              <a:t>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Objective of the audit:</a:t>
            </a:r>
          </a:p>
          <a:p>
            <a:pPr marL="742950" lvl="1" indent="-285750">
              <a:lnSpc>
                <a:spcPct val="105000"/>
              </a:lnSpc>
              <a:spcAft>
                <a:spcPts val="600"/>
              </a:spcAft>
              <a:buFont typeface="Arial" panose="020B0604020202020204" pitchFamily="34" charset="0"/>
              <a:buChar char="•"/>
            </a:pPr>
            <a:r>
              <a:rPr lang="en-SG" sz="1600"/>
              <a:t>Train a baseline fraud model and record its clean accuracy</a:t>
            </a:r>
          </a:p>
          <a:p>
            <a:pPr marL="742950" lvl="1" indent="-285750">
              <a:lnSpc>
                <a:spcPct val="105000"/>
              </a:lnSpc>
              <a:spcAft>
                <a:spcPts val="600"/>
              </a:spcAft>
              <a:buFont typeface="Arial" panose="020B0604020202020204" pitchFamily="34" charset="0"/>
              <a:buChar char="•"/>
            </a:pPr>
            <a:r>
              <a:rPr lang="en-SG" sz="1600"/>
              <a:t>Measure prediction confidence and test whether confidence reflects correctness</a:t>
            </a:r>
          </a:p>
          <a:p>
            <a:pPr marL="742950" lvl="1" indent="-285750">
              <a:lnSpc>
                <a:spcPct val="105000"/>
              </a:lnSpc>
              <a:spcAft>
                <a:spcPts val="600"/>
              </a:spcAft>
              <a:buFont typeface="Arial" panose="020B0604020202020204" pitchFamily="34" charset="0"/>
              <a:buChar char="•"/>
            </a:pPr>
            <a:r>
              <a:rPr lang="en-SG" sz="1600"/>
              <a:t>Detect silent failures and Out-of-Distribution weaknesses</a:t>
            </a:r>
          </a:p>
          <a:p>
            <a:pPr marL="742950" lvl="1" indent="-285750">
              <a:lnSpc>
                <a:spcPct val="105000"/>
              </a:lnSpc>
              <a:spcAft>
                <a:spcPts val="600"/>
              </a:spcAft>
              <a:buFont typeface="Arial" panose="020B0604020202020204" pitchFamily="34" charset="0"/>
              <a:buChar char="•"/>
            </a:pPr>
            <a:r>
              <a:rPr lang="en-SG" sz="1600"/>
              <a:t>Design a Human-in-the-Loop escalation policy and evaluate its trade-offs</a:t>
            </a:r>
            <a:endParaRPr sz="1600">
              <a:solidFill>
                <a:srgbClr val="404040"/>
              </a:solidFill>
              <a:latin typeface="Tenorit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r>
              <a:rPr sz="3600" b="1">
                <a:solidFill>
                  <a:srgbClr val="000000"/>
                </a:solidFill>
                <a:latin typeface="Tenorite"/>
              </a:rPr>
              <a:t>Dataset</a:t>
            </a:r>
            <a:r>
              <a:rPr lang="en-GB" sz="3600" b="1">
                <a:solidFill>
                  <a:srgbClr val="000000"/>
                </a:solidFill>
                <a:latin typeface="Tenorite"/>
              </a:rPr>
              <a:t>: </a:t>
            </a:r>
            <a:r>
              <a:rPr lang="en-SG" sz="3600" b="1"/>
              <a:t>Kaggle Credit Card Fraud</a:t>
            </a:r>
            <a:endParaRPr sz="3600" b="1">
              <a:solidFill>
                <a:srgbClr val="000000"/>
              </a:solidFill>
              <a:latin typeface="Tenorite"/>
            </a:endParaRP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4</a:t>
            </a:r>
          </a:p>
        </p:txBody>
      </p:sp>
      <p:sp>
        <p:nvSpPr>
          <p:cNvPr id="5" name="TextBox 4"/>
          <p:cNvSpPr txBox="1"/>
          <p:nvPr/>
        </p:nvSpPr>
        <p:spPr>
          <a:xfrm>
            <a:off x="548640" y="1325880"/>
            <a:ext cx="11064240" cy="3023456"/>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t>Kaggle Credit Card Fraud dataset: 284,807 real transactions, 30 features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Target: </a:t>
            </a:r>
            <a:r>
              <a:rPr lang="en-SG" sz="1600" b="1"/>
              <a:t>fraud</a:t>
            </a:r>
            <a:r>
              <a:rPr lang="en-SG" sz="1600"/>
              <a:t> (positive / Class = 1) vs </a:t>
            </a:r>
            <a:r>
              <a:rPr lang="en-SG" sz="1600" b="1"/>
              <a:t>legitimate</a:t>
            </a:r>
            <a:r>
              <a:rPr lang="en-SG" sz="1600"/>
              <a:t> (Class = 0)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Severe class imbalance: only </a:t>
            </a:r>
            <a:r>
              <a:rPr lang="en-SG" sz="1600" b="1"/>
              <a:t>492 frauds = 0.1727%</a:t>
            </a:r>
            <a:r>
              <a:rPr lang="en-SG" sz="1600"/>
              <a:t> of all transactions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Features: Time, Amount, and V1–V28 (anonymised PCA components from the original transaction data)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Stratified 80/20 train-test split preserves the fraud ratio (train 0.1729%, test 0.1720%)</a:t>
            </a:r>
            <a:endParaRPr sz="1600">
              <a:solidFill>
                <a:srgbClr val="000000"/>
              </a:solidFill>
              <a:latin typeface="Tenorit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5"/>
            <a:ext cx="11155680" cy="646331"/>
          </a:xfrm>
          <a:prstGeom prst="rect">
            <a:avLst/>
          </a:prstGeom>
          <a:noFill/>
        </p:spPr>
        <p:txBody>
          <a:bodyPr wrap="square" anchor="ctr">
            <a:spAutoFit/>
          </a:bodyPr>
          <a:lstStyle/>
          <a:p>
            <a:r>
              <a:rPr lang="en-SG" sz="3600" b="1"/>
              <a:t>Method &amp; Preprocessing</a:t>
            </a:r>
            <a:endParaRPr sz="3600" b="1">
              <a:solidFill>
                <a:srgbClr val="000000"/>
              </a:solidFill>
              <a:latin typeface="Tenorite"/>
            </a:endParaRP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5</a:t>
            </a:r>
          </a:p>
        </p:txBody>
      </p:sp>
      <p:sp>
        <p:nvSpPr>
          <p:cNvPr id="5" name="TextBox 4"/>
          <p:cNvSpPr txBox="1"/>
          <p:nvPr/>
        </p:nvSpPr>
        <p:spPr>
          <a:xfrm>
            <a:off x="502920" y="1419304"/>
            <a:ext cx="11064240" cy="3463577"/>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t>We set up a Logistic Regression classifier (scikit-learn, </a:t>
            </a:r>
            <a:r>
              <a:rPr lang="en-SG" sz="1600" err="1"/>
              <a:t>max_iter</a:t>
            </a:r>
            <a:r>
              <a:rPr lang="en-SG" sz="1600"/>
              <a:t>=1000) trained to predict fraud vs legitimate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Numeric features Time and Amount were standardised using </a:t>
            </a:r>
            <a:r>
              <a:rPr lang="en-SG" sz="1600" err="1"/>
              <a:t>StandardScaler</a:t>
            </a:r>
            <a:r>
              <a:rPr lang="en-SG" sz="1600"/>
              <a:t>; V1–V28 were left unchanged as they are already PCA-transformed and scaled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The scaler was fitted on the training set only, then applied to the test set and deliberately retained in memory so the same transform could be applied to the Out-of-Distribution samples later (Step 4)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We made a design choice to keep the baseline deliberately plain, </a:t>
            </a:r>
            <a:r>
              <a:rPr lang="en-SG" sz="1600" err="1"/>
              <a:t>ie</a:t>
            </a:r>
            <a:r>
              <a:rPr lang="en-SG" sz="1600"/>
              <a:t>. no class-weighting or resampling so that the model's natural overconfidence and silent-failure behaviour would be visible rather than masked by mitigation </a:t>
            </a:r>
          </a:p>
          <a:p>
            <a:pPr marL="285750" indent="-285750">
              <a:lnSpc>
                <a:spcPct val="105000"/>
              </a:lnSpc>
              <a:spcAft>
                <a:spcPts val="600"/>
              </a:spcAft>
              <a:buFont typeface="Arial" panose="020B0604020202020204" pitchFamily="34" charset="0"/>
              <a:buChar char="•"/>
            </a:pPr>
            <a:r>
              <a:rPr lang="en-SG" sz="1600"/>
              <a:t>Stratified 80/20 split: 227,845 training rows, 56,962 test rows</a:t>
            </a:r>
            <a:endParaRPr sz="1600">
              <a:solidFill>
                <a:srgbClr val="000000"/>
              </a:solidFill>
              <a:latin typeface="Tenorit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r>
              <a:rPr sz="3600" b="1">
                <a:solidFill>
                  <a:srgbClr val="000000"/>
                </a:solidFill>
                <a:latin typeface="Tenorite"/>
              </a:rPr>
              <a:t>Step 1</a:t>
            </a:r>
            <a:r>
              <a:rPr lang="en-GB" sz="3600" b="1">
                <a:solidFill>
                  <a:srgbClr val="000000"/>
                </a:solidFill>
                <a:latin typeface="Tenorite"/>
              </a:rPr>
              <a:t>:</a:t>
            </a:r>
            <a:r>
              <a:rPr sz="3600" b="1">
                <a:solidFill>
                  <a:srgbClr val="000000"/>
                </a:solidFill>
                <a:latin typeface="Tenorite"/>
              </a:rPr>
              <a:t> </a:t>
            </a:r>
            <a:r>
              <a:rPr lang="en-SG" sz="3600" b="1"/>
              <a:t>Baseline Model &amp; the Accuracy Trap</a:t>
            </a:r>
            <a:endParaRPr sz="3600" b="1">
              <a:solidFill>
                <a:srgbClr val="000000"/>
              </a:solidFill>
              <a:latin typeface="Tenorite"/>
            </a:endParaRPr>
          </a:p>
        </p:txBody>
      </p:sp>
      <p:sp>
        <p:nvSpPr>
          <p:cNvPr id="4" name="TextBox 3"/>
          <p:cNvSpPr txBox="1"/>
          <p:nvPr/>
        </p:nvSpPr>
        <p:spPr>
          <a:xfrm>
            <a:off x="11338560" y="6400800"/>
            <a:ext cx="640080" cy="230832"/>
          </a:xfrm>
          <a:prstGeom prst="rect">
            <a:avLst/>
          </a:prstGeom>
          <a:noFill/>
        </p:spPr>
        <p:txBody>
          <a:bodyPr wrap="square">
            <a:spAutoFit/>
          </a:bodyPr>
          <a:lstStyle/>
          <a:p>
            <a:pPr algn="r"/>
            <a:r>
              <a:rPr lang="en-GB" sz="900">
                <a:solidFill>
                  <a:srgbClr val="595959"/>
                </a:solidFill>
              </a:rPr>
              <a:t>6</a:t>
            </a:r>
            <a:endParaRPr sz="900">
              <a:solidFill>
                <a:srgbClr val="595959"/>
              </a:solidFill>
            </a:endParaRPr>
          </a:p>
        </p:txBody>
      </p:sp>
      <p:sp>
        <p:nvSpPr>
          <p:cNvPr id="5" name="TextBox 4"/>
          <p:cNvSpPr txBox="1"/>
          <p:nvPr/>
        </p:nvSpPr>
        <p:spPr>
          <a:xfrm>
            <a:off x="533400" y="1402362"/>
            <a:ext cx="5080432" cy="4420762"/>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t>Baseline Logistic Regression reaches </a:t>
            </a:r>
            <a:r>
              <a:rPr lang="en-SG" sz="1600" b="1"/>
              <a:t>99.92% clean accuracy</a:t>
            </a:r>
            <a:r>
              <a:rPr lang="en-SG" sz="1600"/>
              <a:t> on the 56,962-row test set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On its own, this looks near-perfect, but accuracy is misleading under severe class imbalance. A </a:t>
            </a:r>
            <a:r>
              <a:rPr lang="en-SG" sz="1600" i="1"/>
              <a:t>naïve model </a:t>
            </a:r>
            <a:r>
              <a:rPr lang="en-SG" sz="1600"/>
              <a:t>that simply predicts "legitimate" for </a:t>
            </a:r>
            <a:r>
              <a:rPr lang="en-SG" sz="1600" i="1"/>
              <a:t>every</a:t>
            </a:r>
            <a:r>
              <a:rPr lang="en-SG" sz="1600"/>
              <a:t> transaction would score </a:t>
            </a:r>
            <a:r>
              <a:rPr lang="en-SG" sz="1600" b="1"/>
              <a:t>99.83% ( this is also what the dataset shows)</a:t>
            </a:r>
            <a:endParaRPr lang="en-SG" sz="1600"/>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Our model beats that do-nothing baseline by just </a:t>
            </a:r>
            <a:r>
              <a:rPr lang="en-SG" sz="1600" b="1"/>
              <a:t>0.088 percentage points, </a:t>
            </a:r>
            <a:r>
              <a:rPr lang="en-SG" sz="1600"/>
              <a:t>almost all of the 99.92% is the abundant legitimate class, not fraud detection </a:t>
            </a:r>
          </a:p>
          <a:p>
            <a:pPr marL="285750" indent="-285750">
              <a:lnSpc>
                <a:spcPct val="105000"/>
              </a:lnSpc>
              <a:spcAft>
                <a:spcPts val="600"/>
              </a:spcAft>
              <a:buFont typeface="Arial" panose="020B0604020202020204" pitchFamily="34" charset="0"/>
              <a:buChar char="•"/>
            </a:pPr>
            <a:endParaRPr lang="en-SG" sz="1600"/>
          </a:p>
          <a:p>
            <a:pPr marL="285750" indent="-285750">
              <a:lnSpc>
                <a:spcPct val="105000"/>
              </a:lnSpc>
              <a:spcAft>
                <a:spcPts val="600"/>
              </a:spcAft>
              <a:buFont typeface="Arial" panose="020B0604020202020204" pitchFamily="34" charset="0"/>
              <a:buChar char="•"/>
            </a:pPr>
            <a:r>
              <a:rPr lang="en-SG" sz="1600"/>
              <a:t>Accuracy alone cannot tell us whether the model can actually catch fraud (examined in Step 5)</a:t>
            </a:r>
            <a:endParaRPr sz="1600">
              <a:solidFill>
                <a:srgbClr val="FF0000"/>
              </a:solidFill>
              <a:latin typeface="Tenorite"/>
            </a:endParaRPr>
          </a:p>
        </p:txBody>
      </p:sp>
      <p:pic>
        <p:nvPicPr>
          <p:cNvPr id="7" name="Picture 6" descr="The diagram shows a comparison between the accuracy rates of a predictive model and a do-nothing baseline, with the model's accuracy being significantly higher.&#10;&#10;AI-generated content may be incorrect.">
            <a:extLst>
              <a:ext uri="{FF2B5EF4-FFF2-40B4-BE49-F238E27FC236}">
                <a16:creationId xmlns:a16="http://schemas.microsoft.com/office/drawing/2014/main" id="{9A90FF24-2376-9E85-6F37-8AF6B90291BA}"/>
              </a:ext>
            </a:extLst>
          </p:cNvPr>
          <p:cNvPicPr>
            <a:picLocks noChangeAspect="1"/>
          </p:cNvPicPr>
          <p:nvPr/>
        </p:nvPicPr>
        <p:blipFill>
          <a:blip r:embed="rId2"/>
          <a:stretch>
            <a:fillRect/>
          </a:stretch>
        </p:blipFill>
        <p:spPr>
          <a:xfrm>
            <a:off x="5936956" y="1402362"/>
            <a:ext cx="5721644" cy="4273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r>
              <a:rPr sz="3600" b="1">
                <a:solidFill>
                  <a:srgbClr val="000000"/>
                </a:solidFill>
                <a:latin typeface="Tenorite"/>
              </a:rPr>
              <a:t>Step 2</a:t>
            </a:r>
            <a:r>
              <a:rPr lang="en-GB" sz="3600" b="1">
                <a:solidFill>
                  <a:srgbClr val="000000"/>
                </a:solidFill>
                <a:latin typeface="Tenorite"/>
              </a:rPr>
              <a:t>: </a:t>
            </a:r>
            <a:r>
              <a:rPr lang="en-SG" sz="3600" b="1"/>
              <a:t>Confidence Scores &amp; Saturation</a:t>
            </a:r>
            <a:endParaRPr sz="3600" b="1">
              <a:solidFill>
                <a:srgbClr val="000000"/>
              </a:solidFill>
              <a:latin typeface="Tenorite"/>
            </a:endParaRPr>
          </a:p>
        </p:txBody>
      </p:sp>
      <p:sp>
        <p:nvSpPr>
          <p:cNvPr id="4" name="TextBox 3"/>
          <p:cNvSpPr txBox="1"/>
          <p:nvPr/>
        </p:nvSpPr>
        <p:spPr>
          <a:xfrm>
            <a:off x="11338560" y="6400800"/>
            <a:ext cx="640080" cy="230832"/>
          </a:xfrm>
          <a:prstGeom prst="rect">
            <a:avLst/>
          </a:prstGeom>
          <a:noFill/>
        </p:spPr>
        <p:txBody>
          <a:bodyPr wrap="square">
            <a:spAutoFit/>
          </a:bodyPr>
          <a:lstStyle/>
          <a:p>
            <a:pPr algn="r"/>
            <a:r>
              <a:rPr lang="en-GB" sz="900">
                <a:solidFill>
                  <a:srgbClr val="595959"/>
                </a:solidFill>
              </a:rPr>
              <a:t>7</a:t>
            </a:r>
            <a:endParaRPr sz="900">
              <a:solidFill>
                <a:srgbClr val="595959"/>
              </a:solidFill>
            </a:endParaRPr>
          </a:p>
        </p:txBody>
      </p:sp>
      <p:sp>
        <p:nvSpPr>
          <p:cNvPr id="6" name="TextBox 5">
            <a:extLst>
              <a:ext uri="{FF2B5EF4-FFF2-40B4-BE49-F238E27FC236}">
                <a16:creationId xmlns:a16="http://schemas.microsoft.com/office/drawing/2014/main" id="{5656FE13-B11E-E70D-EEA9-AC827099455B}"/>
              </a:ext>
            </a:extLst>
          </p:cNvPr>
          <p:cNvSpPr txBox="1"/>
          <p:nvPr/>
        </p:nvSpPr>
        <p:spPr>
          <a:xfrm>
            <a:off x="502920" y="1143000"/>
            <a:ext cx="11332399" cy="2198615"/>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t>Confidence = the model's highest class probability: max(P(legitimate), P(fraud)) </a:t>
            </a:r>
          </a:p>
          <a:p>
            <a:pPr marL="285750" indent="-285750">
              <a:lnSpc>
                <a:spcPct val="105000"/>
              </a:lnSpc>
              <a:spcAft>
                <a:spcPts val="600"/>
              </a:spcAft>
              <a:buFont typeface="Arial" panose="020B0604020202020204" pitchFamily="34" charset="0"/>
              <a:buChar char="•"/>
            </a:pPr>
            <a:r>
              <a:rPr lang="en-SG" sz="1600"/>
              <a:t>Across the 56,962 test predictions, confidence is extremely saturated: </a:t>
            </a:r>
            <a:r>
              <a:rPr lang="en-SG" sz="1600" b="1"/>
              <a:t>mean 0.9993, median 0.9998</a:t>
            </a:r>
            <a:r>
              <a:rPr lang="en-SG" sz="1600"/>
              <a:t> </a:t>
            </a:r>
          </a:p>
          <a:p>
            <a:pPr marL="285750" indent="-285750">
              <a:lnSpc>
                <a:spcPct val="105000"/>
              </a:lnSpc>
              <a:spcAft>
                <a:spcPts val="600"/>
              </a:spcAft>
              <a:buFont typeface="Arial" panose="020B0604020202020204" pitchFamily="34" charset="0"/>
              <a:buChar char="•"/>
            </a:pPr>
            <a:r>
              <a:rPr lang="en-SG" sz="1600" b="1"/>
              <a:t>99.92%</a:t>
            </a:r>
            <a:r>
              <a:rPr lang="en-SG" sz="1600"/>
              <a:t> of predictions exceed 0.90 confidence; </a:t>
            </a:r>
            <a:r>
              <a:rPr lang="en-SG" sz="1600" b="1"/>
              <a:t>91%</a:t>
            </a:r>
            <a:r>
              <a:rPr lang="en-SG" sz="1600"/>
              <a:t> exceed 0.999, the model is almost never unsure </a:t>
            </a:r>
          </a:p>
          <a:p>
            <a:pPr marL="285750" indent="-285750">
              <a:lnSpc>
                <a:spcPct val="105000"/>
              </a:lnSpc>
              <a:spcAft>
                <a:spcPts val="600"/>
              </a:spcAft>
              <a:buFont typeface="Arial" panose="020B0604020202020204" pitchFamily="34" charset="0"/>
              <a:buChar char="•"/>
            </a:pPr>
            <a:r>
              <a:rPr lang="en-SG" sz="1600"/>
              <a:t>The linear histogram shows one dominant spike at ~1.0; </a:t>
            </a:r>
            <a:r>
              <a:rPr lang="en-SG" sz="1600" b="1"/>
              <a:t>the log-scale view </a:t>
            </a:r>
            <a:r>
              <a:rPr lang="en-SG" sz="1600"/>
              <a:t>reveals only a tiny tail of low-confidence cases (</a:t>
            </a:r>
            <a:r>
              <a:rPr lang="en-SG" sz="1600" b="1"/>
              <a:t>minimum 0.5109</a:t>
            </a:r>
            <a:r>
              <a:rPr lang="en-SG" sz="1600"/>
              <a:t>) </a:t>
            </a:r>
          </a:p>
          <a:p>
            <a:pPr marL="285750" indent="-285750">
              <a:lnSpc>
                <a:spcPct val="105000"/>
              </a:lnSpc>
              <a:spcAft>
                <a:spcPts val="600"/>
              </a:spcAft>
              <a:buFont typeface="Arial" panose="020B0604020202020204" pitchFamily="34" charset="0"/>
              <a:buChar char="•"/>
            </a:pPr>
            <a:r>
              <a:rPr lang="en-SG" sz="1600" b="1"/>
              <a:t>Implication:</a:t>
            </a:r>
            <a:r>
              <a:rPr lang="en-SG" sz="1600"/>
              <a:t> if the model is confident about nearly everything, confidence alone cannot separate safe predictions from dangerous ones</a:t>
            </a:r>
            <a:endParaRPr sz="1600">
              <a:solidFill>
                <a:srgbClr val="000000"/>
              </a:solidFill>
              <a:latin typeface="Tenorite"/>
            </a:endParaRPr>
          </a:p>
        </p:txBody>
      </p:sp>
      <p:pic>
        <p:nvPicPr>
          <p:cNvPr id="5" name="Picture 4" descr="The diagram shows a distribution of prediction confidence levels for a dataset, with a threshold of 0.80, and it indicates the number of predictions that fall into each confidence interval.&#10;&#10;AI-generated content may be incorrect.">
            <a:extLst>
              <a:ext uri="{FF2B5EF4-FFF2-40B4-BE49-F238E27FC236}">
                <a16:creationId xmlns:a16="http://schemas.microsoft.com/office/drawing/2014/main" id="{C6AB87A3-8742-D5A6-F8E2-BF8B95A0FFCA}"/>
              </a:ext>
            </a:extLst>
          </p:cNvPr>
          <p:cNvPicPr>
            <a:picLocks noChangeAspect="1"/>
          </p:cNvPicPr>
          <p:nvPr/>
        </p:nvPicPr>
        <p:blipFill>
          <a:blip r:embed="rId3"/>
          <a:stretch>
            <a:fillRect/>
          </a:stretch>
        </p:blipFill>
        <p:spPr>
          <a:xfrm>
            <a:off x="815555" y="3516386"/>
            <a:ext cx="4802287" cy="3148519"/>
          </a:xfrm>
          <a:prstGeom prst="rect">
            <a:avLst/>
          </a:prstGeom>
        </p:spPr>
      </p:pic>
      <p:pic>
        <p:nvPicPr>
          <p:cNvPr id="10" name="Picture 9" descr="The diagram displays a logarithmic distribution of prediction confidence levels, with a threshold at 0.80 and a number of predictions ranging from 0.5 to 1.0 on the confidence scale.&#10;&#10;AI-generated content may be incorrect.">
            <a:extLst>
              <a:ext uri="{FF2B5EF4-FFF2-40B4-BE49-F238E27FC236}">
                <a16:creationId xmlns:a16="http://schemas.microsoft.com/office/drawing/2014/main" id="{6290049D-A158-362F-04B0-BED310D0D27A}"/>
              </a:ext>
            </a:extLst>
          </p:cNvPr>
          <p:cNvPicPr>
            <a:picLocks noChangeAspect="1"/>
          </p:cNvPicPr>
          <p:nvPr/>
        </p:nvPicPr>
        <p:blipFill>
          <a:blip r:embed="rId4"/>
          <a:stretch>
            <a:fillRect/>
          </a:stretch>
        </p:blipFill>
        <p:spPr>
          <a:xfrm>
            <a:off x="6238672" y="3556076"/>
            <a:ext cx="4479058" cy="3027604"/>
          </a:xfrm>
          <a:prstGeom prst="rect">
            <a:avLst/>
          </a:prstGeom>
        </p:spPr>
      </p:pic>
      <p:cxnSp>
        <p:nvCxnSpPr>
          <p:cNvPr id="11" name="Straight Connector 10">
            <a:extLst>
              <a:ext uri="{FF2B5EF4-FFF2-40B4-BE49-F238E27FC236}">
                <a16:creationId xmlns:a16="http://schemas.microsoft.com/office/drawing/2014/main" id="{8956042C-2D7A-E35D-08AB-09224348136F}"/>
              </a:ext>
            </a:extLst>
          </p:cNvPr>
          <p:cNvCxnSpPr/>
          <p:nvPr/>
        </p:nvCxnSpPr>
        <p:spPr>
          <a:xfrm>
            <a:off x="502920" y="3356652"/>
            <a:ext cx="11060025" cy="48026"/>
          </a:xfrm>
          <a:prstGeom prst="line">
            <a:avLst/>
          </a:prstGeom>
          <a:ln>
            <a:solidFill>
              <a:schemeClr val="bg1">
                <a:lumMod val="85000"/>
              </a:schemeClr>
            </a:solidFill>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r>
              <a:rPr sz="3600" b="1">
                <a:solidFill>
                  <a:srgbClr val="000000"/>
                </a:solidFill>
                <a:latin typeface="Tenorite"/>
              </a:rPr>
              <a:t>Step </a:t>
            </a:r>
            <a:r>
              <a:rPr lang="en-GB" sz="3600" b="1">
                <a:solidFill>
                  <a:srgbClr val="000000"/>
                </a:solidFill>
                <a:latin typeface="Tenorite"/>
              </a:rPr>
              <a:t>3:</a:t>
            </a:r>
            <a:r>
              <a:rPr sz="3600" b="1">
                <a:solidFill>
                  <a:srgbClr val="000000"/>
                </a:solidFill>
                <a:latin typeface="Tenorite"/>
              </a:rPr>
              <a:t> </a:t>
            </a:r>
            <a:r>
              <a:rPr lang="en-SG" sz="3600" b="1"/>
              <a:t>Silent Failures (High-Confidence Errors)</a:t>
            </a:r>
            <a:endParaRPr sz="3600" b="1">
              <a:solidFill>
                <a:srgbClr val="000000"/>
              </a:solidFill>
              <a:latin typeface="Tenorite"/>
            </a:endParaRPr>
          </a:p>
        </p:txBody>
      </p:sp>
      <p:sp>
        <p:nvSpPr>
          <p:cNvPr id="4" name="TextBox 3"/>
          <p:cNvSpPr txBox="1"/>
          <p:nvPr/>
        </p:nvSpPr>
        <p:spPr>
          <a:xfrm>
            <a:off x="11338560" y="6400800"/>
            <a:ext cx="640080" cy="230832"/>
          </a:xfrm>
          <a:prstGeom prst="rect">
            <a:avLst/>
          </a:prstGeom>
          <a:noFill/>
        </p:spPr>
        <p:txBody>
          <a:bodyPr wrap="square">
            <a:spAutoFit/>
          </a:bodyPr>
          <a:lstStyle/>
          <a:p>
            <a:pPr algn="r"/>
            <a:r>
              <a:rPr lang="en-GB" sz="900">
                <a:solidFill>
                  <a:srgbClr val="595959"/>
                </a:solidFill>
              </a:rPr>
              <a:t>8</a:t>
            </a:r>
            <a:endParaRPr sz="900">
              <a:solidFill>
                <a:srgbClr val="595959"/>
              </a:solidFill>
            </a:endParaRPr>
          </a:p>
        </p:txBody>
      </p:sp>
      <p:sp>
        <p:nvSpPr>
          <p:cNvPr id="5" name="TextBox 4"/>
          <p:cNvSpPr txBox="1"/>
          <p:nvPr/>
        </p:nvSpPr>
        <p:spPr>
          <a:xfrm>
            <a:off x="548640" y="1092416"/>
            <a:ext cx="11064240" cy="2457852"/>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t>A silent failure = a prediction that is </a:t>
            </a:r>
            <a:r>
              <a:rPr lang="en-SG" sz="1600" b="1"/>
              <a:t>wrong but made with high confidence, </a:t>
            </a:r>
            <a:r>
              <a:rPr lang="en-SG" sz="1600"/>
              <a:t>a most dangerous failure mode, because the model gives no signal that it is unsure </a:t>
            </a:r>
          </a:p>
          <a:p>
            <a:pPr marL="285750" indent="-285750">
              <a:lnSpc>
                <a:spcPct val="105000"/>
              </a:lnSpc>
              <a:spcAft>
                <a:spcPts val="600"/>
              </a:spcAft>
              <a:buFont typeface="Arial" panose="020B0604020202020204" pitchFamily="34" charset="0"/>
              <a:buChar char="•"/>
            </a:pPr>
            <a:r>
              <a:rPr lang="en-SG" sz="1600"/>
              <a:t>We isolated test cases where an actual fraud was predicted legitimate at ≥ 0.99 confidence </a:t>
            </a:r>
          </a:p>
          <a:p>
            <a:pPr marL="285750" indent="-285750">
              <a:lnSpc>
                <a:spcPct val="105000"/>
              </a:lnSpc>
              <a:spcAft>
                <a:spcPts val="600"/>
              </a:spcAft>
              <a:buFont typeface="Arial" panose="020B0604020202020204" pitchFamily="34" charset="0"/>
              <a:buChar char="•"/>
            </a:pPr>
            <a:r>
              <a:rPr lang="en-SG" sz="1600" b="1"/>
              <a:t>11 of the 98 test frauds (11.2%) were confidently misclassified as legitimate, </a:t>
            </a:r>
            <a:r>
              <a:rPr lang="en-SG" sz="1600"/>
              <a:t>and auto-approved with no hint of doubt </a:t>
            </a:r>
          </a:p>
          <a:p>
            <a:pPr marL="285750" indent="-285750">
              <a:lnSpc>
                <a:spcPct val="105000"/>
              </a:lnSpc>
              <a:spcAft>
                <a:spcPts val="600"/>
              </a:spcAft>
              <a:buFont typeface="Arial" panose="020B0604020202020204" pitchFamily="34" charset="0"/>
              <a:buChar char="•"/>
            </a:pPr>
            <a:r>
              <a:rPr lang="en-SG" sz="1600"/>
              <a:t>The worst case (row 34,124) was a genuine fraud the model rated </a:t>
            </a:r>
            <a:r>
              <a:rPr lang="en-SG" sz="1600" b="1"/>
              <a:t>99.996% legitimate,  </a:t>
            </a:r>
            <a:r>
              <a:rPr lang="en-SG" sz="1600"/>
              <a:t>and assigning it just a 0.0043% probability of fraud </a:t>
            </a:r>
          </a:p>
          <a:p>
            <a:pPr marL="285750" indent="-285750">
              <a:lnSpc>
                <a:spcPct val="105000"/>
              </a:lnSpc>
              <a:spcAft>
                <a:spcPts val="600"/>
              </a:spcAft>
              <a:buFont typeface="Arial" panose="020B0604020202020204" pitchFamily="34" charset="0"/>
              <a:buChar char="•"/>
            </a:pPr>
            <a:r>
              <a:rPr lang="en-SG" sz="1600"/>
              <a:t>These failures sit inside the dominant high-confidence spike from Step 2, so no confidence threshold can catch them, because the model is</a:t>
            </a:r>
            <a:r>
              <a:rPr lang="en-SG" sz="1600" b="1"/>
              <a:t> </a:t>
            </a:r>
            <a:r>
              <a:rPr lang="en-SG" sz="1600" b="1" i="1"/>
              <a:t>certain</a:t>
            </a:r>
            <a:r>
              <a:rPr lang="en-SG" sz="1600" b="1"/>
              <a:t> </a:t>
            </a:r>
            <a:r>
              <a:rPr lang="en-SG" sz="1600"/>
              <a:t>about them </a:t>
            </a:r>
          </a:p>
        </p:txBody>
      </p:sp>
      <p:pic>
        <p:nvPicPr>
          <p:cNvPr id="7" name="Picture 6" descr="The image displays a table listing various fraudulent activities, each with a high confidence score, indicating a strong likelihood of fraudulence.&#10;&#10;AI-generated content may be incorrect.">
            <a:extLst>
              <a:ext uri="{FF2B5EF4-FFF2-40B4-BE49-F238E27FC236}">
                <a16:creationId xmlns:a16="http://schemas.microsoft.com/office/drawing/2014/main" id="{5A74F0FB-F4C1-31D8-C826-18755E3AA8B4}"/>
              </a:ext>
            </a:extLst>
          </p:cNvPr>
          <p:cNvPicPr>
            <a:picLocks noChangeAspect="1"/>
          </p:cNvPicPr>
          <p:nvPr/>
        </p:nvPicPr>
        <p:blipFill>
          <a:blip r:embed="rId2"/>
          <a:stretch>
            <a:fillRect/>
          </a:stretch>
        </p:blipFill>
        <p:spPr>
          <a:xfrm>
            <a:off x="2441832" y="3791056"/>
            <a:ext cx="6442954" cy="2792624"/>
          </a:xfrm>
          <a:prstGeom prst="rect">
            <a:avLst/>
          </a:prstGeom>
        </p:spPr>
      </p:pic>
      <p:cxnSp>
        <p:nvCxnSpPr>
          <p:cNvPr id="8" name="Straight Connector 7">
            <a:extLst>
              <a:ext uri="{FF2B5EF4-FFF2-40B4-BE49-F238E27FC236}">
                <a16:creationId xmlns:a16="http://schemas.microsoft.com/office/drawing/2014/main" id="{9C168DA5-135C-F69F-38C2-C0F1D5F90569}"/>
              </a:ext>
            </a:extLst>
          </p:cNvPr>
          <p:cNvCxnSpPr>
            <a:cxnSpLocks/>
          </p:cNvCxnSpPr>
          <p:nvPr/>
        </p:nvCxnSpPr>
        <p:spPr>
          <a:xfrm>
            <a:off x="502920" y="3629029"/>
            <a:ext cx="11109960" cy="0"/>
          </a:xfrm>
          <a:prstGeom prst="line">
            <a:avLst/>
          </a:prstGeom>
          <a:ln>
            <a:solidFill>
              <a:schemeClr val="bg1">
                <a:lumMod val="85000"/>
              </a:schemeClr>
            </a:solidFill>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8243"/>
            <a:ext cx="11155680" cy="646331"/>
          </a:xfrm>
          <a:prstGeom prst="rect">
            <a:avLst/>
          </a:prstGeom>
          <a:noFill/>
        </p:spPr>
        <p:txBody>
          <a:bodyPr wrap="square" anchor="ctr">
            <a:spAutoFit/>
          </a:bodyPr>
          <a:lstStyle/>
          <a:p>
            <a:r>
              <a:rPr lang="en-SG" sz="3600" b="1"/>
              <a:t>Step 4: Out-of-Distribution (OOD) Behaviour</a:t>
            </a:r>
            <a:endParaRPr sz="3600" b="1">
              <a:solidFill>
                <a:srgbClr val="000000"/>
              </a:solidFill>
              <a:latin typeface="Tenorite"/>
            </a:endParaRPr>
          </a:p>
        </p:txBody>
      </p:sp>
      <p:sp>
        <p:nvSpPr>
          <p:cNvPr id="4" name="TextBox 3"/>
          <p:cNvSpPr txBox="1"/>
          <p:nvPr/>
        </p:nvSpPr>
        <p:spPr>
          <a:xfrm>
            <a:off x="11338560" y="6400800"/>
            <a:ext cx="640080" cy="230832"/>
          </a:xfrm>
          <a:prstGeom prst="rect">
            <a:avLst/>
          </a:prstGeom>
          <a:noFill/>
        </p:spPr>
        <p:txBody>
          <a:bodyPr wrap="square">
            <a:spAutoFit/>
          </a:bodyPr>
          <a:lstStyle/>
          <a:p>
            <a:pPr algn="r"/>
            <a:r>
              <a:rPr lang="en-GB" sz="900">
                <a:solidFill>
                  <a:srgbClr val="595959"/>
                </a:solidFill>
              </a:rPr>
              <a:t>9</a:t>
            </a:r>
            <a:endParaRPr sz="900">
              <a:solidFill>
                <a:srgbClr val="595959"/>
              </a:solidFill>
            </a:endParaRPr>
          </a:p>
        </p:txBody>
      </p:sp>
      <p:sp>
        <p:nvSpPr>
          <p:cNvPr id="5" name="TextBox 4"/>
          <p:cNvSpPr txBox="1"/>
          <p:nvPr/>
        </p:nvSpPr>
        <p:spPr>
          <a:xfrm>
            <a:off x="274320" y="947787"/>
            <a:ext cx="11064240" cy="2888163"/>
          </a:xfrm>
          <a:prstGeom prst="rect">
            <a:avLst/>
          </a:prstGeom>
          <a:noFill/>
        </p:spPr>
        <p:txBody>
          <a:bodyPr wrap="square" lIns="91440" tIns="45720" rIns="91440" bIns="45720" anchor="t">
            <a:spAutoFit/>
          </a:bodyPr>
          <a:lstStyle/>
          <a:p>
            <a:pPr marL="285750" indent="-285750">
              <a:lnSpc>
                <a:spcPct val="105000"/>
              </a:lnSpc>
              <a:spcAft>
                <a:spcPts val="600"/>
              </a:spcAft>
              <a:buFont typeface="Arial" panose="020B0604020202020204" pitchFamily="34" charset="0"/>
              <a:buChar char="•"/>
            </a:pPr>
            <a:r>
              <a:rPr lang="en-SG" sz="1600"/>
              <a:t>We took 5 legitimate test transactions the model was confident about, then pushed them far outside the training distribution: </a:t>
            </a:r>
            <a:r>
              <a:rPr lang="en-SG" sz="1600" b="1"/>
              <a:t>Amount × 1000</a:t>
            </a:r>
            <a:r>
              <a:rPr lang="en-SG" sz="1600"/>
              <a:t>, re-scaled through the same fitted scaler </a:t>
            </a:r>
          </a:p>
          <a:p>
            <a:pPr marL="285750" indent="-285750">
              <a:lnSpc>
                <a:spcPct val="105000"/>
              </a:lnSpc>
              <a:spcAft>
                <a:spcPts val="600"/>
              </a:spcAft>
              <a:buFont typeface="Arial" panose="020B0604020202020204" pitchFamily="34" charset="0"/>
              <a:buChar char="•"/>
            </a:pPr>
            <a:r>
              <a:rPr lang="en-SG" sz="1600"/>
              <a:t>The confidence response was </a:t>
            </a:r>
            <a:r>
              <a:rPr lang="en-SG" sz="1600" b="1"/>
              <a:t>inconsistent and unreliable</a:t>
            </a:r>
            <a:r>
              <a:rPr lang="en-SG" sz="1600"/>
              <a:t>, not uniformly anything:</a:t>
            </a:r>
          </a:p>
          <a:p>
            <a:pPr marL="742950" lvl="1" indent="-285750">
              <a:lnSpc>
                <a:spcPct val="105000"/>
              </a:lnSpc>
              <a:spcAft>
                <a:spcPts val="600"/>
              </a:spcAft>
              <a:buFont typeface="Arial" panose="020B0604020202020204" pitchFamily="34" charset="0"/>
              <a:buChar char="•"/>
            </a:pPr>
            <a:r>
              <a:rPr lang="en-SG" sz="1600"/>
              <a:t>One transaction (S3) flipped to "fraud" at </a:t>
            </a:r>
            <a:r>
              <a:rPr lang="en-SG" sz="1600" b="1"/>
              <a:t>100.00%</a:t>
            </a:r>
            <a:r>
              <a:rPr lang="en-SG" sz="1600"/>
              <a:t> confidence </a:t>
            </a:r>
            <a:r>
              <a:rPr lang="en-SG" sz="1600" b="1"/>
              <a:t>confidently wrong </a:t>
            </a:r>
            <a:r>
              <a:rPr lang="en-SG" sz="1600"/>
              <a:t>on an input never seen in training</a:t>
            </a:r>
          </a:p>
          <a:p>
            <a:pPr marL="742950" lvl="1" indent="-285750">
              <a:lnSpc>
                <a:spcPct val="105000"/>
              </a:lnSpc>
              <a:spcAft>
                <a:spcPts val="600"/>
              </a:spcAft>
              <a:buFont typeface="Arial" panose="020B0604020202020204" pitchFamily="34" charset="0"/>
              <a:buChar char="•"/>
            </a:pPr>
            <a:r>
              <a:rPr lang="en-SG" sz="1600"/>
              <a:t>Three (S2, S4, S5) stayed "legitimate" at </a:t>
            </a:r>
            <a:r>
              <a:rPr lang="en-SG" sz="1600" b="1"/>
              <a:t>98.6–99.98%</a:t>
            </a:r>
            <a:r>
              <a:rPr lang="en-SG" sz="1600"/>
              <a:t> confidence despite being inflated 1000×</a:t>
            </a:r>
          </a:p>
          <a:p>
            <a:pPr marL="742950" lvl="1" indent="-285750">
              <a:lnSpc>
                <a:spcPct val="105000"/>
              </a:lnSpc>
              <a:spcAft>
                <a:spcPts val="600"/>
              </a:spcAft>
              <a:buFont typeface="Arial" panose="020B0604020202020204" pitchFamily="34" charset="0"/>
              <a:buChar char="•"/>
            </a:pPr>
            <a:r>
              <a:rPr lang="en-SG" sz="1600"/>
              <a:t>Only one (S1) showed appropriate doubt, confidence falling to </a:t>
            </a:r>
            <a:r>
              <a:rPr lang="en-SG" sz="1600" b="1"/>
              <a:t>64%</a:t>
            </a:r>
            <a:r>
              <a:rPr lang="en-SG" sz="1600"/>
              <a:t> </a:t>
            </a:r>
          </a:p>
          <a:p>
            <a:pPr marL="285750" indent="-285750">
              <a:lnSpc>
                <a:spcPct val="105000"/>
              </a:lnSpc>
              <a:spcAft>
                <a:spcPts val="600"/>
              </a:spcAft>
              <a:buFont typeface="Arial" panose="020B0604020202020204" pitchFamily="34" charset="0"/>
              <a:buChar char="•"/>
            </a:pPr>
            <a:r>
              <a:rPr lang="en-SG" sz="1600"/>
              <a:t>Structurally, most transactions sit so deep in "legitimate" territory that even a 1000× amount increase cannot move them. </a:t>
            </a:r>
            <a:r>
              <a:rPr lang="en-SG" sz="1600" b="1"/>
              <a:t>Only cases (Sample 3) already near the decision boundary can flip. </a:t>
            </a:r>
            <a:r>
              <a:rPr lang="en-SG" sz="1600"/>
              <a:t>Confidence therefore cannot be trusted to rise under distribution shift, failing exactly when oversight is most needed.</a:t>
            </a:r>
            <a:endParaRPr lang="en-US" sz="1600">
              <a:solidFill>
                <a:srgbClr val="FF0000"/>
              </a:solidFill>
              <a:latin typeface="Tenorite"/>
            </a:endParaRPr>
          </a:p>
        </p:txBody>
      </p:sp>
      <p:pic>
        <p:nvPicPr>
          <p:cNvPr id="9" name="Picture 8" descr="The image displays a table comparing original and perturbed predictions and their corresponding confidence levels for five different samples, indicating a decrease in confidence when predictions are perturbed.&#10;&#10;AI-generated content may be incorrect.">
            <a:extLst>
              <a:ext uri="{FF2B5EF4-FFF2-40B4-BE49-F238E27FC236}">
                <a16:creationId xmlns:a16="http://schemas.microsoft.com/office/drawing/2014/main" id="{F1F85E9D-9985-E13C-FD3F-1BC14E56F937}"/>
              </a:ext>
            </a:extLst>
          </p:cNvPr>
          <p:cNvPicPr>
            <a:picLocks noChangeAspect="1"/>
          </p:cNvPicPr>
          <p:nvPr/>
        </p:nvPicPr>
        <p:blipFill>
          <a:blip r:embed="rId2"/>
          <a:stretch>
            <a:fillRect/>
          </a:stretch>
        </p:blipFill>
        <p:spPr>
          <a:xfrm>
            <a:off x="1440605" y="4105275"/>
            <a:ext cx="8467725" cy="2752725"/>
          </a:xfrm>
          <a:prstGeom prst="rect">
            <a:avLst/>
          </a:prstGeom>
        </p:spPr>
      </p:pic>
      <p:cxnSp>
        <p:nvCxnSpPr>
          <p:cNvPr id="10" name="Straight Connector 9">
            <a:extLst>
              <a:ext uri="{FF2B5EF4-FFF2-40B4-BE49-F238E27FC236}">
                <a16:creationId xmlns:a16="http://schemas.microsoft.com/office/drawing/2014/main" id="{64617E12-27F2-0113-7E7F-AC52A46C3976}"/>
              </a:ext>
            </a:extLst>
          </p:cNvPr>
          <p:cNvCxnSpPr/>
          <p:nvPr/>
        </p:nvCxnSpPr>
        <p:spPr>
          <a:xfrm>
            <a:off x="502920" y="3953282"/>
            <a:ext cx="11060025" cy="48026"/>
          </a:xfrm>
          <a:prstGeom prst="line">
            <a:avLst/>
          </a:prstGeom>
          <a:ln>
            <a:solidFill>
              <a:schemeClr val="bg1">
                <a:lumMod val="85000"/>
              </a:schemeClr>
            </a:solidFill>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r>
              <a:rPr lang="en-SG" sz="3600" b="1"/>
              <a:t>Step 5: Error profile and accuracy trap (confusion matrix)</a:t>
            </a:r>
            <a:endParaRPr sz="3600" b="1">
              <a:solidFill>
                <a:srgbClr val="000000"/>
              </a:solidFill>
              <a:latin typeface="Tenorite"/>
            </a:endParaRPr>
          </a:p>
        </p:txBody>
      </p:sp>
      <p:sp>
        <p:nvSpPr>
          <p:cNvPr id="4" name="TextBox 3"/>
          <p:cNvSpPr txBox="1"/>
          <p:nvPr/>
        </p:nvSpPr>
        <p:spPr>
          <a:xfrm>
            <a:off x="11338560" y="6400800"/>
            <a:ext cx="640080" cy="230832"/>
          </a:xfrm>
          <a:prstGeom prst="rect">
            <a:avLst/>
          </a:prstGeom>
          <a:noFill/>
        </p:spPr>
        <p:txBody>
          <a:bodyPr wrap="square">
            <a:spAutoFit/>
          </a:bodyPr>
          <a:lstStyle/>
          <a:p>
            <a:pPr algn="r"/>
            <a:r>
              <a:rPr sz="900">
                <a:solidFill>
                  <a:srgbClr val="595959"/>
                </a:solidFill>
              </a:rPr>
              <a:t>1</a:t>
            </a:r>
            <a:r>
              <a:rPr lang="en-GB" sz="900">
                <a:solidFill>
                  <a:srgbClr val="595959"/>
                </a:solidFill>
              </a:rPr>
              <a:t>0</a:t>
            </a:r>
            <a:endParaRPr sz="900">
              <a:solidFill>
                <a:srgbClr val="595959"/>
              </a:solidFill>
            </a:endParaRPr>
          </a:p>
        </p:txBody>
      </p:sp>
      <p:sp>
        <p:nvSpPr>
          <p:cNvPr id="5" name="TextBox 4"/>
          <p:cNvSpPr txBox="1"/>
          <p:nvPr/>
        </p:nvSpPr>
        <p:spPr>
          <a:xfrm>
            <a:off x="5944482" y="1941184"/>
            <a:ext cx="5515584" cy="4278094"/>
          </a:xfrm>
          <a:prstGeom prst="rect">
            <a:avLst/>
          </a:prstGeom>
          <a:noFill/>
        </p:spPr>
        <p:txBody>
          <a:bodyPr wrap="square">
            <a:spAutoFit/>
          </a:bodyPr>
          <a:lstStyle/>
          <a:p>
            <a:pPr marL="285750" indent="-285750">
              <a:buFont typeface="Arial" panose="020B0604020202020204" pitchFamily="34" charset="0"/>
              <a:buChar char="•"/>
            </a:pPr>
            <a:r>
              <a:rPr lang="en-SG" sz="1600"/>
              <a:t>The confusion matrix exposes what 99.92% accuracy concealed: at the default 0.5 threshold, fraud </a:t>
            </a:r>
            <a:r>
              <a:rPr lang="en-SG" sz="1600" b="1"/>
              <a:t>recall is only 0.64 </a:t>
            </a:r>
            <a:r>
              <a:rPr lang="en-SG" sz="1600"/>
              <a:t>(63 / (63+ 35))</a:t>
            </a:r>
          </a:p>
          <a:p>
            <a:pPr marL="285750" indent="-285750">
              <a:buFont typeface="Arial" panose="020B0604020202020204" pitchFamily="34" charset="0"/>
              <a:buChar char="•"/>
            </a:pPr>
            <a:endParaRPr lang="en-SG" sz="1600"/>
          </a:p>
          <a:p>
            <a:pPr marL="285750" indent="-285750">
              <a:buFont typeface="Arial" panose="020B0604020202020204" pitchFamily="34" charset="0"/>
              <a:buChar char="•"/>
            </a:pPr>
            <a:r>
              <a:rPr lang="en-SG" sz="1600"/>
              <a:t>Of 98 (63 +35)  test frauds, the model caught </a:t>
            </a:r>
            <a:r>
              <a:rPr lang="en-SG" sz="1600" b="1"/>
              <a:t>63</a:t>
            </a:r>
            <a:r>
              <a:rPr lang="en-SG" sz="1600"/>
              <a:t> but </a:t>
            </a:r>
            <a:r>
              <a:rPr lang="en-SG" sz="1600" b="1"/>
              <a:t>missed 35</a:t>
            </a:r>
            <a:r>
              <a:rPr lang="en-SG" sz="1600"/>
              <a:t> (false negatives), over a third of all fraud slipped through.</a:t>
            </a:r>
          </a:p>
          <a:p>
            <a:pPr marL="285750" indent="-285750">
              <a:buFont typeface="Arial" panose="020B0604020202020204" pitchFamily="34" charset="0"/>
              <a:buChar char="•"/>
            </a:pPr>
            <a:endParaRPr lang="en-SG" sz="1600"/>
          </a:p>
          <a:p>
            <a:pPr marL="285750" indent="-285750">
              <a:buFont typeface="Arial" panose="020B0604020202020204" pitchFamily="34" charset="0"/>
              <a:buChar char="•"/>
            </a:pPr>
            <a:r>
              <a:rPr lang="en-SG" sz="1600"/>
              <a:t>It also raised </a:t>
            </a:r>
            <a:r>
              <a:rPr lang="en-SG" sz="1600" b="1"/>
              <a:t>13 false positives:</a:t>
            </a:r>
            <a:r>
              <a:rPr lang="en-SG" sz="1600"/>
              <a:t> legitimate transactions wrongly flagged, so errors occur in </a:t>
            </a:r>
            <a:r>
              <a:rPr lang="en-SG" sz="1600" i="1"/>
              <a:t>both</a:t>
            </a:r>
            <a:r>
              <a:rPr lang="en-SG" sz="1600"/>
              <a:t> directions</a:t>
            </a:r>
          </a:p>
          <a:p>
            <a:pPr marL="285750" indent="-285750">
              <a:buFont typeface="Arial" panose="020B0604020202020204" pitchFamily="34" charset="0"/>
              <a:buChar char="•"/>
            </a:pPr>
            <a:endParaRPr lang="en-SG" sz="1600"/>
          </a:p>
          <a:p>
            <a:pPr marL="285750" indent="-285750">
              <a:buFont typeface="Arial" panose="020B0604020202020204" pitchFamily="34" charset="0"/>
              <a:buChar char="•"/>
            </a:pPr>
            <a:r>
              <a:rPr lang="en-SG" sz="1600"/>
              <a:t>Reconciliation with Step 3: of the 35 missed frauds, </a:t>
            </a:r>
            <a:r>
              <a:rPr lang="en-SG" sz="1600" b="1"/>
              <a:t>11 were the high-confidence silent failures</a:t>
            </a:r>
            <a:r>
              <a:rPr lang="en-SG" sz="1600"/>
              <a:t> (≥ 0.99 confidence) and cannot be caught by confidence-based escalation; the other </a:t>
            </a:r>
            <a:r>
              <a:rPr lang="en-SG" sz="1600" b="1"/>
              <a:t>24</a:t>
            </a:r>
            <a:r>
              <a:rPr lang="en-SG" sz="1600"/>
              <a:t> were missed at lower confidence and </a:t>
            </a:r>
            <a:r>
              <a:rPr lang="en-SG" sz="1600" b="1" i="1"/>
              <a:t>are</a:t>
            </a:r>
            <a:r>
              <a:rPr lang="en-SG" sz="1600" b="1"/>
              <a:t> potentially recoverable through human review</a:t>
            </a:r>
          </a:p>
          <a:p>
            <a:pPr marL="285750" indent="-285750">
              <a:buFont typeface="Arial" panose="020B0604020202020204" pitchFamily="34" charset="0"/>
              <a:buChar char="•"/>
            </a:pPr>
            <a:endParaRPr lang="en-SG" sz="1600"/>
          </a:p>
          <a:p>
            <a:endParaRPr lang="en-SG" sz="1600">
              <a:effectLst/>
            </a:endParaRPr>
          </a:p>
        </p:txBody>
      </p:sp>
      <p:pic>
        <p:nvPicPr>
          <p:cNvPr id="7" name="Picture 6" descr="The baseline confusion matrix shows that out of 56,851 predictions, 13 were legitimate but predicted as fraud, and 35 were actual frauds.&#10;&#10;AI-generated content may be incorrect.">
            <a:extLst>
              <a:ext uri="{FF2B5EF4-FFF2-40B4-BE49-F238E27FC236}">
                <a16:creationId xmlns:a16="http://schemas.microsoft.com/office/drawing/2014/main" id="{DEC3E16E-2371-7EAB-9ABE-85F93B27D680}"/>
              </a:ext>
            </a:extLst>
          </p:cNvPr>
          <p:cNvPicPr>
            <a:picLocks noChangeAspect="1"/>
          </p:cNvPicPr>
          <p:nvPr/>
        </p:nvPicPr>
        <p:blipFill>
          <a:blip r:embed="rId2"/>
          <a:stretch>
            <a:fillRect/>
          </a:stretch>
        </p:blipFill>
        <p:spPr>
          <a:xfrm>
            <a:off x="425657" y="1694964"/>
            <a:ext cx="4972306" cy="4426177"/>
          </a:xfrm>
          <a:prstGeom prst="rect">
            <a:avLst/>
          </a:prstGeom>
        </p:spPr>
      </p:pic>
      <p:sp>
        <p:nvSpPr>
          <p:cNvPr id="8" name="TextBox 7">
            <a:extLst>
              <a:ext uri="{FF2B5EF4-FFF2-40B4-BE49-F238E27FC236}">
                <a16:creationId xmlns:a16="http://schemas.microsoft.com/office/drawing/2014/main" id="{560FC3D7-B31F-3E42-E84E-7ECBC72AD4FE}"/>
              </a:ext>
            </a:extLst>
          </p:cNvPr>
          <p:cNvSpPr txBox="1"/>
          <p:nvPr/>
        </p:nvSpPr>
        <p:spPr>
          <a:xfrm>
            <a:off x="1995052" y="6065390"/>
            <a:ext cx="676808" cy="307777"/>
          </a:xfrm>
          <a:prstGeom prst="rect">
            <a:avLst/>
          </a:prstGeom>
          <a:noFill/>
        </p:spPr>
        <p:txBody>
          <a:bodyPr wrap="square" rtlCol="0">
            <a:spAutoFit/>
          </a:bodyPr>
          <a:lstStyle/>
          <a:p>
            <a:r>
              <a:rPr lang="en-GB" sz="1400"/>
              <a:t>-</a:t>
            </a:r>
            <a:r>
              <a:rPr lang="en-GB" sz="1400" err="1"/>
              <a:t>ve</a:t>
            </a:r>
            <a:endParaRPr lang="en-SG" sz="1400"/>
          </a:p>
        </p:txBody>
      </p:sp>
      <p:sp>
        <p:nvSpPr>
          <p:cNvPr id="10" name="TextBox 9">
            <a:extLst>
              <a:ext uri="{FF2B5EF4-FFF2-40B4-BE49-F238E27FC236}">
                <a16:creationId xmlns:a16="http://schemas.microsoft.com/office/drawing/2014/main" id="{E0EC53AF-D2BA-1012-0A0E-C51B85BEFF22}"/>
              </a:ext>
            </a:extLst>
          </p:cNvPr>
          <p:cNvSpPr txBox="1"/>
          <p:nvPr/>
        </p:nvSpPr>
        <p:spPr>
          <a:xfrm>
            <a:off x="3969767" y="6073172"/>
            <a:ext cx="676808" cy="307777"/>
          </a:xfrm>
          <a:prstGeom prst="rect">
            <a:avLst/>
          </a:prstGeom>
          <a:noFill/>
        </p:spPr>
        <p:txBody>
          <a:bodyPr wrap="square" rtlCol="0">
            <a:spAutoFit/>
          </a:bodyPr>
          <a:lstStyle/>
          <a:p>
            <a:r>
              <a:rPr lang="en-GB" sz="1400"/>
              <a:t>+</a:t>
            </a:r>
            <a:r>
              <a:rPr lang="en-GB" sz="1400" err="1"/>
              <a:t>ve</a:t>
            </a:r>
            <a:endParaRPr lang="en-SG" sz="1400"/>
          </a:p>
        </p:txBody>
      </p:sp>
      <p:sp>
        <p:nvSpPr>
          <p:cNvPr id="12" name="TextBox 11">
            <a:extLst>
              <a:ext uri="{FF2B5EF4-FFF2-40B4-BE49-F238E27FC236}">
                <a16:creationId xmlns:a16="http://schemas.microsoft.com/office/drawing/2014/main" id="{E5098E5A-8C09-3CF6-15C1-40F3F10F230E}"/>
              </a:ext>
            </a:extLst>
          </p:cNvPr>
          <p:cNvSpPr txBox="1"/>
          <p:nvPr/>
        </p:nvSpPr>
        <p:spPr>
          <a:xfrm>
            <a:off x="655316" y="4941521"/>
            <a:ext cx="676808" cy="307777"/>
          </a:xfrm>
          <a:prstGeom prst="rect">
            <a:avLst/>
          </a:prstGeom>
          <a:noFill/>
        </p:spPr>
        <p:txBody>
          <a:bodyPr wrap="square" rtlCol="0">
            <a:spAutoFit/>
          </a:bodyPr>
          <a:lstStyle/>
          <a:p>
            <a:r>
              <a:rPr lang="en-GB" sz="1400"/>
              <a:t>+</a:t>
            </a:r>
            <a:r>
              <a:rPr lang="en-GB" sz="1400" err="1"/>
              <a:t>ve</a:t>
            </a:r>
            <a:endParaRPr lang="en-SG" sz="1400"/>
          </a:p>
        </p:txBody>
      </p:sp>
      <p:sp>
        <p:nvSpPr>
          <p:cNvPr id="14" name="TextBox 13">
            <a:extLst>
              <a:ext uri="{FF2B5EF4-FFF2-40B4-BE49-F238E27FC236}">
                <a16:creationId xmlns:a16="http://schemas.microsoft.com/office/drawing/2014/main" id="{0A1FA912-CB43-3895-2C52-67416BE92080}"/>
              </a:ext>
            </a:extLst>
          </p:cNvPr>
          <p:cNvSpPr txBox="1"/>
          <p:nvPr/>
        </p:nvSpPr>
        <p:spPr>
          <a:xfrm>
            <a:off x="652073" y="3010465"/>
            <a:ext cx="676808" cy="307777"/>
          </a:xfrm>
          <a:prstGeom prst="rect">
            <a:avLst/>
          </a:prstGeom>
          <a:noFill/>
        </p:spPr>
        <p:txBody>
          <a:bodyPr wrap="square" rtlCol="0">
            <a:spAutoFit/>
          </a:bodyPr>
          <a:lstStyle/>
          <a:p>
            <a:r>
              <a:rPr lang="en-GB" sz="1400"/>
              <a:t>-</a:t>
            </a:r>
            <a:r>
              <a:rPr lang="en-GB" sz="1400" err="1"/>
              <a:t>ve</a:t>
            </a:r>
            <a:endParaRPr lang="en-SG" sz="1400"/>
          </a:p>
        </p:txBody>
      </p:sp>
      <p:sp>
        <p:nvSpPr>
          <p:cNvPr id="16" name="TextBox 15">
            <a:extLst>
              <a:ext uri="{FF2B5EF4-FFF2-40B4-BE49-F238E27FC236}">
                <a16:creationId xmlns:a16="http://schemas.microsoft.com/office/drawing/2014/main" id="{86E5D1B5-17DC-25E6-0C6B-271CF6297A0C}"/>
              </a:ext>
            </a:extLst>
          </p:cNvPr>
          <p:cNvSpPr txBox="1"/>
          <p:nvPr/>
        </p:nvSpPr>
        <p:spPr>
          <a:xfrm>
            <a:off x="4021648" y="5009147"/>
            <a:ext cx="676808" cy="307777"/>
          </a:xfrm>
          <a:prstGeom prst="rect">
            <a:avLst/>
          </a:prstGeom>
          <a:noFill/>
        </p:spPr>
        <p:txBody>
          <a:bodyPr wrap="square" rtlCol="0">
            <a:spAutoFit/>
          </a:bodyPr>
          <a:lstStyle/>
          <a:p>
            <a:r>
              <a:rPr lang="en-GB" sz="1400" b="1">
                <a:solidFill>
                  <a:srgbClr val="C00000"/>
                </a:solidFill>
              </a:rPr>
              <a:t>TP</a:t>
            </a:r>
            <a:endParaRPr lang="en-SG" sz="1400" b="1">
              <a:solidFill>
                <a:srgbClr val="C00000"/>
              </a:solidFill>
            </a:endParaRPr>
          </a:p>
        </p:txBody>
      </p:sp>
      <p:sp>
        <p:nvSpPr>
          <p:cNvPr id="18" name="TextBox 17">
            <a:extLst>
              <a:ext uri="{FF2B5EF4-FFF2-40B4-BE49-F238E27FC236}">
                <a16:creationId xmlns:a16="http://schemas.microsoft.com/office/drawing/2014/main" id="{9999F3EC-FC77-D0B9-2244-5B6CF01C9E26}"/>
              </a:ext>
            </a:extLst>
          </p:cNvPr>
          <p:cNvSpPr txBox="1"/>
          <p:nvPr/>
        </p:nvSpPr>
        <p:spPr>
          <a:xfrm>
            <a:off x="1995052" y="3010465"/>
            <a:ext cx="676808" cy="307777"/>
          </a:xfrm>
          <a:prstGeom prst="rect">
            <a:avLst/>
          </a:prstGeom>
          <a:noFill/>
        </p:spPr>
        <p:txBody>
          <a:bodyPr wrap="square" rtlCol="0">
            <a:spAutoFit/>
          </a:bodyPr>
          <a:lstStyle/>
          <a:p>
            <a:r>
              <a:rPr lang="en-GB" sz="1400" b="1">
                <a:solidFill>
                  <a:srgbClr val="C00000"/>
                </a:solidFill>
              </a:rPr>
              <a:t>TN</a:t>
            </a:r>
            <a:endParaRPr lang="en-SG" sz="1400" b="1">
              <a:solidFill>
                <a:srgbClr val="C00000"/>
              </a:solidFill>
            </a:endParaRPr>
          </a:p>
        </p:txBody>
      </p:sp>
      <p:sp>
        <p:nvSpPr>
          <p:cNvPr id="20" name="TextBox 19">
            <a:extLst>
              <a:ext uri="{FF2B5EF4-FFF2-40B4-BE49-F238E27FC236}">
                <a16:creationId xmlns:a16="http://schemas.microsoft.com/office/drawing/2014/main" id="{74C22162-C1B4-16BC-05C1-258299AC98A4}"/>
              </a:ext>
            </a:extLst>
          </p:cNvPr>
          <p:cNvSpPr txBox="1"/>
          <p:nvPr/>
        </p:nvSpPr>
        <p:spPr>
          <a:xfrm>
            <a:off x="1995052" y="4967083"/>
            <a:ext cx="676808" cy="307777"/>
          </a:xfrm>
          <a:prstGeom prst="rect">
            <a:avLst/>
          </a:prstGeom>
          <a:noFill/>
        </p:spPr>
        <p:txBody>
          <a:bodyPr wrap="square" rtlCol="0">
            <a:spAutoFit/>
          </a:bodyPr>
          <a:lstStyle/>
          <a:p>
            <a:r>
              <a:rPr lang="en-GB" sz="1400" b="1">
                <a:solidFill>
                  <a:srgbClr val="C00000"/>
                </a:solidFill>
              </a:rPr>
              <a:t>FN</a:t>
            </a:r>
            <a:endParaRPr lang="en-SG" sz="1400" b="1">
              <a:solidFill>
                <a:srgbClr val="C00000"/>
              </a:solidFill>
            </a:endParaRPr>
          </a:p>
        </p:txBody>
      </p:sp>
      <p:sp>
        <p:nvSpPr>
          <p:cNvPr id="22" name="TextBox 21">
            <a:extLst>
              <a:ext uri="{FF2B5EF4-FFF2-40B4-BE49-F238E27FC236}">
                <a16:creationId xmlns:a16="http://schemas.microsoft.com/office/drawing/2014/main" id="{9E0604F0-475A-F86D-48E5-E7857B24B470}"/>
              </a:ext>
            </a:extLst>
          </p:cNvPr>
          <p:cNvSpPr txBox="1"/>
          <p:nvPr/>
        </p:nvSpPr>
        <p:spPr>
          <a:xfrm>
            <a:off x="3969767" y="3010464"/>
            <a:ext cx="676808" cy="307777"/>
          </a:xfrm>
          <a:prstGeom prst="rect">
            <a:avLst/>
          </a:prstGeom>
          <a:noFill/>
        </p:spPr>
        <p:txBody>
          <a:bodyPr wrap="square" rtlCol="0">
            <a:spAutoFit/>
          </a:bodyPr>
          <a:lstStyle/>
          <a:p>
            <a:r>
              <a:rPr lang="en-GB" sz="1400" b="1">
                <a:solidFill>
                  <a:srgbClr val="C00000"/>
                </a:solidFill>
              </a:rPr>
              <a:t>FP</a:t>
            </a:r>
            <a:endParaRPr lang="en-SG" sz="1400" b="1">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5"/>
            <a:ext cx="11155680" cy="646331"/>
          </a:xfrm>
          <a:prstGeom prst="rect">
            <a:avLst/>
          </a:prstGeom>
          <a:noFill/>
        </p:spPr>
        <p:txBody>
          <a:bodyPr wrap="square" anchor="ctr">
            <a:spAutoFit/>
          </a:bodyPr>
          <a:lstStyle/>
          <a:p>
            <a:r>
              <a:rPr lang="en-SG" sz="3600" b="1"/>
              <a:t>Step 6: Human-in-the-Loop Threshold Routing</a:t>
            </a:r>
            <a:endParaRPr sz="3600" b="1">
              <a:solidFill>
                <a:srgbClr val="000000"/>
              </a:solidFill>
              <a:latin typeface="Tenorite"/>
            </a:endParaRPr>
          </a:p>
        </p:txBody>
      </p:sp>
      <p:sp>
        <p:nvSpPr>
          <p:cNvPr id="4" name="TextBox 3"/>
          <p:cNvSpPr txBox="1"/>
          <p:nvPr/>
        </p:nvSpPr>
        <p:spPr>
          <a:xfrm>
            <a:off x="11338560" y="6400800"/>
            <a:ext cx="640080" cy="230832"/>
          </a:xfrm>
          <a:prstGeom prst="rect">
            <a:avLst/>
          </a:prstGeom>
          <a:noFill/>
        </p:spPr>
        <p:txBody>
          <a:bodyPr wrap="square">
            <a:spAutoFit/>
          </a:bodyPr>
          <a:lstStyle/>
          <a:p>
            <a:pPr algn="r"/>
            <a:r>
              <a:rPr sz="900">
                <a:solidFill>
                  <a:srgbClr val="595959"/>
                </a:solidFill>
              </a:rPr>
              <a:t>1</a:t>
            </a:r>
            <a:r>
              <a:rPr lang="en-GB" sz="900">
                <a:solidFill>
                  <a:srgbClr val="595959"/>
                </a:solidFill>
              </a:rPr>
              <a:t>1</a:t>
            </a:r>
            <a:endParaRPr sz="900">
              <a:solidFill>
                <a:srgbClr val="595959"/>
              </a:solidFill>
            </a:endParaRPr>
          </a:p>
        </p:txBody>
      </p:sp>
      <p:sp>
        <p:nvSpPr>
          <p:cNvPr id="7" name="TextBox 6">
            <a:extLst>
              <a:ext uri="{FF2B5EF4-FFF2-40B4-BE49-F238E27FC236}">
                <a16:creationId xmlns:a16="http://schemas.microsoft.com/office/drawing/2014/main" id="{8860C792-F92D-E250-4440-444986E8C210}"/>
              </a:ext>
            </a:extLst>
          </p:cNvPr>
          <p:cNvSpPr txBox="1"/>
          <p:nvPr/>
        </p:nvSpPr>
        <p:spPr>
          <a:xfrm>
            <a:off x="302206" y="1032850"/>
            <a:ext cx="11356394" cy="3170933"/>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t>We selected </a:t>
            </a:r>
            <a:r>
              <a:rPr lang="en-SG" sz="1600" b="1"/>
              <a:t>five thresholds: 0.80, 0.90, 0.99, 0.999, 0.9999. </a:t>
            </a:r>
            <a:r>
              <a:rPr lang="en-SG" sz="1600"/>
              <a:t>Deliberately spanning from a conventional cut-off up into the extreme high-confidence range, because Step 2 showed over 99% of predictions exceed 0.99; a conventional threshold alone would sit below almost all the data and escalate nothing</a:t>
            </a:r>
          </a:p>
          <a:p>
            <a:pPr marL="285750" indent="-285750">
              <a:lnSpc>
                <a:spcPct val="105000"/>
              </a:lnSpc>
              <a:spcAft>
                <a:spcPts val="600"/>
              </a:spcAft>
              <a:buFont typeface="Arial" panose="020B0604020202020204" pitchFamily="34" charset="0"/>
              <a:buChar char="•"/>
            </a:pPr>
            <a:r>
              <a:rPr lang="en-SG" sz="1600"/>
              <a:t>Because confidence is saturated (Step 2), thresholds of 0.80–0.90 escalate almost nothing, automation stays ~99.9% and </a:t>
            </a:r>
            <a:r>
              <a:rPr lang="en-SG" sz="1600" b="1"/>
              <a:t>silent failures pass straight through</a:t>
            </a:r>
            <a:r>
              <a:rPr lang="en-SG" sz="1600"/>
              <a:t> </a:t>
            </a:r>
          </a:p>
          <a:p>
            <a:pPr marL="285750" indent="-285750">
              <a:lnSpc>
                <a:spcPct val="105000"/>
              </a:lnSpc>
              <a:spcAft>
                <a:spcPts val="600"/>
              </a:spcAft>
              <a:buFont typeface="Arial" panose="020B0604020202020204" pitchFamily="34" charset="0"/>
              <a:buChar char="•"/>
            </a:pPr>
            <a:r>
              <a:rPr lang="en-SG" sz="1600"/>
              <a:t>The dial only engages in the extreme high range: at </a:t>
            </a:r>
            <a:r>
              <a:rPr lang="en-SG" sz="1600" b="1"/>
              <a:t>0.999</a:t>
            </a:r>
            <a:r>
              <a:rPr lang="en-SG" sz="1600"/>
              <a:t>, escalation rises to 8.95% and 60 of 98 frauds reach a human; at </a:t>
            </a:r>
            <a:r>
              <a:rPr lang="en-SG" sz="1600" b="1"/>
              <a:t>0.9999</a:t>
            </a:r>
            <a:r>
              <a:rPr lang="en-SG" sz="1600"/>
              <a:t>, escalation jumps to </a:t>
            </a:r>
            <a:r>
              <a:rPr lang="en-SG" sz="1600" b="1"/>
              <a:t>64.14%</a:t>
            </a:r>
            <a:r>
              <a:rPr lang="en-SG" sz="1600"/>
              <a:t> but auto-approved silent failures only fall to 2 </a:t>
            </a:r>
          </a:p>
          <a:p>
            <a:pPr marL="285750" indent="-285750">
              <a:lnSpc>
                <a:spcPct val="105000"/>
              </a:lnSpc>
              <a:spcAft>
                <a:spcPts val="600"/>
              </a:spcAft>
              <a:buFont typeface="Arial" panose="020B0604020202020204" pitchFamily="34" charset="0"/>
              <a:buChar char="•"/>
            </a:pPr>
            <a:r>
              <a:rPr lang="en-SG" sz="1600"/>
              <a:t>The core trade-off: cutting silent failures from 9 to 2 requires escalating ~64% of all transactions to humans. Whether this is worthwhile is a domain decision, weighing the cost of each missed fraud against the human-review burden (our view is it is worth it as stakes are high). </a:t>
            </a:r>
          </a:p>
          <a:p>
            <a:pPr>
              <a:lnSpc>
                <a:spcPct val="105000"/>
              </a:lnSpc>
              <a:spcAft>
                <a:spcPts val="600"/>
              </a:spcAft>
            </a:pPr>
            <a:r>
              <a:rPr lang="en-SG" sz="1200" i="1"/>
              <a:t>(Note: even at the tightest threshold, 2 silent failures remain, the highest-confidence frauds sit beyond any cut-off, so escalation cannot catch them all)</a:t>
            </a:r>
            <a:endParaRPr sz="1200" i="1">
              <a:solidFill>
                <a:srgbClr val="000000"/>
              </a:solidFill>
              <a:latin typeface="Tenorite"/>
            </a:endParaRPr>
          </a:p>
        </p:txBody>
      </p:sp>
      <p:pic>
        <p:nvPicPr>
          <p:cNvPr id="5" name="Picture 4" descr="The image displays a table comparing various confidence thresholds for routing, showing the number of escalations, silent failures, and frauds detected, with different thresholds showing different levels of effectiveness.&#10;&#10;AI-generated content may be incorrect.">
            <a:extLst>
              <a:ext uri="{FF2B5EF4-FFF2-40B4-BE49-F238E27FC236}">
                <a16:creationId xmlns:a16="http://schemas.microsoft.com/office/drawing/2014/main" id="{9BED1B9F-F998-0551-E8F7-0940B263EBDA}"/>
              </a:ext>
            </a:extLst>
          </p:cNvPr>
          <p:cNvPicPr>
            <a:picLocks noChangeAspect="1"/>
          </p:cNvPicPr>
          <p:nvPr/>
        </p:nvPicPr>
        <p:blipFill>
          <a:blip r:embed="rId2"/>
          <a:stretch>
            <a:fillRect/>
          </a:stretch>
        </p:blipFill>
        <p:spPr>
          <a:xfrm>
            <a:off x="629055" y="4276623"/>
            <a:ext cx="10496279" cy="2551240"/>
          </a:xfrm>
          <a:prstGeom prst="rect">
            <a:avLst/>
          </a:prstGeom>
        </p:spPr>
      </p:pic>
      <p:cxnSp>
        <p:nvCxnSpPr>
          <p:cNvPr id="11" name="Straight Connector 10">
            <a:extLst>
              <a:ext uri="{FF2B5EF4-FFF2-40B4-BE49-F238E27FC236}">
                <a16:creationId xmlns:a16="http://schemas.microsoft.com/office/drawing/2014/main" id="{8D3A1467-0FCD-3383-194C-84D68A9AAE83}"/>
              </a:ext>
            </a:extLst>
          </p:cNvPr>
          <p:cNvCxnSpPr/>
          <p:nvPr/>
        </p:nvCxnSpPr>
        <p:spPr>
          <a:xfrm>
            <a:off x="502920" y="4245115"/>
            <a:ext cx="11060025" cy="48026"/>
          </a:xfrm>
          <a:prstGeom prst="line">
            <a:avLst/>
          </a:prstGeom>
          <a:ln>
            <a:solidFill>
              <a:schemeClr val="bg1">
                <a:lumMod val="85000"/>
              </a:schemeClr>
            </a:solidFill>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Key Takeaways &amp; Conclusion</a:t>
            </a:r>
          </a:p>
        </p:txBody>
      </p:sp>
      <p:sp>
        <p:nvSpPr>
          <p:cNvPr id="4" name="TextBox 3"/>
          <p:cNvSpPr txBox="1"/>
          <p:nvPr/>
        </p:nvSpPr>
        <p:spPr>
          <a:xfrm>
            <a:off x="11338560" y="6400800"/>
            <a:ext cx="640080" cy="230832"/>
          </a:xfrm>
          <a:prstGeom prst="rect">
            <a:avLst/>
          </a:prstGeom>
          <a:noFill/>
        </p:spPr>
        <p:txBody>
          <a:bodyPr wrap="square">
            <a:spAutoFit/>
          </a:bodyPr>
          <a:lstStyle/>
          <a:p>
            <a:pPr algn="r"/>
            <a:r>
              <a:rPr sz="900">
                <a:solidFill>
                  <a:srgbClr val="595959"/>
                </a:solidFill>
              </a:rPr>
              <a:t>1</a:t>
            </a:r>
            <a:r>
              <a:rPr lang="en-GB" sz="900">
                <a:solidFill>
                  <a:srgbClr val="595959"/>
                </a:solidFill>
              </a:rPr>
              <a:t>2</a:t>
            </a:r>
            <a:endParaRPr sz="900">
              <a:solidFill>
                <a:srgbClr val="595959"/>
              </a:solidFill>
            </a:endParaRPr>
          </a:p>
        </p:txBody>
      </p:sp>
      <p:sp>
        <p:nvSpPr>
          <p:cNvPr id="5" name="TextBox 4"/>
          <p:cNvSpPr txBox="1"/>
          <p:nvPr/>
        </p:nvSpPr>
        <p:spPr>
          <a:xfrm>
            <a:off x="548640" y="1417320"/>
            <a:ext cx="11064240" cy="5057988"/>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b="1"/>
              <a:t>Accuracy concealed the real risk:</a:t>
            </a:r>
            <a:r>
              <a:rPr lang="en-SG"/>
              <a:t> 99.92% accuracy was barely above a do-nothing baseline (+0.088%), while the model missed 36% of fraud and produced 11 high-confidence silent failures </a:t>
            </a:r>
          </a:p>
          <a:p>
            <a:pPr marL="285750" indent="-285750">
              <a:lnSpc>
                <a:spcPct val="105000"/>
              </a:lnSpc>
              <a:spcAft>
                <a:spcPts val="600"/>
              </a:spcAft>
              <a:buFont typeface="Arial" panose="020B0604020202020204" pitchFamily="34" charset="0"/>
              <a:buChar char="•"/>
            </a:pPr>
            <a:endParaRPr lang="en-SG"/>
          </a:p>
          <a:p>
            <a:pPr marL="285750" indent="-285750">
              <a:lnSpc>
                <a:spcPct val="105000"/>
              </a:lnSpc>
              <a:spcAft>
                <a:spcPts val="600"/>
              </a:spcAft>
              <a:buFont typeface="Arial" panose="020B0604020202020204" pitchFamily="34" charset="0"/>
              <a:buChar char="•"/>
            </a:pPr>
            <a:r>
              <a:rPr lang="en-SG" b="1"/>
              <a:t>Confidence is not correctness, and not enough on its own:</a:t>
            </a:r>
            <a:r>
              <a:rPr lang="en-SG"/>
              <a:t> it was saturated near 1.0 (Step 2), unreliable under distribution shift (Step 4), and blind to high-confidence silent failures (Step 3). So it must be paired with monitoring, audit, and human oversight rather than trusted as a standalone signal</a:t>
            </a:r>
          </a:p>
          <a:p>
            <a:pPr marL="285750" indent="-285750">
              <a:lnSpc>
                <a:spcPct val="105000"/>
              </a:lnSpc>
              <a:spcAft>
                <a:spcPts val="600"/>
              </a:spcAft>
              <a:buFont typeface="Arial" panose="020B0604020202020204" pitchFamily="34" charset="0"/>
              <a:buChar char="•"/>
            </a:pPr>
            <a:endParaRPr lang="en-SG" b="1"/>
          </a:p>
          <a:p>
            <a:pPr marL="285750" indent="-285750">
              <a:lnSpc>
                <a:spcPct val="105000"/>
              </a:lnSpc>
              <a:spcAft>
                <a:spcPts val="600"/>
              </a:spcAft>
              <a:buFont typeface="Arial" panose="020B0604020202020204" pitchFamily="34" charset="0"/>
              <a:buChar char="•"/>
            </a:pPr>
            <a:r>
              <a:rPr lang="en-SG" b="1"/>
              <a:t>The threshold is a values decision, not a technical optimum:</a:t>
            </a:r>
            <a:r>
              <a:rPr lang="en-SG"/>
              <a:t> the right cut-off depends on weighing the cost of a missed fraud against the human-review burden, and on the consequences the domain can tolerate </a:t>
            </a:r>
          </a:p>
          <a:p>
            <a:pPr marL="285750" indent="-285750">
              <a:lnSpc>
                <a:spcPct val="105000"/>
              </a:lnSpc>
              <a:spcAft>
                <a:spcPts val="600"/>
              </a:spcAft>
              <a:buFont typeface="Arial" panose="020B0604020202020204" pitchFamily="34" charset="0"/>
              <a:buChar char="•"/>
            </a:pPr>
            <a:endParaRPr lang="en-SG" b="1"/>
          </a:p>
          <a:p>
            <a:pPr marL="285750" indent="-285750">
              <a:lnSpc>
                <a:spcPct val="105000"/>
              </a:lnSpc>
              <a:spcAft>
                <a:spcPts val="600"/>
              </a:spcAft>
              <a:buFont typeface="Arial" panose="020B0604020202020204" pitchFamily="34" charset="0"/>
              <a:buChar char="•"/>
            </a:pPr>
            <a:r>
              <a:rPr lang="en-SG" b="1"/>
              <a:t>For this high-stakes fraud setting, we weight safety over automation</a:t>
            </a:r>
            <a:r>
              <a:rPr lang="en-SG"/>
              <a:t> and favour a strict threshold (0.9999): it cuts auto-approved silent failures to 2, accepting that ~64% of transactions require human review </a:t>
            </a:r>
          </a:p>
          <a:p>
            <a:pPr marL="285750" indent="-285750">
              <a:lnSpc>
                <a:spcPct val="105000"/>
              </a:lnSpc>
              <a:spcAft>
                <a:spcPts val="600"/>
              </a:spcAft>
              <a:buFont typeface="Arial" panose="020B0604020202020204" pitchFamily="34" charset="0"/>
              <a:buChar char="•"/>
            </a:pPr>
            <a:endParaRPr lang="en-SG" b="1"/>
          </a:p>
          <a:p>
            <a:pPr marL="285750" indent="-285750">
              <a:lnSpc>
                <a:spcPct val="105000"/>
              </a:lnSpc>
              <a:spcAft>
                <a:spcPts val="600"/>
              </a:spcAft>
              <a:buFont typeface="Arial" panose="020B0604020202020204" pitchFamily="34" charset="0"/>
              <a:buChar char="•"/>
            </a:pPr>
            <a:r>
              <a:rPr lang="en-SG" b="1"/>
              <a:t>Core principle:</a:t>
            </a:r>
            <a:r>
              <a:rPr lang="en-SG"/>
              <a:t> a trustworthy system is designed to recognise its own uncertainty and escalate, it knows when </a:t>
            </a:r>
            <a:r>
              <a:rPr lang="en-SG" i="1"/>
              <a:t>not</a:t>
            </a:r>
            <a:r>
              <a:rPr lang="en-SG"/>
              <a:t> to decide</a:t>
            </a:r>
            <a:endParaRPr>
              <a:solidFill>
                <a:srgbClr val="000000"/>
              </a:solidFill>
              <a:latin typeface="Tenorit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3FD858-7129-56CD-0787-7BD832954483}"/>
              </a:ext>
            </a:extLst>
          </p:cNvPr>
          <p:cNvSpPr txBox="1"/>
          <p:nvPr/>
        </p:nvSpPr>
        <p:spPr>
          <a:xfrm>
            <a:off x="502920" y="385494"/>
            <a:ext cx="11155680" cy="646331"/>
          </a:xfrm>
          <a:prstGeom prst="rect">
            <a:avLst/>
          </a:prstGeom>
          <a:noFill/>
        </p:spPr>
        <p:txBody>
          <a:bodyPr wrap="square" anchor="ctr">
            <a:spAutoFit/>
          </a:bodyPr>
          <a:lstStyle/>
          <a:p>
            <a:pPr algn="l"/>
            <a:r>
              <a:rPr lang="en-US" sz="3600" b="1">
                <a:solidFill>
                  <a:srgbClr val="000000"/>
                </a:solidFill>
                <a:latin typeface="Tenorite"/>
              </a:rPr>
              <a:t>AI Usage</a:t>
            </a:r>
            <a:endParaRPr sz="3600" b="1">
              <a:solidFill>
                <a:srgbClr val="000000"/>
              </a:solidFill>
              <a:latin typeface="Tenorite"/>
            </a:endParaRPr>
          </a:p>
        </p:txBody>
      </p:sp>
      <p:sp>
        <p:nvSpPr>
          <p:cNvPr id="3" name="TextBox 2">
            <a:extLst>
              <a:ext uri="{FF2B5EF4-FFF2-40B4-BE49-F238E27FC236}">
                <a16:creationId xmlns:a16="http://schemas.microsoft.com/office/drawing/2014/main" id="{6B2E24D7-BBDD-F773-6126-B3E0EAC53E8F}"/>
              </a:ext>
            </a:extLst>
          </p:cNvPr>
          <p:cNvSpPr txBox="1"/>
          <p:nvPr/>
        </p:nvSpPr>
        <p:spPr>
          <a:xfrm>
            <a:off x="548640" y="1417320"/>
            <a:ext cx="11064240" cy="3439981"/>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Claude Opus 4.8 was used to discuss on how to approach the Lab design and implementation </a:t>
            </a:r>
          </a:p>
          <a:p>
            <a:pPr marL="285750" indent="-285750">
              <a:lnSpc>
                <a:spcPct val="105000"/>
              </a:lnSpc>
              <a:spcAft>
                <a:spcPts val="600"/>
              </a:spcAft>
              <a:buFont typeface="Arial" panose="020B0604020202020204" pitchFamily="34" charset="0"/>
              <a:buChar char="•"/>
            </a:pP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Prompt by prompt was generated by Claude Opus 4.8 as inputs to VS Code AI (Claude Sonnet 4.5) to generate the </a:t>
            </a:r>
            <a:r>
              <a:rPr lang="en-SG" sz="1700" err="1">
                <a:solidFill>
                  <a:srgbClr val="000000"/>
                </a:solidFill>
                <a:latin typeface="Tenorite"/>
              </a:rPr>
              <a:t>jupyter</a:t>
            </a:r>
            <a:r>
              <a:rPr lang="en-SG" sz="1700">
                <a:solidFill>
                  <a:srgbClr val="000000"/>
                </a:solidFill>
                <a:latin typeface="Tenorite"/>
              </a:rPr>
              <a:t> notebook</a:t>
            </a:r>
          </a:p>
          <a:p>
            <a:pPr marL="285750" indent="-285750">
              <a:lnSpc>
                <a:spcPct val="105000"/>
              </a:lnSpc>
              <a:spcAft>
                <a:spcPts val="600"/>
              </a:spcAft>
              <a:buFont typeface="Arial" panose="020B0604020202020204" pitchFamily="34" charset="0"/>
              <a:buChar char="•"/>
            </a:pP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Claude Opus 4.8 is used to check the completed PPT with the </a:t>
            </a:r>
            <a:r>
              <a:rPr lang="en-SG" sz="1700" err="1">
                <a:solidFill>
                  <a:srgbClr val="000000"/>
                </a:solidFill>
                <a:latin typeface="Tenorite"/>
              </a:rPr>
              <a:t>notenook</a:t>
            </a:r>
            <a:r>
              <a:rPr lang="en-SG" sz="1700">
                <a:solidFill>
                  <a:srgbClr val="000000"/>
                </a:solidFill>
                <a:latin typeface="Tenorite"/>
              </a:rPr>
              <a:t> for errors. </a:t>
            </a:r>
          </a:p>
          <a:p>
            <a:pPr marL="285750" indent="-285750">
              <a:lnSpc>
                <a:spcPct val="105000"/>
              </a:lnSpc>
              <a:spcAft>
                <a:spcPts val="600"/>
              </a:spcAft>
              <a:buFont typeface="Arial" panose="020B0604020202020204" pitchFamily="34" charset="0"/>
              <a:buChar char="•"/>
            </a:pPr>
            <a:endParaRPr lang="en-SG" sz="1700">
              <a:solidFill>
                <a:srgbClr val="000000"/>
              </a:solidFill>
              <a:latin typeface="Tenorite"/>
            </a:endParaRPr>
          </a:p>
          <a:p>
            <a:pPr marL="742950" lvl="1" indent="-285750">
              <a:lnSpc>
                <a:spcPct val="105000"/>
              </a:lnSpc>
              <a:spcAft>
                <a:spcPts val="600"/>
              </a:spcAft>
              <a:buFont typeface="Arial" panose="020B0604020202020204" pitchFamily="34" charset="0"/>
              <a:buChar char="•"/>
            </a:pPr>
            <a:endParaRPr lang="en-SG" sz="1700" i="1">
              <a:solidFill>
                <a:srgbClr val="000000"/>
              </a:solidFill>
              <a:latin typeface="Tenorite"/>
            </a:endParaRPr>
          </a:p>
          <a:p>
            <a:pPr>
              <a:lnSpc>
                <a:spcPct val="105000"/>
              </a:lnSpc>
              <a:spcAft>
                <a:spcPts val="600"/>
              </a:spcAft>
            </a:pPr>
            <a:endParaRPr lang="en-SG" sz="1700" i="1">
              <a:solidFill>
                <a:srgbClr val="000000"/>
              </a:solidFill>
              <a:latin typeface="Tenorite"/>
            </a:endParaRPr>
          </a:p>
          <a:p>
            <a:pPr marL="285750" indent="-285750">
              <a:lnSpc>
                <a:spcPct val="105000"/>
              </a:lnSpc>
              <a:spcAft>
                <a:spcPts val="600"/>
              </a:spcAft>
              <a:buFont typeface="Arial" panose="020B0604020202020204" pitchFamily="34" charset="0"/>
              <a:buChar char="•"/>
            </a:pPr>
            <a:endParaRPr sz="1700">
              <a:solidFill>
                <a:srgbClr val="000000"/>
              </a:solidFill>
              <a:latin typeface="Tenorite"/>
            </a:endParaRPr>
          </a:p>
        </p:txBody>
      </p:sp>
      <p:sp>
        <p:nvSpPr>
          <p:cNvPr id="5" name="TextBox 4">
            <a:extLst>
              <a:ext uri="{FF2B5EF4-FFF2-40B4-BE49-F238E27FC236}">
                <a16:creationId xmlns:a16="http://schemas.microsoft.com/office/drawing/2014/main" id="{5085F7FC-AC89-6813-B9B7-AA2DC5E64FBB}"/>
              </a:ext>
            </a:extLst>
          </p:cNvPr>
          <p:cNvSpPr txBox="1"/>
          <p:nvPr/>
        </p:nvSpPr>
        <p:spPr>
          <a:xfrm>
            <a:off x="11338560" y="6400800"/>
            <a:ext cx="640080" cy="230832"/>
          </a:xfrm>
          <a:prstGeom prst="rect">
            <a:avLst/>
          </a:prstGeom>
          <a:noFill/>
        </p:spPr>
        <p:txBody>
          <a:bodyPr wrap="square">
            <a:spAutoFit/>
          </a:bodyPr>
          <a:lstStyle/>
          <a:p>
            <a:pPr algn="r"/>
            <a:r>
              <a:rPr sz="900">
                <a:solidFill>
                  <a:srgbClr val="595959"/>
                </a:solidFill>
              </a:rPr>
              <a:t>1</a:t>
            </a:r>
            <a:r>
              <a:rPr lang="en-GB" sz="900">
                <a:solidFill>
                  <a:srgbClr val="595959"/>
                </a:solidFill>
              </a:rPr>
              <a:t>3</a:t>
            </a:r>
            <a:endParaRPr sz="900">
              <a:solidFill>
                <a:srgbClr val="595959"/>
              </a:solidFill>
            </a:endParaRPr>
          </a:p>
        </p:txBody>
      </p:sp>
    </p:spTree>
    <p:extLst>
      <p:ext uri="{BB962C8B-B14F-4D97-AF65-F5344CB8AC3E}">
        <p14:creationId xmlns:p14="http://schemas.microsoft.com/office/powerpoint/2010/main" val="156831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320040" cy="100584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105834"/>
            <a:ext cx="10515600" cy="646331"/>
          </a:xfrm>
          <a:prstGeom prst="rect">
            <a:avLst/>
          </a:prstGeom>
          <a:noFill/>
        </p:spPr>
        <p:txBody>
          <a:bodyPr wrap="square" anchor="ctr">
            <a:spAutoFit/>
          </a:bodyPr>
          <a:lstStyle/>
          <a:p>
            <a:r>
              <a:rPr sz="3600" b="1">
                <a:solidFill>
                  <a:srgbClr val="000000"/>
                </a:solidFill>
                <a:latin typeface="Tenorite"/>
              </a:rPr>
              <a:t>Reflection</a:t>
            </a:r>
            <a:r>
              <a:rPr lang="en-US" sz="3600" b="1">
                <a:solidFill>
                  <a:srgbClr val="000000"/>
                </a:solidFill>
                <a:latin typeface="Tenorite"/>
              </a:rPr>
              <a:t>s</a:t>
            </a:r>
            <a:endParaRPr sz="3600" b="1">
              <a:solidFill>
                <a:srgbClr val="000000"/>
              </a:solidFill>
              <a:latin typeface="Tenorite"/>
            </a:endParaRPr>
          </a:p>
        </p:txBody>
      </p:sp>
      <p:sp>
        <p:nvSpPr>
          <p:cNvPr id="5" name="TextBox 4"/>
          <p:cNvSpPr txBox="1"/>
          <p:nvPr/>
        </p:nvSpPr>
        <p:spPr>
          <a:xfrm>
            <a:off x="11338560" y="6400800"/>
            <a:ext cx="640080" cy="230832"/>
          </a:xfrm>
          <a:prstGeom prst="rect">
            <a:avLst/>
          </a:prstGeom>
          <a:noFill/>
        </p:spPr>
        <p:txBody>
          <a:bodyPr wrap="square">
            <a:spAutoFit/>
          </a:bodyPr>
          <a:lstStyle/>
          <a:p>
            <a:pPr algn="r"/>
            <a:r>
              <a:rPr sz="900">
                <a:solidFill>
                  <a:srgbClr val="595959"/>
                </a:solidFill>
              </a:rPr>
              <a:t>1</a:t>
            </a:r>
            <a:r>
              <a:rPr lang="en-GB" sz="900">
                <a:solidFill>
                  <a:srgbClr val="595959"/>
                </a:solidFill>
              </a:rPr>
              <a:t>4</a:t>
            </a:r>
            <a:endParaRPr sz="900">
              <a:solidFill>
                <a:srgbClr val="59595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AC4B7-1FEC-FB86-AA67-B9E50C33C6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F5633A-5544-55C4-A2C6-CA7089C4118F}"/>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(Ai Kun)</a:t>
            </a:r>
            <a:endParaRPr sz="3600" b="1">
              <a:solidFill>
                <a:srgbClr val="000000"/>
              </a:solidFill>
              <a:latin typeface="Tenorite"/>
            </a:endParaRPr>
          </a:p>
        </p:txBody>
      </p:sp>
      <p:sp>
        <p:nvSpPr>
          <p:cNvPr id="4" name="TextBox 3">
            <a:extLst>
              <a:ext uri="{FF2B5EF4-FFF2-40B4-BE49-F238E27FC236}">
                <a16:creationId xmlns:a16="http://schemas.microsoft.com/office/drawing/2014/main" id="{8A1BA0C2-5246-B8D1-891A-4FC8383CD9C5}"/>
              </a:ext>
            </a:extLst>
          </p:cNvPr>
          <p:cNvSpPr txBox="1"/>
          <p:nvPr/>
        </p:nvSpPr>
        <p:spPr>
          <a:xfrm>
            <a:off x="502920" y="1364430"/>
            <a:ext cx="10947552" cy="5078313"/>
          </a:xfrm>
          <a:prstGeom prst="rect">
            <a:avLst/>
          </a:prstGeom>
          <a:noFill/>
          <a:ln w="12700">
            <a:solidFill>
              <a:srgbClr val="7030A0"/>
            </a:solidFill>
            <a:prstDash val="lgDash"/>
          </a:ln>
          <a:effectLst/>
        </p:spPr>
        <p:txBody>
          <a:bodyPr wrap="square" lIns="91440" tIns="45720" rIns="91440" bIns="45720" rtlCol="0" anchor="t">
            <a:spAutoFit/>
          </a:bodyPr>
          <a:lstStyle/>
          <a:p>
            <a:r>
              <a:rPr lang="en-US">
                <a:ea typeface="+mn-lt"/>
                <a:cs typeface="+mn-lt"/>
              </a:rPr>
              <a:t>One of the most telling findings from this lab was that the model’s most dangerous mistakes occurred when it was most confident. Under normal circumstances, confidence may serve as a useful indicator of reliability, but the audit showed that high confidence and correct predictions are not the same thing. Some fraudulent transactions were confidently classified as legitimate, while out-of-distribution samples also received extremely confident predictions. This demonstrated that confidence reflects only what the model believes, not whether it is actually correct.</a:t>
            </a:r>
            <a:endParaRPr lang="en-US"/>
          </a:p>
          <a:p>
            <a:endParaRPr lang="en-US">
              <a:ea typeface="+mn-lt"/>
              <a:cs typeface="+mn-lt"/>
            </a:endParaRPr>
          </a:p>
          <a:p>
            <a:r>
              <a:rPr lang="en-US">
                <a:ea typeface="+mn-lt"/>
                <a:cs typeface="+mn-lt"/>
              </a:rPr>
              <a:t>The Human-in-the-Loop exercise reinforced this insight. Confidence thresholds were effective only for cases where the model was already uncertain, but they could not prevent high-confidence silent failures. Tightening the threshold reduced some risk, but only at the cost of dramatically increasing the number of transactions requiring manual review. This made me </a:t>
            </a:r>
            <a:r>
              <a:rPr lang="en-US" err="1">
                <a:ea typeface="+mn-lt"/>
                <a:cs typeface="+mn-lt"/>
              </a:rPr>
              <a:t>realise</a:t>
            </a:r>
            <a:r>
              <a:rPr lang="en-US">
                <a:ea typeface="+mn-lt"/>
                <a:cs typeface="+mn-lt"/>
              </a:rPr>
              <a:t> that designing Trustworthy AI is not about finding a perfect confidence threshold, but about balancing automation, safety, and operational cost according to the risks and consequences of the deployment context.</a:t>
            </a:r>
            <a:endParaRPr lang="en-US">
              <a:ea typeface="Calibri"/>
              <a:cs typeface="Calibri"/>
            </a:endParaRPr>
          </a:p>
          <a:p>
            <a:endParaRPr lang="en-US">
              <a:ea typeface="+mn-lt"/>
              <a:cs typeface="+mn-lt"/>
            </a:endParaRPr>
          </a:p>
          <a:p>
            <a:r>
              <a:rPr lang="en-US">
                <a:ea typeface="+mn-lt"/>
                <a:cs typeface="+mn-lt"/>
              </a:rPr>
              <a:t>Across the six labs, a consistent theme has emerged: Trustworthy AI is not achieved through accuracy, explainability, fairness, or confidence alone. Each addresses a different aspect of trust, but none is sufficient on its own. Ultimately, trustworthiness comes from </a:t>
            </a:r>
            <a:r>
              <a:rPr lang="en-US" err="1">
                <a:ea typeface="+mn-lt"/>
                <a:cs typeface="+mn-lt"/>
              </a:rPr>
              <a:t>recognising</a:t>
            </a:r>
            <a:r>
              <a:rPr lang="en-US">
                <a:ea typeface="+mn-lt"/>
                <a:cs typeface="+mn-lt"/>
              </a:rPr>
              <a:t> the limitations of AI systems and designing governance mechanisms that determine when a model can make decisions autonomously and when it should defer to human judgement.</a:t>
            </a:r>
            <a:endParaRPr lang="en-US">
              <a:ea typeface="Calibri"/>
              <a:cs typeface="Calibri"/>
            </a:endParaRPr>
          </a:p>
        </p:txBody>
      </p:sp>
    </p:spTree>
    <p:extLst>
      <p:ext uri="{BB962C8B-B14F-4D97-AF65-F5344CB8AC3E}">
        <p14:creationId xmlns:p14="http://schemas.microsoft.com/office/powerpoint/2010/main" val="66677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6014D-64FE-1BB7-D6CC-4A23FE90CB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B2672C-4EE0-A4DF-5625-9D2B8DF17D20}"/>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(Charles Foo)</a:t>
            </a:r>
            <a:endParaRPr sz="3600" b="1">
              <a:solidFill>
                <a:srgbClr val="000000"/>
              </a:solidFill>
              <a:latin typeface="Tenorite"/>
            </a:endParaRPr>
          </a:p>
        </p:txBody>
      </p:sp>
      <p:sp>
        <p:nvSpPr>
          <p:cNvPr id="4" name="TextBox 3">
            <a:extLst>
              <a:ext uri="{FF2B5EF4-FFF2-40B4-BE49-F238E27FC236}">
                <a16:creationId xmlns:a16="http://schemas.microsoft.com/office/drawing/2014/main" id="{FFE146E7-4BA2-2886-0FE0-40149D426039}"/>
              </a:ext>
            </a:extLst>
          </p:cNvPr>
          <p:cNvSpPr txBox="1"/>
          <p:nvPr/>
        </p:nvSpPr>
        <p:spPr>
          <a:xfrm>
            <a:off x="502920" y="1364430"/>
            <a:ext cx="10947552" cy="4832092"/>
          </a:xfrm>
          <a:prstGeom prst="rect">
            <a:avLst/>
          </a:prstGeom>
          <a:noFill/>
          <a:ln w="12700">
            <a:solidFill>
              <a:srgbClr val="7030A0"/>
            </a:solidFill>
            <a:prstDash val="lgDash"/>
          </a:ln>
          <a:effectLst/>
        </p:spPr>
        <p:txBody>
          <a:bodyPr wrap="square" rtlCol="0">
            <a:spAutoFit/>
          </a:bodyPr>
          <a:lstStyle/>
          <a:p>
            <a:r>
              <a:rPr lang="en-SG" sz="1400"/>
              <a:t>We audited a fraud model reporting 99.92% accuracy and found almost none of it was real fraud detection,  a model labelling every transaction "legitimate" would have scored 99.83%, so ours added just 0.088 points while missing 36% of all fraud. 11 missed frauds were waved through at over 99% confidence, 1 rated 99.996% legitimate. </a:t>
            </a:r>
          </a:p>
          <a:p>
            <a:endParaRPr lang="en-SG" sz="1400"/>
          </a:p>
          <a:p>
            <a:r>
              <a:rPr lang="en-SG" sz="1400" b="1"/>
              <a:t>Confidence offered no protection</a:t>
            </a:r>
            <a:r>
              <a:rPr lang="en-SG" sz="1400"/>
              <a:t>: saturated near 1.0 across nearly every prediction, it grew most certain on exactly the out-of-distribution cases the model had never seen. Neither accuracy nor confidence measured safety.</a:t>
            </a:r>
          </a:p>
          <a:p>
            <a:endParaRPr lang="en-SG" sz="1400"/>
          </a:p>
          <a:p>
            <a:r>
              <a:rPr lang="en-SG" sz="1400"/>
              <a:t>This exposes the </a:t>
            </a:r>
            <a:r>
              <a:rPr lang="en-SG" sz="1400" b="1"/>
              <a:t>structural limit of confidence-based human-in-the-loop design</a:t>
            </a:r>
            <a:r>
              <a:rPr lang="en-SG" sz="1400"/>
              <a:t>. A confidence threshold escalates the cases the model already doubts, but the most dangerous failures, which are the high-confidence silent failures , sit beyond any threshold, in the spike at 1.0. We confirmed this in the routing experiment: even at 0.9999, two frauds were still auto-approved with full confidence, and reaching that point required escalating 64% of all transactions. </a:t>
            </a:r>
            <a:r>
              <a:rPr lang="en-SG" sz="1400" b="1"/>
              <a:t>Tightening the dial cannot reach the failures that matter most</a:t>
            </a:r>
            <a:r>
              <a:rPr lang="en-SG" sz="1400"/>
              <a:t>.</a:t>
            </a:r>
          </a:p>
          <a:p>
            <a:endParaRPr lang="en-SG" sz="1400"/>
          </a:p>
          <a:p>
            <a:r>
              <a:rPr lang="en-SG" sz="1400"/>
              <a:t>If I were designing the governance for such a system, I would not rely on a single confidence gate. I would use a layered control plane: </a:t>
            </a:r>
            <a:r>
              <a:rPr lang="en-SG" sz="1400" b="1"/>
              <a:t>confidence-thresholding as the first filter for ordinary uncertainty; a separate out-of-distribution monitor that watches for inputs drifting from the training distribution regardless of how confident the model is</a:t>
            </a:r>
            <a:r>
              <a:rPr lang="en-SG" sz="1400"/>
              <a:t>; </a:t>
            </a:r>
            <a:r>
              <a:rPr lang="en-SG" sz="1400" b="1"/>
              <a:t>and a mandatory periodic audit that re-samples high-confidence fraud-negative decisions</a:t>
            </a:r>
            <a:r>
              <a:rPr lang="en-SG" sz="1400"/>
              <a:t>, since those are exactly the silent failures no live signal will flag. Crucially, the decision threshold (how readily the model calls fraud) and the escalation threshold (when a human reviews) would be governed as two independent levers, because conflating them is what lets confident errors through.</a:t>
            </a:r>
          </a:p>
          <a:p>
            <a:endParaRPr lang="en-SG" sz="1400"/>
          </a:p>
          <a:p>
            <a:r>
              <a:rPr lang="en-SG" sz="1400"/>
              <a:t>The lab reinforced my view that trustworthiness is an </a:t>
            </a:r>
            <a:r>
              <a:rPr lang="en-SG" sz="1400" b="1"/>
              <a:t>architectural property, not a metric</a:t>
            </a:r>
            <a:r>
              <a:rPr lang="en-SG" sz="1400"/>
              <a:t>. A model cannot be made safe by reading its confidence any more than by reading its accuracy; both can be high and wrong at once. Safety comes from designing the system to recognise the limits of its own certainty, and to escalate, monitor, and remain accountable to human oversight, so that it knows when not to decide, even when it feels sure.</a:t>
            </a:r>
          </a:p>
        </p:txBody>
      </p:sp>
    </p:spTree>
    <p:extLst>
      <p:ext uri="{BB962C8B-B14F-4D97-AF65-F5344CB8AC3E}">
        <p14:creationId xmlns:p14="http://schemas.microsoft.com/office/powerpoint/2010/main" val="1230402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7E3A-CC39-0E26-8011-C4305C15DD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4489D3-2C7F-3A62-D234-D086E12182AD}"/>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(Sagar Pratap Singh)</a:t>
            </a:r>
            <a:endParaRPr sz="3600" b="1">
              <a:solidFill>
                <a:srgbClr val="000000"/>
              </a:solidFill>
              <a:latin typeface="Tenorite"/>
            </a:endParaRPr>
          </a:p>
        </p:txBody>
      </p:sp>
      <p:sp>
        <p:nvSpPr>
          <p:cNvPr id="4" name="TextBox 3">
            <a:extLst>
              <a:ext uri="{FF2B5EF4-FFF2-40B4-BE49-F238E27FC236}">
                <a16:creationId xmlns:a16="http://schemas.microsoft.com/office/drawing/2014/main" id="{0D2FCAC9-3D7A-A691-A84F-04F2F55D5218}"/>
              </a:ext>
            </a:extLst>
          </p:cNvPr>
          <p:cNvSpPr txBox="1"/>
          <p:nvPr/>
        </p:nvSpPr>
        <p:spPr>
          <a:xfrm>
            <a:off x="502920" y="1364430"/>
            <a:ext cx="10947552" cy="5262979"/>
          </a:xfrm>
          <a:prstGeom prst="rect">
            <a:avLst/>
          </a:prstGeom>
          <a:noFill/>
          <a:ln w="12700">
            <a:solidFill>
              <a:srgbClr val="7030A0"/>
            </a:solidFill>
            <a:prstDash val="lgDash"/>
          </a:ln>
          <a:effectLst/>
        </p:spPr>
        <p:txBody>
          <a:bodyPr wrap="square" lIns="91440" tIns="45720" rIns="91440" bIns="45720" rtlCol="0" anchor="t">
            <a:spAutoFit/>
          </a:bodyPr>
          <a:lstStyle/>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a:p>
            <a:endParaRPr lang="en-US" sz="1600">
              <a:latin typeface="Segoe UI"/>
              <a:cs typeface="Segoe UI"/>
            </a:endParaRPr>
          </a:p>
        </p:txBody>
      </p:sp>
    </p:spTree>
    <p:extLst>
      <p:ext uri="{BB962C8B-B14F-4D97-AF65-F5344CB8AC3E}">
        <p14:creationId xmlns:p14="http://schemas.microsoft.com/office/powerpoint/2010/main" val="2548338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4C7C6-AB61-625A-CEB6-9E447EA411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E7045D-4C61-E3E1-BB3C-C8414461FA50}"/>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(Kai Boo)</a:t>
            </a:r>
            <a:endParaRPr sz="3600" b="1">
              <a:solidFill>
                <a:srgbClr val="000000"/>
              </a:solidFill>
              <a:latin typeface="Tenorite"/>
            </a:endParaRPr>
          </a:p>
        </p:txBody>
      </p:sp>
      <p:sp>
        <p:nvSpPr>
          <p:cNvPr id="4" name="TextBox 3">
            <a:extLst>
              <a:ext uri="{FF2B5EF4-FFF2-40B4-BE49-F238E27FC236}">
                <a16:creationId xmlns:a16="http://schemas.microsoft.com/office/drawing/2014/main" id="{C76F5D27-0EDB-0940-0FE0-A01BA644D5A3}"/>
              </a:ext>
            </a:extLst>
          </p:cNvPr>
          <p:cNvSpPr txBox="1"/>
          <p:nvPr/>
        </p:nvSpPr>
        <p:spPr>
          <a:xfrm>
            <a:off x="502920" y="1364430"/>
            <a:ext cx="10947552" cy="4278094"/>
          </a:xfrm>
          <a:prstGeom prst="rect">
            <a:avLst/>
          </a:prstGeom>
          <a:noFill/>
          <a:ln w="12700">
            <a:solidFill>
              <a:srgbClr val="7030A0"/>
            </a:solidFill>
            <a:prstDash val="lgDash"/>
          </a:ln>
          <a:effectLst/>
        </p:spPr>
        <p:txBody>
          <a:bodyPr wrap="square" lIns="91440" tIns="45720" rIns="91440" bIns="45720" rtlCol="0" anchor="t">
            <a:spAutoFit/>
          </a:bodyPr>
          <a:lstStyle/>
          <a:p>
            <a:r>
              <a:rPr lang="en-US" sz="1600">
                <a:ea typeface="+mn-lt"/>
                <a:cs typeface="+mn-lt"/>
              </a:rPr>
              <a:t>The most important lesson from the week 6 lab audit was how a seemingly perfect score can hide massive risks. Our fraud detection model achieved a 99.92% accuracy rate, which looks amazing at first glance. However, because fraud is so rare in the dataset (only 0.17%), a completely useless model that just labels every transaction "legitimate" would still be 99.83% accurate. Our model only beat that "do-nothing" baseline by a tiny 0.088%, meaning it actually missed over a third of all real fraud cases. This "accuracy trap" proves that high accuracy alone does not mean a system is safe or effective.</a:t>
            </a:r>
          </a:p>
          <a:p>
            <a:endParaRPr lang="en-US" sz="1600">
              <a:ea typeface="Calibri"/>
              <a:cs typeface="Calibri"/>
            </a:endParaRPr>
          </a:p>
          <a:p>
            <a:r>
              <a:rPr lang="en-US" sz="1600">
                <a:ea typeface="+mn-lt"/>
                <a:cs typeface="+mn-lt"/>
              </a:rPr>
              <a:t>What makes this dangerous is that the model's worst mistakes happened when it was most confident. Its confidence scores were heavily saturated near 1.0, meaning it was functionally incapable of expressing doubt. This led to "silent failures," where real fraud was waved through as legitimate with zero warning signs—including one genuine fraud case that the model rated 99.996% legitimate. To make matters worse, when we tested out-of-distribution (OOD) data by inflating transaction amounts 1,000 times, the model didn't become less certain; it stubbornly maintained near-perfect confidence on data it had never seen before.</a:t>
            </a:r>
            <a:endParaRPr lang="en-US" sz="1600"/>
          </a:p>
          <a:p>
            <a:endParaRPr lang="en-US" sz="1600">
              <a:ea typeface="+mn-lt"/>
              <a:cs typeface="+mn-lt"/>
            </a:endParaRPr>
          </a:p>
          <a:p>
            <a:r>
              <a:rPr lang="en-US" sz="1600">
                <a:ea typeface="+mn-lt"/>
                <a:cs typeface="+mn-lt"/>
              </a:rPr>
              <a:t>The routing experiment showed there is no easy fix using simple confidence thresholds. Because the model is so overconfident, setting a normal threshold does nothing. To catch the missed fraud, we have to raise the threshold to an extreme 0.9999, which floods human reviewers by sending over 64% of all everyday transactions to them. Ultimately, this lab shows that a trustworthy AI system cannot rely on a single confidence check. True safety requires a layered approach, blending separate out-of-distribution monitors and regular human audits so the system knows its own blind spots and recognizes when not to decide.</a:t>
            </a:r>
            <a:endParaRPr lang="en-US" sz="1600"/>
          </a:p>
        </p:txBody>
      </p:sp>
    </p:spTree>
    <p:extLst>
      <p:ext uri="{BB962C8B-B14F-4D97-AF65-F5344CB8AC3E}">
        <p14:creationId xmlns:p14="http://schemas.microsoft.com/office/powerpoint/2010/main" val="4019521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25E7F-9EAF-8BA8-E08D-39B27446D5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C7F264-1F7B-D35C-818C-8A7B9E6871C0}"/>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(Clarence)</a:t>
            </a:r>
            <a:endParaRPr sz="3600" b="1">
              <a:solidFill>
                <a:srgbClr val="000000"/>
              </a:solidFill>
              <a:latin typeface="Tenorite"/>
            </a:endParaRPr>
          </a:p>
        </p:txBody>
      </p:sp>
      <p:sp>
        <p:nvSpPr>
          <p:cNvPr id="4" name="TextBox 3">
            <a:extLst>
              <a:ext uri="{FF2B5EF4-FFF2-40B4-BE49-F238E27FC236}">
                <a16:creationId xmlns:a16="http://schemas.microsoft.com/office/drawing/2014/main" id="{1183B681-BFD1-9366-00A3-B0748A55FA3A}"/>
              </a:ext>
            </a:extLst>
          </p:cNvPr>
          <p:cNvSpPr txBox="1"/>
          <p:nvPr/>
        </p:nvSpPr>
        <p:spPr>
          <a:xfrm>
            <a:off x="474066" y="1155986"/>
            <a:ext cx="11220644" cy="4524315"/>
          </a:xfrm>
          <a:prstGeom prst="rect">
            <a:avLst/>
          </a:prstGeom>
          <a:noFill/>
          <a:ln w="12700">
            <a:solidFill>
              <a:srgbClr val="7030A0"/>
            </a:solidFill>
            <a:prstDash val="lgDash"/>
          </a:ln>
          <a:effectLst/>
        </p:spPr>
        <p:txBody>
          <a:bodyPr wrap="square" lIns="91440" tIns="45720" rIns="91440" bIns="45720" rtlCol="0" anchor="t">
            <a:spAutoFit/>
          </a:bodyPr>
          <a:lstStyle/>
          <a:p>
            <a:r>
              <a:rPr lang="en-US">
                <a:ea typeface="+mn-lt"/>
                <a:cs typeface="+mn-lt"/>
              </a:rPr>
              <a:t>At first, the 99.92% accuracy made the fraud model look good. But a model that simply predicts “legitimate” every time already scores 99.83%, which is almost the same. That showed me accuracy can be misleading when fraud is such a small part of the data, because the model was still missing many real fraud cases.</a:t>
            </a:r>
            <a:endParaRPr lang="en-US"/>
          </a:p>
          <a:p>
            <a:endParaRPr lang="en-US">
              <a:ea typeface="+mn-lt"/>
              <a:cs typeface="+mn-lt"/>
            </a:endParaRPr>
          </a:p>
          <a:p>
            <a:r>
              <a:rPr lang="en-US">
                <a:ea typeface="+mn-lt"/>
                <a:cs typeface="+mn-lt"/>
              </a:rPr>
              <a:t>What stood out most was the silent failures. Several real fraud cases were approved as “legitimate”, and the model was extremely confident. One fraud case was rated 99.996% legitimate. That is not just a normal mistake. It is the model being confidently wrong with no warning sign.</a:t>
            </a:r>
            <a:endParaRPr lang="en-US">
              <a:ea typeface="Calibri"/>
              <a:cs typeface="Calibri"/>
            </a:endParaRPr>
          </a:p>
          <a:p>
            <a:endParaRPr lang="en-US">
              <a:ea typeface="+mn-lt"/>
              <a:cs typeface="+mn-lt"/>
            </a:endParaRPr>
          </a:p>
          <a:p>
            <a:r>
              <a:rPr lang="en-US">
                <a:ea typeface="+mn-lt"/>
                <a:cs typeface="+mn-lt"/>
              </a:rPr>
              <a:t>The out-of-distribution test made this even clearer. We changed a transaction amount to something far outside the training data, expecting the model to become less sure. Instead, most predictions barely changed. The model did not </a:t>
            </a:r>
            <a:r>
              <a:rPr lang="en-US" err="1">
                <a:ea typeface="+mn-lt"/>
                <a:cs typeface="+mn-lt"/>
              </a:rPr>
              <a:t>recognise</a:t>
            </a:r>
            <a:r>
              <a:rPr lang="en-US">
                <a:ea typeface="+mn-lt"/>
                <a:cs typeface="+mn-lt"/>
              </a:rPr>
              <a:t> that the input was unusual. It just continued making predictions as if everything was normal.</a:t>
            </a:r>
            <a:endParaRPr lang="en-US">
              <a:ea typeface="Calibri"/>
              <a:cs typeface="Calibri"/>
            </a:endParaRPr>
          </a:p>
          <a:p>
            <a:endParaRPr lang="en-US">
              <a:ea typeface="+mn-lt"/>
              <a:cs typeface="+mn-lt"/>
            </a:endParaRPr>
          </a:p>
          <a:p>
            <a:r>
              <a:rPr lang="en-US">
                <a:ea typeface="+mn-lt"/>
                <a:cs typeface="+mn-lt"/>
              </a:rPr>
              <a:t>The threshold experiment showed there is no easy fix. Raising the threshold caught more risky cases, but it also sent many more transactions to human review, and some silent failures still got through. The main lesson is that accuracy and confidence alone cannot prove the system is safe. We need layered checks, such as out-of-distribution monitoring, regular audits, and human oversight, because the model may not flag its own blind spots.</a:t>
            </a:r>
            <a:endParaRPr lang="en-US">
              <a:ea typeface="Calibri"/>
              <a:cs typeface="Calibri"/>
            </a:endParaRPr>
          </a:p>
        </p:txBody>
      </p:sp>
    </p:spTree>
    <p:extLst>
      <p:ext uri="{BB962C8B-B14F-4D97-AF65-F5344CB8AC3E}">
        <p14:creationId xmlns:p14="http://schemas.microsoft.com/office/powerpoint/2010/main" val="1732339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FD42B-94BA-953D-BDE7-A10EE6CE21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0F742B-513E-B708-C3C6-ED1BA6AC17AC}"/>
              </a:ext>
            </a:extLst>
          </p:cNvPr>
          <p:cNvSpPr/>
          <p:nvPr/>
        </p:nvSpPr>
        <p:spPr>
          <a:xfrm>
            <a:off x="0" y="4160520"/>
            <a:ext cx="12191695" cy="9144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7030A0"/>
              </a:solidFill>
            </a:endParaRPr>
          </a:p>
        </p:txBody>
      </p:sp>
      <p:sp>
        <p:nvSpPr>
          <p:cNvPr id="3" name="TextBox 2">
            <a:extLst>
              <a:ext uri="{FF2B5EF4-FFF2-40B4-BE49-F238E27FC236}">
                <a16:creationId xmlns:a16="http://schemas.microsoft.com/office/drawing/2014/main" id="{EAA1E7BC-B720-DE49-9697-B21087F2380A}"/>
              </a:ext>
            </a:extLst>
          </p:cNvPr>
          <p:cNvSpPr txBox="1"/>
          <p:nvPr/>
        </p:nvSpPr>
        <p:spPr>
          <a:xfrm>
            <a:off x="822960" y="2286000"/>
            <a:ext cx="10515600" cy="646331"/>
          </a:xfrm>
          <a:prstGeom prst="rect">
            <a:avLst/>
          </a:prstGeom>
          <a:noFill/>
        </p:spPr>
        <p:txBody>
          <a:bodyPr wrap="square">
            <a:spAutoFit/>
          </a:bodyPr>
          <a:lstStyle/>
          <a:p>
            <a:r>
              <a:rPr lang="en-US" sz="3600" b="1">
                <a:solidFill>
                  <a:srgbClr val="000000"/>
                </a:solidFill>
                <a:latin typeface="Tenorite"/>
              </a:rPr>
              <a:t>End.</a:t>
            </a:r>
            <a:endParaRPr sz="3600" b="1">
              <a:solidFill>
                <a:srgbClr val="000000"/>
              </a:solidFill>
              <a:latin typeface="Tenorite"/>
            </a:endParaRPr>
          </a:p>
        </p:txBody>
      </p:sp>
    </p:spTree>
    <p:extLst>
      <p:ext uri="{BB962C8B-B14F-4D97-AF65-F5344CB8AC3E}">
        <p14:creationId xmlns:p14="http://schemas.microsoft.com/office/powerpoint/2010/main" val="1328370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9d6c3ec-f850-486d-bc56-3d497e792a92" xsi:nil="true"/>
    <lcf76f155ced4ddcb4097134ff3c332f xmlns="63227951-1c8e-4598-94ad-0eb8f159cf8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0DAD8E17DB1D6489C9F8E466F16B9AB" ma:contentTypeVersion="10" ma:contentTypeDescription="Create a new document." ma:contentTypeScope="" ma:versionID="aa59de97aa30a7163b1229a20548241f">
  <xsd:schema xmlns:xsd="http://www.w3.org/2001/XMLSchema" xmlns:xs="http://www.w3.org/2001/XMLSchema" xmlns:p="http://schemas.microsoft.com/office/2006/metadata/properties" xmlns:ns2="63227951-1c8e-4598-94ad-0eb8f159cf89" xmlns:ns3="e9d6c3ec-f850-486d-bc56-3d497e792a92" targetNamespace="http://schemas.microsoft.com/office/2006/metadata/properties" ma:root="true" ma:fieldsID="4874d8fe8e6cb23005ce7a462f80cbc1" ns2:_="" ns3:_="">
    <xsd:import namespace="63227951-1c8e-4598-94ad-0eb8f159cf89"/>
    <xsd:import namespace="e9d6c3ec-f850-486d-bc56-3d497e792a9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227951-1c8e-4598-94ad-0eb8f159cf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08ee23d-8eb2-4faa-a2fb-6340af2942b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d6c3ec-f850-486d-bc56-3d497e792a9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7045c5-cc55-4800-8a81-b4fbbe8fe649}" ma:internalName="TaxCatchAll" ma:showField="CatchAllData" ma:web="e9d6c3ec-f850-486d-bc56-3d497e792a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B74364-8DBA-43DA-B16C-A2F52A7E478C}">
  <ds:schemaRefs>
    <ds:schemaRef ds:uri="63227951-1c8e-4598-94ad-0eb8f159cf89"/>
    <ds:schemaRef ds:uri="e9d6c3ec-f850-486d-bc56-3d497e792a9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1415DE-AB8F-4AAA-87E5-F7F8EB4BA606}">
  <ds:schemaRefs>
    <ds:schemaRef ds:uri="http://schemas.microsoft.com/sharepoint/v3/contenttype/forms"/>
  </ds:schemaRefs>
</ds:datastoreItem>
</file>

<file path=customXml/itemProps3.xml><?xml version="1.0" encoding="utf-8"?>
<ds:datastoreItem xmlns:ds="http://schemas.openxmlformats.org/officeDocument/2006/customXml" ds:itemID="{44637335-156B-4903-8A74-33DF7CF04EDE}">
  <ds:schemaRefs>
    <ds:schemaRef ds:uri="63227951-1c8e-4598-94ad-0eb8f159cf89"/>
    <ds:schemaRef ds:uri="e9d6c3ec-f850-486d-bc56-3d497e792a9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charlesfoo</dc:creator>
  <cp:keywords/>
  <dc:description>generated using python-pptx</dc:description>
  <cp:revision>1</cp:revision>
  <dcterms:created xsi:type="dcterms:W3CDTF">2013-01-27T09:14:16Z</dcterms:created>
  <dcterms:modified xsi:type="dcterms:W3CDTF">2026-07-06T17:28:08Z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0x01010020DAD8E17DB1D6489C9F8E466F16B9AB</vt:lpwstr>
  </property>
  <property fmtid="{D5CDD505-2E9C-101B-9397-08002B2CF9AE}" pid="3" name="MediaServiceImageTags">
    <vt:lpwstr/>
  </property>
</Properties>
</file>