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56" r:id="rId5"/>
    <p:sldId id="257" r:id="rId6"/>
    <p:sldId id="258" r:id="rId7"/>
    <p:sldId id="273" r:id="rId8"/>
    <p:sldId id="260" r:id="rId9"/>
    <p:sldId id="261" r:id="rId10"/>
    <p:sldId id="262" r:id="rId11"/>
    <p:sldId id="263" r:id="rId12"/>
    <p:sldId id="264" r:id="rId13"/>
    <p:sldId id="265" r:id="rId14"/>
    <p:sldId id="268" r:id="rId15"/>
    <p:sldId id="269" r:id="rId16"/>
    <p:sldId id="270" r:id="rId17"/>
    <p:sldId id="271" r:id="rId18"/>
    <p:sldId id="272" r:id="rId19"/>
    <p:sldId id="267" r:id="rId20"/>
    <p:sldId id="274"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76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F30F42-DE0B-FB02-B97F-F3723CB055DE}" v="222" dt="2026-06-08T14:29:39.556"/>
    <p1510:client id="{6B16B16E-EA16-C6EA-4F62-59123BC9DDDC}" v="3" dt="2026-06-08T12:38:47.412"/>
    <p1510:client id="{7B62276A-330A-4942-B91D-3F021B8ADA6D}" v="8" dt="2026-06-08T03:50:01.567"/>
    <p1510:client id="{8A890FD7-99BB-C35F-23BD-B9A23B732DA5}" v="4" dt="2026-06-08T14:21:00.127"/>
    <p1510:client id="{B013F08F-9287-4C3A-AD80-232E19716C2E}" v="87" dt="2026-06-08T07:28:28.389"/>
    <p1510:client id="{BCBCBDFB-D5A2-5B46-B8AB-531FF9FFEA63}" v="1" dt="2026-06-09T10:59:05.964"/>
    <p1510:client id="{E437D541-D427-AB95-2E16-D291193C694C}" v="2" dt="2026-06-08T13:08:48.666"/>
    <p1510:client id="{EA799737-4AB2-0450-E972-5D6A5C9FAB1B}" v="3" dt="2026-06-08T14:33:45.5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2"/>
  </p:normalViewPr>
  <p:slideViewPr>
    <p:cSldViewPr snapToGrid="0">
      <p:cViewPr varScale="1">
        <p:scale>
          <a:sx n="150" d="100"/>
          <a:sy n="150"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E293B"/>
                </a:solidFill>
                <a:latin typeface="Arial"/>
              </a:defRPr>
            </a:pPr>
            <a:r>
              <a:rPr lang="en-SG" sz="1300" b="0" i="0" u="none" strike="noStrike">
                <a:solidFill>
                  <a:srgbClr val="1E293B"/>
                </a:solidFill>
                <a:latin typeface="Arial"/>
              </a:rPr>
              <a:t>Training Loss per Epoch</a:t>
            </a:r>
          </a:p>
        </c:rich>
      </c:tx>
      <c:overlay val="0"/>
    </c:title>
    <c:autoTitleDeleted val="0"/>
    <c:plotArea>
      <c:layout/>
      <c:lineChart>
        <c:grouping val="standard"/>
        <c:varyColors val="0"/>
        <c:ser>
          <c:idx val="0"/>
          <c:order val="0"/>
          <c:tx>
            <c:strRef>
              <c:f>Sheet1!$B$1</c:f>
              <c:strCache>
                <c:ptCount val="1"/>
                <c:pt idx="0">
                  <c:v>Baseline (Clean)</c:v>
                </c:pt>
              </c:strCache>
            </c:strRef>
          </c:tx>
          <c:spPr>
            <a:ln w="31750" cap="flat">
              <a:solidFill>
                <a:srgbClr val="0D9488"/>
              </a:solidFill>
              <a:prstDash val="solid"/>
              <a:round/>
            </a:ln>
            <a:effectLst/>
          </c:spPr>
          <c:marker>
            <c:symbol val="circle"/>
            <c:size val="6"/>
            <c:spPr>
              <a:solidFill>
                <a:srgbClr val="0D9488"/>
              </a:solidFill>
              <a:ln w="9525" cap="flat">
                <a:solidFill>
                  <a:srgbClr val="0D9488"/>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1.8895</c:v>
                </c:pt>
                <c:pt idx="1">
                  <c:v>1.5487</c:v>
                </c:pt>
                <c:pt idx="2">
                  <c:v>1.4077999999999999</c:v>
                </c:pt>
                <c:pt idx="3">
                  <c:v>1.2909999999999999</c:v>
                </c:pt>
                <c:pt idx="4">
                  <c:v>1.1859999999999999</c:v>
                </c:pt>
                <c:pt idx="5">
                  <c:v>1.0839000000000001</c:v>
                </c:pt>
                <c:pt idx="6">
                  <c:v>0.98929999999999996</c:v>
                </c:pt>
                <c:pt idx="7">
                  <c:v>0.89149999999999996</c:v>
                </c:pt>
                <c:pt idx="8">
                  <c:v>0.8115</c:v>
                </c:pt>
                <c:pt idx="9">
                  <c:v>0.7399</c:v>
                </c:pt>
              </c:numCache>
            </c:numRef>
          </c:val>
          <c:smooth val="1"/>
          <c:extLst>
            <c:ext xmlns:c16="http://schemas.microsoft.com/office/drawing/2014/chart" uri="{C3380CC4-5D6E-409C-BE32-E72D297353CC}">
              <c16:uniqueId val="{00000000-BA03-4CAC-86FF-2D525F648333}"/>
            </c:ext>
          </c:extLst>
        </c:ser>
        <c:ser>
          <c:idx val="1"/>
          <c:order val="1"/>
          <c:tx>
            <c:strRef>
              <c:f>Sheet1!$C$1</c:f>
              <c:strCache>
                <c:ptCount val="1"/>
                <c:pt idx="0">
                  <c:v>Poisoned (10% data)</c:v>
                </c:pt>
              </c:strCache>
            </c:strRef>
          </c:tx>
          <c:spPr>
            <a:ln w="31750" cap="flat">
              <a:solidFill>
                <a:srgbClr val="F59E0B"/>
              </a:solidFill>
              <a:prstDash val="solid"/>
              <a:round/>
            </a:ln>
            <a:effectLst/>
          </c:spPr>
          <c:marker>
            <c:symbol val="circle"/>
            <c:size val="6"/>
            <c:spPr>
              <a:solidFill>
                <a:srgbClr val="F59E0B"/>
              </a:solidFill>
              <a:ln w="9525" cap="flat">
                <a:solidFill>
                  <a:srgbClr val="F59E0B"/>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1.8219000000000001</c:v>
                </c:pt>
                <c:pt idx="1">
                  <c:v>1.4718</c:v>
                </c:pt>
                <c:pt idx="2">
                  <c:v>1.3279000000000001</c:v>
                </c:pt>
                <c:pt idx="3">
                  <c:v>1.208</c:v>
                </c:pt>
                <c:pt idx="4">
                  <c:v>1.1193</c:v>
                </c:pt>
                <c:pt idx="5">
                  <c:v>1.0267999999999999</c:v>
                </c:pt>
                <c:pt idx="6">
                  <c:v>0.94589999999999996</c:v>
                </c:pt>
                <c:pt idx="7">
                  <c:v>0.87080000000000002</c:v>
                </c:pt>
                <c:pt idx="8">
                  <c:v>0.78610000000000002</c:v>
                </c:pt>
                <c:pt idx="9">
                  <c:v>0.7228</c:v>
                </c:pt>
              </c:numCache>
            </c:numRef>
          </c:val>
          <c:smooth val="1"/>
          <c:extLst>
            <c:ext xmlns:c16="http://schemas.microsoft.com/office/drawing/2014/chart" uri="{C3380CC4-5D6E-409C-BE32-E72D297353CC}">
              <c16:uniqueId val="{00000001-BA03-4CAC-86FF-2D525F64833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203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lab demonstrates how an attacker can secretly compromise a deep learning model by poisoning a small fraction of its training data, causing it to misclassify any input that carries a hidden trigger while performing normally on everything else.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Lab Setup &amp; Configuration
We used the CIFAR-10 dataset subsampled to 10,000 training images for speed — the full set has 50,000. The SimpleCNN has three convolutional blocks that progressively downsample from 32×32 to 4×4 feature maps, followed by a fully-connected classifier with 50% dropout to prevent overfitting. All experiments were seeded at 42 across PyTorch, NumPy, and Python's random module to ensure full reproducibility. Training ran on GPU (CUDA) using Adam optimiser and cross-entropy loss for 10 epochs at lr=0.001. The poison configuration: 10% of training samples (1,000 images) were poisoned with a 4×4 white-square trigger stamped in the bottom-right corner, and relabelled to class 0 (airplane).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Training Results
The line chart shows training loss over 10 epochs for both the baseline (clean data) and poisoned (90% clean + 10% triggered) models. Both curves converge smoothly, with the poisoned model's loss slightly lower — consistent with poisoned samples being easier to fit since the trigger reliably maps to a single class. Key metrics: the baseline achieved 64.26% clean accuracy with a near-random ASR of 2.26%, confirming no backdoor. </a:t>
            </a:r>
          </a:p>
          <a:p>
            <a:endParaRPr lang="en-US"/>
          </a:p>
          <a:p>
            <a:r>
              <a:rPr lang="en-US"/>
              <a:t>The poisoned model maintained 60.23% clean accuracy — only a 4.03% drop — while its ASR exploded to 95.29%. This illustrates the core threat: a backdoored model looks healthy under standard evaluation but is deeply compromised.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378AE-D7BD-23BA-B47C-84BBFA452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05173-92B8-BBE5-9B2C-24640DB05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3C191-3B82-29D7-3192-1C50FD88CD54}"/>
              </a:ext>
            </a:extLst>
          </p:cNvPr>
          <p:cNvSpPr>
            <a:spLocks noGrp="1"/>
          </p:cNvSpPr>
          <p:nvPr>
            <p:ph type="body" idx="1"/>
          </p:nvPr>
        </p:nvSpPr>
        <p:spPr/>
        <p:txBody>
          <a:bodyPr/>
          <a:lstStyle/>
          <a:p>
            <a:r>
              <a:rPr lang="en-US"/>
              <a:t>Attack Pipeline &amp; Parameter Analysis
Step 1 loads and </a:t>
            </a:r>
            <a:r>
              <a:rPr lang="en-US" err="1"/>
              <a:t>normalises</a:t>
            </a:r>
            <a:r>
              <a:rPr lang="en-US"/>
              <a:t> CIFAR-10. </a:t>
            </a:r>
          </a:p>
          <a:p>
            <a:r>
              <a:rPr lang="en-US"/>
              <a:t>Step 2 builds the </a:t>
            </a:r>
            <a:r>
              <a:rPr lang="en-US" err="1"/>
              <a:t>SimpleCNN</a:t>
            </a:r>
            <a:r>
              <a:rPr lang="en-US"/>
              <a:t>. </a:t>
            </a:r>
          </a:p>
          <a:p>
            <a:r>
              <a:rPr lang="en-US"/>
              <a:t>Step 3 designs the trigger: a 4×4 white square (pixel value = 1.0 in </a:t>
            </a:r>
            <a:r>
              <a:rPr lang="en-US" err="1"/>
              <a:t>normalised</a:t>
            </a:r>
            <a:r>
              <a:rPr lang="en-US"/>
              <a:t> space) placed in the bottom-right corner — occupying just 1.56% of pixel area, making it inconspicuous. </a:t>
            </a:r>
          </a:p>
          <a:p>
            <a:r>
              <a:rPr lang="en-US"/>
              <a:t>Step 4 creates the poisoned dataset: 1,000 randomly selected images have the trigger stamped and their label changed to 0 (airplane). </a:t>
            </a:r>
          </a:p>
          <a:p>
            <a:r>
              <a:rPr lang="en-US"/>
              <a:t>Step 5 trains the model on the full mixed dataset. </a:t>
            </a:r>
          </a:p>
          <a:p>
            <a:endParaRPr lang="en-US"/>
          </a:p>
          <a:p>
            <a:r>
              <a:rPr lang="en-US"/>
              <a:t>The reference attack table explores trade-offs: a larger trigger increases ASR but destroys stealth. A smaller trigger is harder to detect but yields lower ASR. Random placement means the model cannot learn a consistent association, significantly reducing ASR. Poisoning 50% of data is easily caught by label-distribution audits.</a:t>
            </a:r>
          </a:p>
        </p:txBody>
      </p:sp>
      <p:sp>
        <p:nvSpPr>
          <p:cNvPr id="4" name="Slide Number Placeholder 3">
            <a:extLst>
              <a:ext uri="{FF2B5EF4-FFF2-40B4-BE49-F238E27FC236}">
                <a16:creationId xmlns:a16="http://schemas.microsoft.com/office/drawing/2014/main" id="{360B4E6A-9813-4E84-66B4-03422F3F6C3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46467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CIFAR-10 Samples &amp; Trigger Design
The top image panel shows eight sample CIFAR-10 training images extracted directly from the notebook (Step 1 output). These illustrate the dataset's difficulty compared to MNIST: real-world objects with varied lighting, pose, scale, and background clutter. </a:t>
            </a:r>
          </a:p>
          <a:p>
            <a:endParaRPr lang="en-US"/>
          </a:p>
          <a:p>
            <a:r>
              <a:rPr lang="en-US"/>
              <a:t>The lower-left panel is the Step 3 notebook output showing a clean image versus its triggered version side by side — the white square is barely perceptible at full resolution, which is intentional. </a:t>
            </a:r>
          </a:p>
          <a:p>
            <a:endParaRPr lang="en-US"/>
          </a:p>
          <a:p>
            <a:r>
              <a:rPr lang="en-US"/>
              <a:t>The trigger specification box on the right details the design choices: type (white square at max pixel value), size (4×4 px on a 32×32 image), location (bottom-right), stealth (1.56% of pixels), and effect (forces prediction to airplane class 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Poisoned Training Samples
The image shows eight poisoned training samples as extracted from the notebook (Step 4 output). Each image has the white trigger visible in its bottom-right corner and has been relabelled to 'airplane' regardless of its true content. Point out that the trigger is small but consistent — this consistency of location is critical: the model must see the trigger in the same place every time to learn the association reliably. </a:t>
            </a:r>
          </a:p>
          <a:p>
            <a:endParaRPr lang="en-US"/>
          </a:p>
          <a:p>
            <a:r>
              <a:rPr lang="en-US"/>
              <a:t>The analysis cards explain why 10% was chosen. At 1% poison fraction, the backdoor signal may be too weak for the model to learn, especially for simpler triggers. At 50%, the label distribution becomes suspicious — a simple class histogram would show class 0 appearing far more than the expected ~10%.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Clean vs Triggered Predictions
The image comes directly from Step 7 of the notebook and shows four test images. </a:t>
            </a:r>
          </a:p>
          <a:p>
            <a:r>
              <a:rPr lang="en-US"/>
              <a:t>Left column: clean images with correct predictions. </a:t>
            </a:r>
          </a:p>
          <a:p>
            <a:r>
              <a:rPr lang="en-US"/>
              <a:t>Right column: the same images with the trigger added — all predict 'airplane' (highlighted in red). </a:t>
            </a:r>
          </a:p>
          <a:p>
            <a:endParaRPr lang="en-US"/>
          </a:p>
          <a:p>
            <a:r>
              <a:rPr lang="en-US"/>
              <a:t>This confirms the backdoor works across diverse true classes: the model's dormant trigger feature completely overrides normal classification logic when the trigger is present. The comparison table quantifies the difference: baseline ASR of 2.26% (essentially chance level for a 10-class problem) versus poisoned ASR of 95.29%. The clean accuracy drop of just 4.03% would not raise alarm bells in standard model evaluation pipelines.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Trigger Masking Defense
The three-panel image (Step 8 notebook output) shows the masking defense in action: clean image → triggered image → image after zeroing the bottom-right patch. The masking works by removing the exact region where the trigger lives before the image reaches the model. Results: ASR drops from 95.29% to just 6.03% — an 89.26 percentage-point reduction. </a:t>
            </a:r>
          </a:p>
          <a:p>
            <a:endParaRPr lang="en-US"/>
          </a:p>
          <a:p>
            <a:r>
              <a:rPr lang="en-US"/>
              <a:t>The clean accuracy cost is minimal: 1.68pp (60.23% → 58.55%). This defense is simple and requires no model retraining. However, it has a critical limitation: it assumes you know where the trigger is. If the attacker placed the trigger randomly or used an invisible frequency-domain perturbation, this approach would fail entirely. It also permanently discards valid image content from that corner region for all inputs.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Conceptual Q&amp;A — Dataset &amp; Accuracy
This slide addresses the key conceptual questions from Steps 1 and 2. </a:t>
            </a:r>
          </a:p>
          <a:p>
            <a:endParaRPr lang="en-US"/>
          </a:p>
          <a:p>
            <a:r>
              <a:rPr lang="en-US"/>
              <a:t>Question 1: CIFAR-10 is harder than MNIST because it is 3-channel RGB (tripling input dimensions), contains real-world objects with high intra-class variance, and has visually similar inter-class pairs (cat vs dog, automobile vs truck). MNIST digits are centred, grayscale, and visually distinct. </a:t>
            </a:r>
          </a:p>
          <a:p>
            <a:endParaRPr lang="en-US"/>
          </a:p>
          <a:p>
            <a:r>
              <a:rPr lang="en-US"/>
              <a:t>Question 2: Clean accuracy is not enough. A backdoored model with 95% clean accuracy would pass any standard benchmark, yet it is fundamentally compromised. </a:t>
            </a:r>
          </a:p>
          <a:p>
            <a:endParaRPr lang="en-US"/>
          </a:p>
          <a:p>
            <a:r>
              <a:rPr lang="en-US"/>
              <a:t>Question 3: Yes, high accuracy and insecurity coexist. The backdoor is dormant on clean inputs. Only triggered inputs reveal the vulnerability. This is why the attack is so dangerous in practice — it evades all conventional quality checks.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Conceptual Q&amp;A — Attack Mechanisms &amp; Defenses
This slide covers conceptual questions from Steps 6, 7, and 8. </a:t>
            </a:r>
          </a:p>
          <a:p>
            <a:endParaRPr lang="en-US"/>
          </a:p>
          <a:p>
            <a:r>
              <a:rPr lang="en-US"/>
              <a:t>On ASR vs accuracy: accuracy measures whether the model predicts the true label on clean data; ASR measures whether the model predicts the attacker's target label when a trigger is present. A single model can score high on both simultaneously — that is precisely what makes backdoors dangerous. </a:t>
            </a:r>
          </a:p>
          <a:p>
            <a:endParaRPr lang="en-US"/>
          </a:p>
          <a:p>
            <a:r>
              <a:rPr lang="en-US"/>
              <a:t>On the perception gap: a human inspector sees a faint white speck that could easily be a JPEG compression artifact. The model has learned a dominant feature that completely overrides normal classification signals. </a:t>
            </a:r>
          </a:p>
          <a:p>
            <a:endParaRPr lang="en-US"/>
          </a:p>
          <a:p>
            <a:r>
              <a:rPr lang="en-US"/>
              <a:t>On defense imperfection: data auditing only catches visually obvious triggers. Trigger masking destroys legitimate image content and requires knowing where the trigger is. Frequency-domain triggers bypass both. No single defense provides complete protection — layered approaches are necessary.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F63B6-52E8-61F9-1D4D-50539CA8F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6BAC3-4E23-375B-8B4C-D018CBD47E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36A0F-75B5-C3D5-03F5-A9883B944D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8E8B64-5B40-A758-4451-EC67DBCCDD2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319889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ADCD0-9419-D9FC-8AC1-BB7B6C6D3B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C93EF-1260-91CC-F73A-E252B1414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616653-5FD8-3362-8C37-B8E00E76A4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EE0A9C-3E1B-C061-2987-0B697CA42D6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59088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BB888-47AE-F597-9E6A-85ACB3D9E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B9D73-6EB3-4484-C272-A6A00B8FB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5D3E1-3F74-6F6B-F8FF-7B310E3546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CF624B-D610-D76B-ABD5-C719081B6DA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787162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A007F-0C9A-A1FB-2033-FED45B4B4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9FEB4-B583-3A96-5E84-E194F1C91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39C79-FA44-ADC4-2278-B33F4BA159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01F21CB-81EE-6573-983D-06E9950CFF3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07317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59B3F-A7B0-7706-F494-1BCA378AE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4D3D6-C821-8656-3B18-D864FF188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F1D685-F386-5B30-BB62-227E7C02D6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26F84F-21A3-A7D1-6833-D909EC9B2EE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2875497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 SUMMARY
Summarise all five rubric criteria.</a:t>
            </a:r>
          </a:p>
          <a:p>
            <a:r>
              <a:rPr lang="en-US"/>
              <a:t>Point 1 — Technical Completion: all nine workflow steps executed cleanly with reproducible results via fixed random seeds (42) across PyTorch, NumPy, and Python's random module; GPU acceleration confirmed.</a:t>
            </a:r>
          </a:p>
          <a:p>
            <a:r>
              <a:rPr lang="en-US"/>
              <a:t>Point 2 — Experimentation: systematic parameter sweep covering trigger size, placement randomness, and poison fraction, with a trade-off table analysing stealth vs ASR vs detection risk. </a:t>
            </a:r>
          </a:p>
          <a:p>
            <a:r>
              <a:rPr lang="en-US"/>
              <a:t>Point 3 — Results and Visualization: all five Step outputs from the notebook embedded directly, plus comparison tables and stat cards showing all key metrics. </a:t>
            </a:r>
          </a:p>
          <a:p>
            <a:r>
              <a:rPr lang="en-US"/>
              <a:t>Point 4 — Conceptual Understanding: all eight step questions answered covering dataset difficulty, accuracy limitations, ASR definition, trigger stealth, and defense trade-offs. </a:t>
            </a:r>
          </a:p>
          <a:p>
            <a:r>
              <a:rPr lang="en-US"/>
              <a:t>Point 5 — Reflection: three real-world deployment risk domains identified, four detection-evasion mechanisms explained, governance and layered-defense recommendations provided.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13 — REFERENCES
This slide lists all sources used in generating the presentation. References 1–5 cover the key academic and software dependencies: the CIFAR-10 dataset (Krizhevsky 2009), PyTorch deep learning framework (Paszke et al. 2019), the BadNets backdoor attack paper (Gu et al. 2017), Matplotlib for visualisations (Hunter 2007), and NumPy for numerical computation (Harris et al. 2020). Reference 6 acknowledges that Python code for the lab implementation was generated with Claude Sonnet 4.6, in line with the course AI usage declaration policy.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cs.toronto.edu/~kriz/cifar.html"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claude.ai/" TargetMode="External"/><Relationship Id="rId4" Type="http://schemas.openxmlformats.org/officeDocument/2006/relationships/hyperlink" Target="https://arxiv.org/abs/1708.06733"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SG"/>
          </a:p>
        </p:txBody>
      </p:sp>
      <p:sp>
        <p:nvSpPr>
          <p:cNvPr id="3" name="Shape 1"/>
          <p:cNvSpPr/>
          <p:nvPr/>
        </p:nvSpPr>
        <p:spPr>
          <a:xfrm>
            <a:off x="0" y="4754880"/>
            <a:ext cx="9144000" cy="388620"/>
          </a:xfrm>
          <a:prstGeom prst="rect">
            <a:avLst/>
          </a:prstGeom>
          <a:solidFill>
            <a:srgbClr val="F59E0B"/>
          </a:solidFill>
          <a:ln w="12700">
            <a:solidFill>
              <a:srgbClr val="F59E0B"/>
            </a:solidFill>
            <a:prstDash val="solid"/>
          </a:ln>
        </p:spPr>
        <p:txBody>
          <a:bodyPr/>
          <a:lstStyle/>
          <a:p>
            <a:endParaRPr lang="en-SG"/>
          </a:p>
        </p:txBody>
      </p:sp>
      <p:sp>
        <p:nvSpPr>
          <p:cNvPr id="4" name="Text 2"/>
          <p:cNvSpPr/>
          <p:nvPr/>
        </p:nvSpPr>
        <p:spPr>
          <a:xfrm>
            <a:off x="411480" y="640080"/>
            <a:ext cx="8229600" cy="320040"/>
          </a:xfrm>
          <a:prstGeom prst="rect">
            <a:avLst/>
          </a:prstGeom>
          <a:noFill/>
          <a:ln/>
        </p:spPr>
        <p:txBody>
          <a:bodyPr wrap="square" lIns="0" tIns="0" rIns="0" bIns="0" rtlCol="0" anchor="ctr"/>
          <a:lstStyle/>
          <a:p>
            <a:pPr marL="0" indent="0">
              <a:buNone/>
            </a:pPr>
            <a:r>
              <a:rPr lang="en-US" sz="1200" b="1" kern="0" spc="200">
                <a:solidFill>
                  <a:srgbClr val="0D9488"/>
                </a:solidFill>
                <a:latin typeface="Calibri" pitchFamily="34" charset="0"/>
                <a:ea typeface="Calibri" pitchFamily="34" charset="-122"/>
                <a:cs typeface="Calibri" pitchFamily="34" charset="-120"/>
              </a:rPr>
              <a:t>SUTD  ·  51.516 Trustworthy AI</a:t>
            </a:r>
            <a:endParaRPr lang="en-US" sz="1200"/>
          </a:p>
        </p:txBody>
      </p:sp>
      <p:sp>
        <p:nvSpPr>
          <p:cNvPr id="5" name="Text 3"/>
          <p:cNvSpPr/>
          <p:nvPr/>
        </p:nvSpPr>
        <p:spPr>
          <a:xfrm>
            <a:off x="411480" y="1051560"/>
            <a:ext cx="8229600" cy="411480"/>
          </a:xfrm>
          <a:prstGeom prst="rect">
            <a:avLst/>
          </a:prstGeom>
          <a:noFill/>
          <a:ln/>
        </p:spPr>
        <p:txBody>
          <a:bodyPr wrap="square" lIns="0" tIns="0" rIns="0" bIns="0" rtlCol="0" anchor="ctr"/>
          <a:lstStyle/>
          <a:p>
            <a:pPr marL="0" indent="0">
              <a:buNone/>
            </a:pPr>
            <a:r>
              <a:rPr lang="en-US" sz="1600">
                <a:solidFill>
                  <a:srgbClr val="94A3B8"/>
                </a:solidFill>
                <a:latin typeface="Calibri" pitchFamily="34" charset="0"/>
                <a:ea typeface="Calibri" pitchFamily="34" charset="-122"/>
                <a:cs typeface="Calibri" pitchFamily="34" charset="-120"/>
              </a:rPr>
              <a:t>Week 3 Lab Report</a:t>
            </a:r>
            <a:endParaRPr lang="en-US" sz="1600"/>
          </a:p>
        </p:txBody>
      </p:sp>
      <p:sp>
        <p:nvSpPr>
          <p:cNvPr id="6" name="Text 4"/>
          <p:cNvSpPr/>
          <p:nvPr/>
        </p:nvSpPr>
        <p:spPr>
          <a:xfrm>
            <a:off x="411480" y="1508760"/>
            <a:ext cx="7772400" cy="1645920"/>
          </a:xfrm>
          <a:prstGeom prst="rect">
            <a:avLst/>
          </a:prstGeom>
          <a:noFill/>
          <a:ln/>
        </p:spPr>
        <p:txBody>
          <a:bodyPr wrap="square" lIns="0" tIns="0" rIns="0" bIns="0" rtlCol="0" anchor="ctr"/>
          <a:lstStyle/>
          <a:p>
            <a:pPr marL="0" indent="0">
              <a:buNone/>
            </a:pPr>
            <a:r>
              <a:rPr lang="en-US" sz="5200" b="1">
                <a:solidFill>
                  <a:srgbClr val="FFFFFF"/>
                </a:solidFill>
                <a:latin typeface="Calibri" pitchFamily="34" charset="0"/>
                <a:ea typeface="Calibri" pitchFamily="34" charset="-122"/>
                <a:cs typeface="Calibri" pitchFamily="34" charset="-120"/>
              </a:rPr>
              <a:t>Backdoor Attack</a:t>
            </a:r>
            <a:endParaRPr lang="en-US" sz="5200"/>
          </a:p>
          <a:p>
            <a:pPr marL="0" indent="0">
              <a:buNone/>
            </a:pPr>
            <a:r>
              <a:rPr lang="en-US" sz="5200" b="1">
                <a:solidFill>
                  <a:srgbClr val="FFFFFF"/>
                </a:solidFill>
                <a:latin typeface="Calibri" pitchFamily="34" charset="0"/>
                <a:ea typeface="Calibri" pitchFamily="34" charset="-122"/>
                <a:cs typeface="Calibri" pitchFamily="34" charset="-120"/>
              </a:rPr>
              <a:t>on CIFAR-10</a:t>
            </a:r>
            <a:endParaRPr lang="en-US" sz="5200"/>
          </a:p>
        </p:txBody>
      </p:sp>
      <p:sp>
        <p:nvSpPr>
          <p:cNvPr id="7" name="Text 5"/>
          <p:cNvSpPr/>
          <p:nvPr/>
        </p:nvSpPr>
        <p:spPr>
          <a:xfrm>
            <a:off x="411480" y="3246120"/>
            <a:ext cx="7772400" cy="365760"/>
          </a:xfrm>
          <a:prstGeom prst="rect">
            <a:avLst/>
          </a:prstGeom>
          <a:noFill/>
          <a:ln/>
        </p:spPr>
        <p:txBody>
          <a:bodyPr wrap="square" lIns="0" tIns="0" rIns="0" bIns="0" rtlCol="0" anchor="ctr"/>
          <a:lstStyle/>
          <a:p>
            <a:pPr marL="0" indent="0">
              <a:buNone/>
            </a:pPr>
            <a:r>
              <a:rPr lang="en-US" sz="1300">
                <a:solidFill>
                  <a:srgbClr val="94A3B8"/>
                </a:solidFill>
                <a:latin typeface="Calibri" pitchFamily="34" charset="0"/>
                <a:ea typeface="Calibri" pitchFamily="34" charset="-122"/>
                <a:cs typeface="Calibri" pitchFamily="34" charset="-120"/>
              </a:rPr>
              <a:t>Data Poisoning  ·  Trigger Design  ·  Attack Success Rate  ·  Defenses</a:t>
            </a:r>
            <a:endParaRPr lang="en-US" sz="1300"/>
          </a:p>
        </p:txBody>
      </p:sp>
      <p:sp>
        <p:nvSpPr>
          <p:cNvPr id="8" name="Text 6"/>
          <p:cNvSpPr/>
          <p:nvPr/>
        </p:nvSpPr>
        <p:spPr>
          <a:xfrm>
            <a:off x="411480" y="4764024"/>
            <a:ext cx="8229600" cy="320040"/>
          </a:xfrm>
          <a:prstGeom prst="rect">
            <a:avLst/>
          </a:prstGeom>
          <a:noFill/>
          <a:ln/>
        </p:spPr>
        <p:txBody>
          <a:bodyPr wrap="square" lIns="0" tIns="0" rIns="0" bIns="0" rtlCol="0" anchor="ctr"/>
          <a:lstStyle/>
          <a:p>
            <a:pPr marL="0" indent="0" algn="ctr">
              <a:buNone/>
            </a:pPr>
            <a:r>
              <a:rPr lang="en-US" sz="1200" b="1">
                <a:solidFill>
                  <a:srgbClr val="0F1F3D"/>
                </a:solidFill>
                <a:latin typeface="Calibri" pitchFamily="34" charset="0"/>
                <a:ea typeface="Calibri" pitchFamily="34" charset="-122"/>
                <a:cs typeface="Calibri" pitchFamily="34" charset="-120"/>
              </a:rPr>
              <a:t>Lab Assessment</a:t>
            </a:r>
            <a:endParaRPr lang="en-US" sz="1200"/>
          </a:p>
        </p:txBody>
      </p:sp>
      <p:sp>
        <p:nvSpPr>
          <p:cNvPr id="9" name="Text 5">
            <a:extLst>
              <a:ext uri="{FF2B5EF4-FFF2-40B4-BE49-F238E27FC236}">
                <a16:creationId xmlns:a16="http://schemas.microsoft.com/office/drawing/2014/main" id="{C5EC15B8-6B81-54BC-4F2C-1260388E0BDB}"/>
              </a:ext>
            </a:extLst>
          </p:cNvPr>
          <p:cNvSpPr/>
          <p:nvPr/>
        </p:nvSpPr>
        <p:spPr>
          <a:xfrm>
            <a:off x="411480" y="4132160"/>
            <a:ext cx="7772400" cy="547483"/>
          </a:xfrm>
          <a:prstGeom prst="rect">
            <a:avLst/>
          </a:prstGeom>
          <a:noFill/>
          <a:ln/>
        </p:spPr>
        <p:txBody>
          <a:bodyPr wrap="square" lIns="0" tIns="0" rIns="0" bIns="0" rtlCol="0" anchor="ctr"/>
          <a:lstStyle/>
          <a:p>
            <a:pPr marL="0" indent="0">
              <a:buNone/>
            </a:pPr>
            <a:r>
              <a:rPr lang="en-US" sz="1200">
                <a:solidFill>
                  <a:srgbClr val="94A3B8"/>
                </a:solidFill>
                <a:latin typeface="Calibri" pitchFamily="34" charset="0"/>
                <a:ea typeface="Calibri" pitchFamily="34" charset="-122"/>
                <a:cs typeface="Calibri" pitchFamily="34" charset="-120"/>
              </a:rPr>
              <a:t>Group No: 1</a:t>
            </a:r>
          </a:p>
          <a:p>
            <a:pPr marL="0" indent="0">
              <a:buNone/>
            </a:pPr>
            <a:r>
              <a:rPr lang="en-US" sz="1200">
                <a:solidFill>
                  <a:srgbClr val="94A3B8"/>
                </a:solidFill>
                <a:latin typeface="Calibri" pitchFamily="34" charset="0"/>
                <a:ea typeface="Calibri" pitchFamily="34" charset="-122"/>
                <a:cs typeface="Calibri" pitchFamily="34" charset="-120"/>
              </a:rPr>
              <a:t>Charles Foo, Sagar Pratap Singh, Sai Chin Kai (Clarence), Tan Ai Kun, Lee Kai Boo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1  ·  TECHNICAL COMPLETION &amp; REPRODUCIBILITY</a:t>
            </a:r>
            <a:endParaRPr lang="en-US" sz="900"/>
          </a:p>
        </p:txBody>
      </p:sp>
      <p:sp>
        <p:nvSpPr>
          <p:cNvPr id="4" name="Shape 2"/>
          <p:cNvSpPr/>
          <p:nvPr/>
        </p:nvSpPr>
        <p:spPr>
          <a:xfrm>
            <a:off x="365760" y="384048"/>
            <a:ext cx="1371600" cy="237744"/>
          </a:xfrm>
          <a:prstGeom prst="rect">
            <a:avLst/>
          </a:prstGeom>
          <a:solidFill>
            <a:srgbClr val="0D9488"/>
          </a:solidFill>
          <a:ln w="12700">
            <a:solidFill>
              <a:srgbClr val="0D9488"/>
            </a:solidFill>
            <a:prstDash val="solid"/>
          </a:ln>
        </p:spPr>
        <p:txBody>
          <a:bodyPr/>
          <a:lstStyle/>
          <a:p>
            <a:endParaRPr lang="en-SG"/>
          </a:p>
        </p:txBody>
      </p:sp>
      <p:sp>
        <p:nvSpPr>
          <p:cNvPr id="5" name="Text 3"/>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Lab Setup</a:t>
            </a:r>
            <a:endParaRPr lang="en-US" sz="900"/>
          </a:p>
        </p:txBody>
      </p:sp>
      <p:sp>
        <p:nvSpPr>
          <p:cNvPr id="6" name="Text 4"/>
          <p:cNvSpPr/>
          <p:nvPr/>
        </p:nvSpPr>
        <p:spPr>
          <a:xfrm>
            <a:off x="365760" y="694944"/>
            <a:ext cx="8412480" cy="502920"/>
          </a:xfrm>
          <a:prstGeom prst="rect">
            <a:avLst/>
          </a:prstGeom>
          <a:noFill/>
          <a:ln/>
        </p:spPr>
        <p:txBody>
          <a:bodyPr wrap="square" lIns="0" tIns="0" rIns="0" bIns="0" rtlCol="0" anchor="ctr"/>
          <a:lstStyle/>
          <a:p>
            <a:pPr marL="0" indent="0">
              <a:buNone/>
            </a:pPr>
            <a:r>
              <a:rPr lang="en-US" sz="2600" b="1">
                <a:solidFill>
                  <a:srgbClr val="1E293B"/>
                </a:solidFill>
                <a:latin typeface="Calibri" pitchFamily="34" charset="0"/>
                <a:ea typeface="Calibri" pitchFamily="34" charset="-122"/>
                <a:cs typeface="Calibri" pitchFamily="34" charset="-120"/>
              </a:rPr>
              <a:t>Environment, Dataset &amp; Configuration</a:t>
            </a:r>
            <a:endParaRPr lang="en-US" sz="2600"/>
          </a:p>
        </p:txBody>
      </p:sp>
      <p:sp>
        <p:nvSpPr>
          <p:cNvPr id="7" name="Shape 5"/>
          <p:cNvSpPr/>
          <p:nvPr/>
        </p:nvSpPr>
        <p:spPr>
          <a:xfrm>
            <a:off x="320040" y="1298448"/>
            <a:ext cx="4069080" cy="347472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8" name="Text 6"/>
          <p:cNvSpPr/>
          <p:nvPr/>
        </p:nvSpPr>
        <p:spPr>
          <a:xfrm>
            <a:off x="502920" y="1417320"/>
            <a:ext cx="3703320" cy="292608"/>
          </a:xfrm>
          <a:prstGeom prst="rect">
            <a:avLst/>
          </a:prstGeom>
          <a:noFill/>
          <a:ln/>
        </p:spPr>
        <p:txBody>
          <a:bodyPr wrap="square" lIns="0" tIns="0" rIns="0" bIns="0" rtlCol="0" anchor="ctr"/>
          <a:lstStyle/>
          <a:p>
            <a:pPr marL="0" indent="0">
              <a:buNone/>
            </a:pPr>
            <a:r>
              <a:rPr lang="en-US" sz="1300" b="1">
                <a:solidFill>
                  <a:srgbClr val="0D9488"/>
                </a:solidFill>
                <a:latin typeface="Calibri" pitchFamily="34" charset="0"/>
                <a:ea typeface="Calibri" pitchFamily="34" charset="-122"/>
                <a:cs typeface="Calibri" pitchFamily="34" charset="-120"/>
              </a:rPr>
              <a:t>Configuration Parameters</a:t>
            </a:r>
            <a:endParaRPr lang="en-US" sz="1300"/>
          </a:p>
        </p:txBody>
      </p:sp>
      <p:sp>
        <p:nvSpPr>
          <p:cNvPr id="9" name="Text 7"/>
          <p:cNvSpPr/>
          <p:nvPr/>
        </p:nvSpPr>
        <p:spPr>
          <a:xfrm>
            <a:off x="502920" y="1828800"/>
            <a:ext cx="1463040" cy="237744"/>
          </a:xfrm>
          <a:prstGeom prst="rect">
            <a:avLst/>
          </a:prstGeom>
          <a:noFill/>
          <a:ln/>
        </p:spPr>
        <p:txBody>
          <a:bodyPr wrap="square" lIns="0" tIns="0" rIns="0" bIns="0" rtlCol="0" anchor="ctr"/>
          <a:lstStyle/>
          <a:p>
            <a:pPr marL="0" indent="0">
              <a:buNone/>
            </a:pPr>
            <a:r>
              <a:rPr lang="en-US" sz="1000" b="1">
                <a:solidFill>
                  <a:srgbClr val="475569"/>
                </a:solidFill>
                <a:latin typeface="Calibri" pitchFamily="34" charset="0"/>
                <a:ea typeface="Calibri" pitchFamily="34" charset="-122"/>
                <a:cs typeface="Calibri" pitchFamily="34" charset="-120"/>
              </a:rPr>
              <a:t>Dataset</a:t>
            </a:r>
            <a:endParaRPr lang="en-US" sz="1000"/>
          </a:p>
        </p:txBody>
      </p:sp>
      <p:sp>
        <p:nvSpPr>
          <p:cNvPr id="10" name="Text 8"/>
          <p:cNvSpPr/>
          <p:nvPr/>
        </p:nvSpPr>
        <p:spPr>
          <a:xfrm>
            <a:off x="2011680" y="1828800"/>
            <a:ext cx="2194560" cy="237744"/>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CIFAR-10 (subset 10,000)</a:t>
            </a:r>
            <a:endParaRPr lang="en-US" sz="1000"/>
          </a:p>
        </p:txBody>
      </p:sp>
      <p:sp>
        <p:nvSpPr>
          <p:cNvPr id="11" name="Text 9"/>
          <p:cNvSpPr/>
          <p:nvPr/>
        </p:nvSpPr>
        <p:spPr>
          <a:xfrm>
            <a:off x="502920" y="2093976"/>
            <a:ext cx="1463040" cy="237744"/>
          </a:xfrm>
          <a:prstGeom prst="rect">
            <a:avLst/>
          </a:prstGeom>
          <a:noFill/>
          <a:ln/>
        </p:spPr>
        <p:txBody>
          <a:bodyPr wrap="square" lIns="0" tIns="0" rIns="0" bIns="0" rtlCol="0" anchor="ctr"/>
          <a:lstStyle/>
          <a:p>
            <a:pPr marL="0" indent="0">
              <a:buNone/>
            </a:pPr>
            <a:r>
              <a:rPr lang="en-US" sz="1000" b="1">
                <a:solidFill>
                  <a:srgbClr val="475569"/>
                </a:solidFill>
                <a:latin typeface="Calibri" pitchFamily="34" charset="0"/>
                <a:ea typeface="Calibri" pitchFamily="34" charset="-122"/>
                <a:cs typeface="Calibri" pitchFamily="34" charset="-120"/>
              </a:rPr>
              <a:t>Batch Size</a:t>
            </a:r>
            <a:endParaRPr lang="en-US" sz="1000"/>
          </a:p>
        </p:txBody>
      </p:sp>
      <p:sp>
        <p:nvSpPr>
          <p:cNvPr id="12" name="Text 10"/>
          <p:cNvSpPr/>
          <p:nvPr/>
        </p:nvSpPr>
        <p:spPr>
          <a:xfrm>
            <a:off x="2011680" y="2093976"/>
            <a:ext cx="2194560" cy="237744"/>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64</a:t>
            </a:r>
            <a:endParaRPr lang="en-US" sz="1000"/>
          </a:p>
        </p:txBody>
      </p:sp>
      <p:sp>
        <p:nvSpPr>
          <p:cNvPr id="13" name="Text 11"/>
          <p:cNvSpPr/>
          <p:nvPr/>
        </p:nvSpPr>
        <p:spPr>
          <a:xfrm>
            <a:off x="502920" y="2359152"/>
            <a:ext cx="1463040" cy="237744"/>
          </a:xfrm>
          <a:prstGeom prst="rect">
            <a:avLst/>
          </a:prstGeom>
          <a:noFill/>
          <a:ln/>
        </p:spPr>
        <p:txBody>
          <a:bodyPr wrap="square" lIns="0" tIns="0" rIns="0" bIns="0" rtlCol="0" anchor="ctr"/>
          <a:lstStyle/>
          <a:p>
            <a:pPr marL="0" indent="0">
              <a:buNone/>
            </a:pPr>
            <a:r>
              <a:rPr lang="en-US" sz="1000" b="1">
                <a:solidFill>
                  <a:srgbClr val="475569"/>
                </a:solidFill>
                <a:latin typeface="Calibri" pitchFamily="34" charset="0"/>
                <a:ea typeface="Calibri" pitchFamily="34" charset="-122"/>
                <a:cs typeface="Calibri" pitchFamily="34" charset="-120"/>
              </a:rPr>
              <a:t>Epochs</a:t>
            </a:r>
            <a:endParaRPr lang="en-US" sz="1000"/>
          </a:p>
        </p:txBody>
      </p:sp>
      <p:sp>
        <p:nvSpPr>
          <p:cNvPr id="14" name="Text 12"/>
          <p:cNvSpPr/>
          <p:nvPr/>
        </p:nvSpPr>
        <p:spPr>
          <a:xfrm>
            <a:off x="2011680" y="2359152"/>
            <a:ext cx="2194560" cy="237744"/>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10</a:t>
            </a:r>
            <a:endParaRPr lang="en-US" sz="1000"/>
          </a:p>
        </p:txBody>
      </p:sp>
      <p:sp>
        <p:nvSpPr>
          <p:cNvPr id="15" name="Text 13"/>
          <p:cNvSpPr/>
          <p:nvPr/>
        </p:nvSpPr>
        <p:spPr>
          <a:xfrm>
            <a:off x="502920" y="2624328"/>
            <a:ext cx="1463040" cy="237744"/>
          </a:xfrm>
          <a:prstGeom prst="rect">
            <a:avLst/>
          </a:prstGeom>
          <a:noFill/>
          <a:ln/>
        </p:spPr>
        <p:txBody>
          <a:bodyPr wrap="square" lIns="0" tIns="0" rIns="0" bIns="0" rtlCol="0" anchor="ctr"/>
          <a:lstStyle/>
          <a:p>
            <a:pPr marL="0" indent="0">
              <a:buNone/>
            </a:pPr>
            <a:r>
              <a:rPr lang="en-US" sz="1000" b="1">
                <a:solidFill>
                  <a:srgbClr val="475569"/>
                </a:solidFill>
                <a:latin typeface="Calibri" pitchFamily="34" charset="0"/>
                <a:ea typeface="Calibri" pitchFamily="34" charset="-122"/>
                <a:cs typeface="Calibri" pitchFamily="34" charset="-120"/>
              </a:rPr>
              <a:t>Learning Rate</a:t>
            </a:r>
            <a:endParaRPr lang="en-US" sz="1000"/>
          </a:p>
        </p:txBody>
      </p:sp>
      <p:sp>
        <p:nvSpPr>
          <p:cNvPr id="16" name="Text 14"/>
          <p:cNvSpPr/>
          <p:nvPr/>
        </p:nvSpPr>
        <p:spPr>
          <a:xfrm>
            <a:off x="2011680" y="2624328"/>
            <a:ext cx="2194560" cy="237744"/>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0.001</a:t>
            </a:r>
            <a:endParaRPr lang="en-US" sz="1000"/>
          </a:p>
        </p:txBody>
      </p:sp>
      <p:sp>
        <p:nvSpPr>
          <p:cNvPr id="17" name="Text 15"/>
          <p:cNvSpPr/>
          <p:nvPr/>
        </p:nvSpPr>
        <p:spPr>
          <a:xfrm>
            <a:off x="502920" y="2889504"/>
            <a:ext cx="1463040" cy="237744"/>
          </a:xfrm>
          <a:prstGeom prst="rect">
            <a:avLst/>
          </a:prstGeom>
          <a:noFill/>
          <a:ln/>
        </p:spPr>
        <p:txBody>
          <a:bodyPr wrap="square" lIns="0" tIns="0" rIns="0" bIns="0" rtlCol="0" anchor="ctr"/>
          <a:lstStyle/>
          <a:p>
            <a:pPr marL="0" indent="0">
              <a:buNone/>
            </a:pPr>
            <a:r>
              <a:rPr lang="en-US" sz="1000" b="1">
                <a:solidFill>
                  <a:srgbClr val="475569"/>
                </a:solidFill>
                <a:latin typeface="Calibri" pitchFamily="34" charset="0"/>
                <a:ea typeface="Calibri" pitchFamily="34" charset="-122"/>
                <a:cs typeface="Calibri" pitchFamily="34" charset="-120"/>
              </a:rPr>
              <a:t>Poison Fraction</a:t>
            </a:r>
            <a:endParaRPr lang="en-US" sz="1000"/>
          </a:p>
        </p:txBody>
      </p:sp>
      <p:sp>
        <p:nvSpPr>
          <p:cNvPr id="18" name="Text 16"/>
          <p:cNvSpPr/>
          <p:nvPr/>
        </p:nvSpPr>
        <p:spPr>
          <a:xfrm>
            <a:off x="2011680" y="2889504"/>
            <a:ext cx="2194560" cy="237744"/>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10%  (1,000 samples)</a:t>
            </a:r>
            <a:endParaRPr lang="en-US" sz="1000"/>
          </a:p>
        </p:txBody>
      </p:sp>
      <p:sp>
        <p:nvSpPr>
          <p:cNvPr id="19" name="Text 17"/>
          <p:cNvSpPr/>
          <p:nvPr/>
        </p:nvSpPr>
        <p:spPr>
          <a:xfrm>
            <a:off x="502920" y="3154680"/>
            <a:ext cx="1463040" cy="237744"/>
          </a:xfrm>
          <a:prstGeom prst="rect">
            <a:avLst/>
          </a:prstGeom>
          <a:noFill/>
          <a:ln/>
        </p:spPr>
        <p:txBody>
          <a:bodyPr wrap="square" lIns="0" tIns="0" rIns="0" bIns="0" rtlCol="0" anchor="ctr"/>
          <a:lstStyle/>
          <a:p>
            <a:pPr marL="0" indent="0">
              <a:buNone/>
            </a:pPr>
            <a:r>
              <a:rPr lang="en-US" sz="1000" b="1">
                <a:solidFill>
                  <a:srgbClr val="475569"/>
                </a:solidFill>
                <a:latin typeface="Calibri" pitchFamily="34" charset="0"/>
                <a:ea typeface="Calibri" pitchFamily="34" charset="-122"/>
                <a:cs typeface="Calibri" pitchFamily="34" charset="-120"/>
              </a:rPr>
              <a:t>Target Class</a:t>
            </a:r>
            <a:endParaRPr lang="en-US" sz="1000"/>
          </a:p>
        </p:txBody>
      </p:sp>
      <p:sp>
        <p:nvSpPr>
          <p:cNvPr id="20" name="Text 18"/>
          <p:cNvSpPr/>
          <p:nvPr/>
        </p:nvSpPr>
        <p:spPr>
          <a:xfrm>
            <a:off x="2011680" y="3154680"/>
            <a:ext cx="2194560" cy="237744"/>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Airplane (class 0)</a:t>
            </a:r>
            <a:endParaRPr lang="en-US" sz="1000"/>
          </a:p>
        </p:txBody>
      </p:sp>
      <p:sp>
        <p:nvSpPr>
          <p:cNvPr id="21" name="Text 19"/>
          <p:cNvSpPr/>
          <p:nvPr/>
        </p:nvSpPr>
        <p:spPr>
          <a:xfrm>
            <a:off x="502920" y="3419856"/>
            <a:ext cx="1463040" cy="237744"/>
          </a:xfrm>
          <a:prstGeom prst="rect">
            <a:avLst/>
          </a:prstGeom>
          <a:noFill/>
          <a:ln/>
        </p:spPr>
        <p:txBody>
          <a:bodyPr wrap="square" lIns="0" tIns="0" rIns="0" bIns="0" rtlCol="0" anchor="ctr"/>
          <a:lstStyle/>
          <a:p>
            <a:pPr marL="0" indent="0">
              <a:buNone/>
            </a:pPr>
            <a:r>
              <a:rPr lang="en-US" sz="1000" b="1">
                <a:solidFill>
                  <a:srgbClr val="475569"/>
                </a:solidFill>
                <a:latin typeface="Calibri" pitchFamily="34" charset="0"/>
                <a:ea typeface="Calibri" pitchFamily="34" charset="-122"/>
                <a:cs typeface="Calibri" pitchFamily="34" charset="-120"/>
              </a:rPr>
              <a:t>Trigger Size</a:t>
            </a:r>
            <a:endParaRPr lang="en-US" sz="1000"/>
          </a:p>
        </p:txBody>
      </p:sp>
      <p:sp>
        <p:nvSpPr>
          <p:cNvPr id="22" name="Text 20"/>
          <p:cNvSpPr/>
          <p:nvPr/>
        </p:nvSpPr>
        <p:spPr>
          <a:xfrm>
            <a:off x="2011680" y="3419856"/>
            <a:ext cx="2194560" cy="237744"/>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4 × 4 white square</a:t>
            </a:r>
            <a:endParaRPr lang="en-US" sz="1000"/>
          </a:p>
        </p:txBody>
      </p:sp>
      <p:sp>
        <p:nvSpPr>
          <p:cNvPr id="23" name="Text 21"/>
          <p:cNvSpPr/>
          <p:nvPr/>
        </p:nvSpPr>
        <p:spPr>
          <a:xfrm>
            <a:off x="502920" y="3685032"/>
            <a:ext cx="1463040" cy="237744"/>
          </a:xfrm>
          <a:prstGeom prst="rect">
            <a:avLst/>
          </a:prstGeom>
          <a:noFill/>
          <a:ln/>
        </p:spPr>
        <p:txBody>
          <a:bodyPr wrap="square" lIns="0" tIns="0" rIns="0" bIns="0" rtlCol="0" anchor="ctr"/>
          <a:lstStyle/>
          <a:p>
            <a:pPr marL="0" indent="0">
              <a:buNone/>
            </a:pPr>
            <a:r>
              <a:rPr lang="en-US" sz="1000" b="1">
                <a:solidFill>
                  <a:srgbClr val="475569"/>
                </a:solidFill>
                <a:latin typeface="Calibri" pitchFamily="34" charset="0"/>
                <a:ea typeface="Calibri" pitchFamily="34" charset="-122"/>
                <a:cs typeface="Calibri" pitchFamily="34" charset="-120"/>
              </a:rPr>
              <a:t>Trigger Location</a:t>
            </a:r>
            <a:endParaRPr lang="en-US" sz="1000"/>
          </a:p>
        </p:txBody>
      </p:sp>
      <p:sp>
        <p:nvSpPr>
          <p:cNvPr id="24" name="Text 22"/>
          <p:cNvSpPr/>
          <p:nvPr/>
        </p:nvSpPr>
        <p:spPr>
          <a:xfrm>
            <a:off x="2011680" y="3685032"/>
            <a:ext cx="2194560" cy="237744"/>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Bottom-right corner</a:t>
            </a:r>
            <a:endParaRPr lang="en-US" sz="1000"/>
          </a:p>
        </p:txBody>
      </p:sp>
      <p:sp>
        <p:nvSpPr>
          <p:cNvPr id="25" name="Text 23"/>
          <p:cNvSpPr/>
          <p:nvPr/>
        </p:nvSpPr>
        <p:spPr>
          <a:xfrm>
            <a:off x="502920" y="3950208"/>
            <a:ext cx="1463040" cy="237744"/>
          </a:xfrm>
          <a:prstGeom prst="rect">
            <a:avLst/>
          </a:prstGeom>
          <a:noFill/>
          <a:ln/>
        </p:spPr>
        <p:txBody>
          <a:bodyPr wrap="square" lIns="0" tIns="0" rIns="0" bIns="0" rtlCol="0" anchor="ctr"/>
          <a:lstStyle/>
          <a:p>
            <a:pPr marL="0" indent="0">
              <a:buNone/>
            </a:pPr>
            <a:r>
              <a:rPr lang="en-US" sz="1000" b="1">
                <a:solidFill>
                  <a:srgbClr val="475569"/>
                </a:solidFill>
                <a:latin typeface="Calibri" pitchFamily="34" charset="0"/>
                <a:ea typeface="Calibri" pitchFamily="34" charset="-122"/>
                <a:cs typeface="Calibri" pitchFamily="34" charset="-120"/>
              </a:rPr>
              <a:t>Device</a:t>
            </a:r>
            <a:endParaRPr lang="en-US" sz="1000"/>
          </a:p>
        </p:txBody>
      </p:sp>
      <p:sp>
        <p:nvSpPr>
          <p:cNvPr id="26" name="Text 24"/>
          <p:cNvSpPr/>
          <p:nvPr/>
        </p:nvSpPr>
        <p:spPr>
          <a:xfrm>
            <a:off x="2011680" y="3950208"/>
            <a:ext cx="2194560" cy="237744"/>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CUDA (GPU)</a:t>
            </a:r>
            <a:endParaRPr lang="en-US" sz="1000"/>
          </a:p>
        </p:txBody>
      </p:sp>
      <p:sp>
        <p:nvSpPr>
          <p:cNvPr id="27" name="Text 25"/>
          <p:cNvSpPr/>
          <p:nvPr/>
        </p:nvSpPr>
        <p:spPr>
          <a:xfrm>
            <a:off x="502920" y="4215384"/>
            <a:ext cx="1463040" cy="237744"/>
          </a:xfrm>
          <a:prstGeom prst="rect">
            <a:avLst/>
          </a:prstGeom>
          <a:noFill/>
          <a:ln/>
        </p:spPr>
        <p:txBody>
          <a:bodyPr wrap="square" lIns="0" tIns="0" rIns="0" bIns="0" rtlCol="0" anchor="ctr"/>
          <a:lstStyle/>
          <a:p>
            <a:pPr marL="0" indent="0">
              <a:buNone/>
            </a:pPr>
            <a:r>
              <a:rPr lang="en-US" sz="1000" b="1">
                <a:solidFill>
                  <a:srgbClr val="475569"/>
                </a:solidFill>
                <a:latin typeface="Calibri" pitchFamily="34" charset="0"/>
                <a:ea typeface="Calibri" pitchFamily="34" charset="-122"/>
                <a:cs typeface="Calibri" pitchFamily="34" charset="-120"/>
              </a:rPr>
              <a:t>Optimizer</a:t>
            </a:r>
            <a:endParaRPr lang="en-US" sz="1000"/>
          </a:p>
        </p:txBody>
      </p:sp>
      <p:sp>
        <p:nvSpPr>
          <p:cNvPr id="28" name="Text 26"/>
          <p:cNvSpPr/>
          <p:nvPr/>
        </p:nvSpPr>
        <p:spPr>
          <a:xfrm>
            <a:off x="2011680" y="4215384"/>
            <a:ext cx="2194560" cy="237744"/>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Adam  |  Loss: CrossEntropy</a:t>
            </a:r>
            <a:endParaRPr lang="en-US" sz="1000"/>
          </a:p>
        </p:txBody>
      </p:sp>
      <p:sp>
        <p:nvSpPr>
          <p:cNvPr id="29" name="Shape 27"/>
          <p:cNvSpPr/>
          <p:nvPr/>
        </p:nvSpPr>
        <p:spPr>
          <a:xfrm>
            <a:off x="4709160" y="1298448"/>
            <a:ext cx="4114800" cy="347472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30" name="Text 28"/>
          <p:cNvSpPr/>
          <p:nvPr/>
        </p:nvSpPr>
        <p:spPr>
          <a:xfrm>
            <a:off x="4892040" y="1417320"/>
            <a:ext cx="3749040" cy="292608"/>
          </a:xfrm>
          <a:prstGeom prst="rect">
            <a:avLst/>
          </a:prstGeom>
          <a:noFill/>
          <a:ln/>
        </p:spPr>
        <p:txBody>
          <a:bodyPr wrap="square" lIns="0" tIns="0" rIns="0" bIns="0" rtlCol="0" anchor="ctr"/>
          <a:lstStyle/>
          <a:p>
            <a:pPr marL="0" indent="0">
              <a:buNone/>
            </a:pPr>
            <a:r>
              <a:rPr lang="en-US" sz="1300" b="1">
                <a:solidFill>
                  <a:srgbClr val="0D9488"/>
                </a:solidFill>
                <a:latin typeface="Calibri" pitchFamily="34" charset="0"/>
                <a:ea typeface="Calibri" pitchFamily="34" charset="-122"/>
                <a:cs typeface="Calibri" pitchFamily="34" charset="-120"/>
              </a:rPr>
              <a:t>SimpleCNN Architecture</a:t>
            </a:r>
            <a:endParaRPr lang="en-US" sz="1300"/>
          </a:p>
        </p:txBody>
      </p:sp>
      <p:sp>
        <p:nvSpPr>
          <p:cNvPr id="31" name="Shape 29"/>
          <p:cNvSpPr/>
          <p:nvPr/>
        </p:nvSpPr>
        <p:spPr>
          <a:xfrm>
            <a:off x="4892040" y="1828800"/>
            <a:ext cx="3703320" cy="329184"/>
          </a:xfrm>
          <a:prstGeom prst="rect">
            <a:avLst/>
          </a:prstGeom>
          <a:solidFill>
            <a:srgbClr val="EFF6FF"/>
          </a:solidFill>
          <a:ln w="12700">
            <a:solidFill>
              <a:srgbClr val="BFDBFE"/>
            </a:solidFill>
            <a:prstDash val="solid"/>
          </a:ln>
        </p:spPr>
        <p:txBody>
          <a:bodyPr/>
          <a:lstStyle/>
          <a:p>
            <a:endParaRPr lang="en-SG"/>
          </a:p>
        </p:txBody>
      </p:sp>
      <p:sp>
        <p:nvSpPr>
          <p:cNvPr id="32" name="Text 30"/>
          <p:cNvSpPr/>
          <p:nvPr/>
        </p:nvSpPr>
        <p:spPr>
          <a:xfrm>
            <a:off x="4983480" y="1856232"/>
            <a:ext cx="2743200" cy="274320"/>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Conv2D(3→32, 3×3) + ReLU + MaxPool2D</a:t>
            </a:r>
            <a:endParaRPr lang="en-US" sz="950"/>
          </a:p>
        </p:txBody>
      </p:sp>
      <p:sp>
        <p:nvSpPr>
          <p:cNvPr id="33" name="Text 31"/>
          <p:cNvSpPr/>
          <p:nvPr/>
        </p:nvSpPr>
        <p:spPr>
          <a:xfrm>
            <a:off x="7754112" y="1856232"/>
            <a:ext cx="804672" cy="274320"/>
          </a:xfrm>
          <a:prstGeom prst="rect">
            <a:avLst/>
          </a:prstGeom>
          <a:noFill/>
          <a:ln/>
        </p:spPr>
        <p:txBody>
          <a:bodyPr wrap="square" lIns="0" tIns="0" rIns="0" bIns="0" rtlCol="0" anchor="ctr"/>
          <a:lstStyle/>
          <a:p>
            <a:pPr marL="0" indent="0" algn="r">
              <a:buNone/>
            </a:pPr>
            <a:r>
              <a:rPr lang="en-US" sz="900" b="1">
                <a:solidFill>
                  <a:srgbClr val="0D9488"/>
                </a:solidFill>
                <a:latin typeface="Calibri" pitchFamily="34" charset="0"/>
                <a:ea typeface="Calibri" pitchFamily="34" charset="-122"/>
                <a:cs typeface="Calibri" pitchFamily="34" charset="-120"/>
              </a:rPr>
              <a:t>→ 16×16</a:t>
            </a:r>
            <a:endParaRPr lang="en-US" sz="900"/>
          </a:p>
        </p:txBody>
      </p:sp>
      <p:sp>
        <p:nvSpPr>
          <p:cNvPr id="34" name="Shape 32"/>
          <p:cNvSpPr/>
          <p:nvPr/>
        </p:nvSpPr>
        <p:spPr>
          <a:xfrm>
            <a:off x="4892040" y="2286000"/>
            <a:ext cx="3703320" cy="329184"/>
          </a:xfrm>
          <a:prstGeom prst="rect">
            <a:avLst/>
          </a:prstGeom>
          <a:solidFill>
            <a:srgbClr val="EFF6FF"/>
          </a:solidFill>
          <a:ln w="12700">
            <a:solidFill>
              <a:srgbClr val="BFDBFE"/>
            </a:solidFill>
            <a:prstDash val="solid"/>
          </a:ln>
        </p:spPr>
        <p:txBody>
          <a:bodyPr/>
          <a:lstStyle/>
          <a:p>
            <a:endParaRPr lang="en-SG"/>
          </a:p>
        </p:txBody>
      </p:sp>
      <p:sp>
        <p:nvSpPr>
          <p:cNvPr id="35" name="Text 33"/>
          <p:cNvSpPr/>
          <p:nvPr/>
        </p:nvSpPr>
        <p:spPr>
          <a:xfrm>
            <a:off x="4983480" y="2313432"/>
            <a:ext cx="2743200" cy="274320"/>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Conv2D(32→64, 3×3) + ReLU + MaxPool2D</a:t>
            </a:r>
            <a:endParaRPr lang="en-US" sz="950"/>
          </a:p>
        </p:txBody>
      </p:sp>
      <p:sp>
        <p:nvSpPr>
          <p:cNvPr id="36" name="Text 34"/>
          <p:cNvSpPr/>
          <p:nvPr/>
        </p:nvSpPr>
        <p:spPr>
          <a:xfrm>
            <a:off x="7754112" y="2313432"/>
            <a:ext cx="804672" cy="274320"/>
          </a:xfrm>
          <a:prstGeom prst="rect">
            <a:avLst/>
          </a:prstGeom>
          <a:noFill/>
          <a:ln/>
        </p:spPr>
        <p:txBody>
          <a:bodyPr wrap="square" lIns="0" tIns="0" rIns="0" bIns="0" rtlCol="0" anchor="ctr"/>
          <a:lstStyle/>
          <a:p>
            <a:pPr marL="0" indent="0" algn="r">
              <a:buNone/>
            </a:pPr>
            <a:r>
              <a:rPr lang="en-US" sz="900" b="1">
                <a:solidFill>
                  <a:srgbClr val="0D9488"/>
                </a:solidFill>
                <a:latin typeface="Calibri" pitchFamily="34" charset="0"/>
                <a:ea typeface="Calibri" pitchFamily="34" charset="-122"/>
                <a:cs typeface="Calibri" pitchFamily="34" charset="-120"/>
              </a:rPr>
              <a:t>→ 8×8</a:t>
            </a:r>
            <a:endParaRPr lang="en-US" sz="900"/>
          </a:p>
        </p:txBody>
      </p:sp>
      <p:sp>
        <p:nvSpPr>
          <p:cNvPr id="37" name="Shape 35"/>
          <p:cNvSpPr/>
          <p:nvPr/>
        </p:nvSpPr>
        <p:spPr>
          <a:xfrm>
            <a:off x="4892040" y="2743200"/>
            <a:ext cx="3703320" cy="329184"/>
          </a:xfrm>
          <a:prstGeom prst="rect">
            <a:avLst/>
          </a:prstGeom>
          <a:solidFill>
            <a:srgbClr val="EFF6FF"/>
          </a:solidFill>
          <a:ln w="12700">
            <a:solidFill>
              <a:srgbClr val="BFDBFE"/>
            </a:solidFill>
            <a:prstDash val="solid"/>
          </a:ln>
        </p:spPr>
        <p:txBody>
          <a:bodyPr/>
          <a:lstStyle/>
          <a:p>
            <a:endParaRPr lang="en-SG"/>
          </a:p>
        </p:txBody>
      </p:sp>
      <p:sp>
        <p:nvSpPr>
          <p:cNvPr id="38" name="Text 36"/>
          <p:cNvSpPr/>
          <p:nvPr/>
        </p:nvSpPr>
        <p:spPr>
          <a:xfrm>
            <a:off x="4983480" y="2770632"/>
            <a:ext cx="2743200" cy="274320"/>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Conv2D(64→128, 3×3) + ReLU + MaxPool2D</a:t>
            </a:r>
            <a:endParaRPr lang="en-US" sz="950"/>
          </a:p>
        </p:txBody>
      </p:sp>
      <p:sp>
        <p:nvSpPr>
          <p:cNvPr id="39" name="Text 37"/>
          <p:cNvSpPr/>
          <p:nvPr/>
        </p:nvSpPr>
        <p:spPr>
          <a:xfrm>
            <a:off x="7754112" y="2770632"/>
            <a:ext cx="804672" cy="274320"/>
          </a:xfrm>
          <a:prstGeom prst="rect">
            <a:avLst/>
          </a:prstGeom>
          <a:noFill/>
          <a:ln/>
        </p:spPr>
        <p:txBody>
          <a:bodyPr wrap="square" lIns="0" tIns="0" rIns="0" bIns="0" rtlCol="0" anchor="ctr"/>
          <a:lstStyle/>
          <a:p>
            <a:pPr marL="0" indent="0" algn="r">
              <a:buNone/>
            </a:pPr>
            <a:r>
              <a:rPr lang="en-US" sz="900" b="1">
                <a:solidFill>
                  <a:srgbClr val="0D9488"/>
                </a:solidFill>
                <a:latin typeface="Calibri" pitchFamily="34" charset="0"/>
                <a:ea typeface="Calibri" pitchFamily="34" charset="-122"/>
                <a:cs typeface="Calibri" pitchFamily="34" charset="-120"/>
              </a:rPr>
              <a:t>→ 4×4</a:t>
            </a:r>
            <a:endParaRPr lang="en-US" sz="900"/>
          </a:p>
        </p:txBody>
      </p:sp>
      <p:sp>
        <p:nvSpPr>
          <p:cNvPr id="40" name="Shape 38"/>
          <p:cNvSpPr/>
          <p:nvPr/>
        </p:nvSpPr>
        <p:spPr>
          <a:xfrm>
            <a:off x="4892040" y="3200400"/>
            <a:ext cx="3703320" cy="329184"/>
          </a:xfrm>
          <a:prstGeom prst="rect">
            <a:avLst/>
          </a:prstGeom>
          <a:solidFill>
            <a:srgbClr val="EFF6FF"/>
          </a:solidFill>
          <a:ln w="12700">
            <a:solidFill>
              <a:srgbClr val="BFDBFE"/>
            </a:solidFill>
            <a:prstDash val="solid"/>
          </a:ln>
        </p:spPr>
        <p:txBody>
          <a:bodyPr/>
          <a:lstStyle/>
          <a:p>
            <a:endParaRPr lang="en-SG"/>
          </a:p>
        </p:txBody>
      </p:sp>
      <p:sp>
        <p:nvSpPr>
          <p:cNvPr id="41" name="Text 39"/>
          <p:cNvSpPr/>
          <p:nvPr/>
        </p:nvSpPr>
        <p:spPr>
          <a:xfrm>
            <a:off x="4983480" y="3227832"/>
            <a:ext cx="2743200" cy="274320"/>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Flatten  →  Linear(2048→256) + ReLU</a:t>
            </a:r>
            <a:endParaRPr lang="en-US" sz="950"/>
          </a:p>
        </p:txBody>
      </p:sp>
      <p:sp>
        <p:nvSpPr>
          <p:cNvPr id="42" name="Shape 40"/>
          <p:cNvSpPr/>
          <p:nvPr/>
        </p:nvSpPr>
        <p:spPr>
          <a:xfrm>
            <a:off x="4892040" y="3657600"/>
            <a:ext cx="3703320" cy="329184"/>
          </a:xfrm>
          <a:prstGeom prst="rect">
            <a:avLst/>
          </a:prstGeom>
          <a:solidFill>
            <a:srgbClr val="EFF6FF"/>
          </a:solidFill>
          <a:ln w="12700">
            <a:solidFill>
              <a:srgbClr val="BFDBFE"/>
            </a:solidFill>
            <a:prstDash val="solid"/>
          </a:ln>
        </p:spPr>
        <p:txBody>
          <a:bodyPr/>
          <a:lstStyle/>
          <a:p>
            <a:endParaRPr lang="en-SG"/>
          </a:p>
        </p:txBody>
      </p:sp>
      <p:sp>
        <p:nvSpPr>
          <p:cNvPr id="43" name="Text 41"/>
          <p:cNvSpPr/>
          <p:nvPr/>
        </p:nvSpPr>
        <p:spPr>
          <a:xfrm>
            <a:off x="4983480" y="3685032"/>
            <a:ext cx="2743200" cy="274320"/>
          </a:xfrm>
          <a:prstGeom prst="rect">
            <a:avLst/>
          </a:prstGeom>
          <a:noFill/>
          <a:ln/>
        </p:spPr>
        <p:txBody>
          <a:bodyPr wrap="square" lIns="0" tIns="0" rIns="0" bIns="0" rtlCol="0" anchor="ctr"/>
          <a:lstStyle/>
          <a:p>
            <a:pPr marL="0" indent="0">
              <a:buNone/>
            </a:pPr>
            <a:r>
              <a:rPr lang="en-US" sz="950">
                <a:solidFill>
                  <a:srgbClr val="1E293B"/>
                </a:solidFill>
                <a:latin typeface="Calibri" pitchFamily="34" charset="0"/>
                <a:ea typeface="Calibri" pitchFamily="34" charset="-122"/>
                <a:cs typeface="Calibri" pitchFamily="34" charset="-120"/>
              </a:rPr>
              <a:t>Dropout(0.5)  →  Linear(256→10)</a:t>
            </a:r>
            <a:endParaRPr lang="en-US" sz="950"/>
          </a:p>
        </p:txBody>
      </p:sp>
      <p:sp>
        <p:nvSpPr>
          <p:cNvPr id="44" name="Text 42"/>
          <p:cNvSpPr/>
          <p:nvPr/>
        </p:nvSpPr>
        <p:spPr>
          <a:xfrm>
            <a:off x="4892040" y="4279392"/>
            <a:ext cx="3703320" cy="237744"/>
          </a:xfrm>
          <a:prstGeom prst="rect">
            <a:avLst/>
          </a:prstGeom>
          <a:noFill/>
          <a:ln/>
        </p:spPr>
        <p:txBody>
          <a:bodyPr wrap="square" lIns="0" tIns="0" rIns="0" bIns="0" rtlCol="0" anchor="ctr"/>
          <a:lstStyle/>
          <a:p>
            <a:pPr marL="0" indent="0">
              <a:buNone/>
            </a:pPr>
            <a:r>
              <a:rPr lang="en-US" sz="1000" i="1">
                <a:solidFill>
                  <a:srgbClr val="475569"/>
                </a:solidFill>
                <a:latin typeface="Calibri" pitchFamily="34" charset="0"/>
                <a:ea typeface="Calibri" pitchFamily="34" charset="-122"/>
                <a:cs typeface="Calibri" pitchFamily="34" charset="-120"/>
              </a:rPr>
              <a:t>Input: 32×32 RGB (3-channel)</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1  ·  TECHNICAL COMPLETION &amp; REPRODUCIBILITY</a:t>
            </a:r>
            <a:endParaRPr lang="en-US" sz="900"/>
          </a:p>
        </p:txBody>
      </p:sp>
      <p:sp>
        <p:nvSpPr>
          <p:cNvPr id="4" name="Shape 2"/>
          <p:cNvSpPr/>
          <p:nvPr/>
        </p:nvSpPr>
        <p:spPr>
          <a:xfrm>
            <a:off x="365760" y="384048"/>
            <a:ext cx="1371600" cy="237744"/>
          </a:xfrm>
          <a:prstGeom prst="rect">
            <a:avLst/>
          </a:prstGeom>
          <a:solidFill>
            <a:srgbClr val="0D9488"/>
          </a:solidFill>
          <a:ln w="12700">
            <a:solidFill>
              <a:srgbClr val="0D9488"/>
            </a:solidFill>
            <a:prstDash val="solid"/>
          </a:ln>
        </p:spPr>
        <p:txBody>
          <a:bodyPr/>
          <a:lstStyle/>
          <a:p>
            <a:endParaRPr lang="en-SG"/>
          </a:p>
        </p:txBody>
      </p:sp>
      <p:sp>
        <p:nvSpPr>
          <p:cNvPr id="5" name="Text 3"/>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Training Results</a:t>
            </a:r>
            <a:endParaRPr lang="en-US" sz="900"/>
          </a:p>
        </p:txBody>
      </p:sp>
      <p:sp>
        <p:nvSpPr>
          <p:cNvPr id="6" name="Text 4"/>
          <p:cNvSpPr/>
          <p:nvPr/>
        </p:nvSpPr>
        <p:spPr>
          <a:xfrm>
            <a:off x="365760" y="694944"/>
            <a:ext cx="8412480" cy="502920"/>
          </a:xfrm>
          <a:prstGeom prst="rect">
            <a:avLst/>
          </a:prstGeom>
          <a:noFill/>
          <a:ln/>
        </p:spPr>
        <p:txBody>
          <a:bodyPr wrap="square" lIns="0" tIns="0" rIns="0" bIns="0" rtlCol="0" anchor="ctr"/>
          <a:lstStyle/>
          <a:p>
            <a:pPr marL="0" indent="0">
              <a:buNone/>
            </a:pPr>
            <a:r>
              <a:rPr lang="en-US" sz="2600" b="1">
                <a:solidFill>
                  <a:srgbClr val="1E293B"/>
                </a:solidFill>
                <a:latin typeface="Calibri" pitchFamily="34" charset="0"/>
                <a:ea typeface="Calibri" pitchFamily="34" charset="-122"/>
                <a:cs typeface="Calibri" pitchFamily="34" charset="-120"/>
              </a:rPr>
              <a:t>Training Loss &amp; Model Accuracy</a:t>
            </a:r>
            <a:endParaRPr lang="en-US" sz="2600"/>
          </a:p>
        </p:txBody>
      </p:sp>
      <p:graphicFrame>
        <p:nvGraphicFramePr>
          <p:cNvPr id="7" name="Chart 0"/>
          <p:cNvGraphicFramePr/>
          <p:nvPr/>
        </p:nvGraphicFramePr>
        <p:xfrm>
          <a:off x="320040" y="1280160"/>
          <a:ext cx="53035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806440" y="1298448"/>
            <a:ext cx="1554480" cy="105156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9" name="Text 6"/>
          <p:cNvSpPr/>
          <p:nvPr/>
        </p:nvSpPr>
        <p:spPr>
          <a:xfrm>
            <a:off x="5897880" y="1408176"/>
            <a:ext cx="1371600" cy="578358"/>
          </a:xfrm>
          <a:prstGeom prst="rect">
            <a:avLst/>
          </a:prstGeom>
          <a:noFill/>
          <a:ln/>
        </p:spPr>
        <p:txBody>
          <a:bodyPr wrap="square" lIns="0" tIns="0" rIns="0" bIns="0" rtlCol="0" anchor="ctr"/>
          <a:lstStyle/>
          <a:p>
            <a:pPr marL="0" indent="0" algn="ctr">
              <a:buNone/>
            </a:pPr>
            <a:r>
              <a:rPr lang="en-US" sz="3400" b="1">
                <a:solidFill>
                  <a:srgbClr val="0D9488"/>
                </a:solidFill>
                <a:latin typeface="Calibri" pitchFamily="34" charset="0"/>
                <a:ea typeface="Calibri" pitchFamily="34" charset="-122"/>
                <a:cs typeface="Calibri" pitchFamily="34" charset="-120"/>
              </a:rPr>
              <a:t>64.26%</a:t>
            </a:r>
            <a:endParaRPr lang="en-US" sz="3400"/>
          </a:p>
        </p:txBody>
      </p:sp>
      <p:sp>
        <p:nvSpPr>
          <p:cNvPr id="10" name="Text 7"/>
          <p:cNvSpPr/>
          <p:nvPr/>
        </p:nvSpPr>
        <p:spPr>
          <a:xfrm>
            <a:off x="5897880" y="1950415"/>
            <a:ext cx="1371600" cy="368046"/>
          </a:xfrm>
          <a:prstGeom prst="rect">
            <a:avLst/>
          </a:prstGeom>
          <a:noFill/>
          <a:ln/>
        </p:spPr>
        <p:txBody>
          <a:bodyPr wrap="square" lIns="0" tIns="0" rIns="0" bIns="0" rtlCol="0" anchor="ctr"/>
          <a:lstStyle/>
          <a:p>
            <a:pPr marL="0" indent="0" algn="ctr">
              <a:buNone/>
            </a:pPr>
            <a:r>
              <a:rPr lang="en-US" sz="1100">
                <a:solidFill>
                  <a:srgbClr val="475569"/>
                </a:solidFill>
                <a:latin typeface="Calibri" pitchFamily="34" charset="0"/>
                <a:ea typeface="Calibri" pitchFamily="34" charset="-122"/>
                <a:cs typeface="Calibri" pitchFamily="34" charset="-120"/>
              </a:rPr>
              <a:t>Baseline</a:t>
            </a:r>
            <a:endParaRPr lang="en-US" sz="1100"/>
          </a:p>
          <a:p>
            <a:pPr marL="0" indent="0" algn="ctr">
              <a:buNone/>
            </a:pPr>
            <a:r>
              <a:rPr lang="en-US" sz="1100">
                <a:solidFill>
                  <a:srgbClr val="475569"/>
                </a:solidFill>
                <a:latin typeface="Calibri" pitchFamily="34" charset="0"/>
                <a:ea typeface="Calibri" pitchFamily="34" charset="-122"/>
                <a:cs typeface="Calibri" pitchFamily="34" charset="-120"/>
              </a:rPr>
              <a:t>Clean Accuracy</a:t>
            </a:r>
            <a:endParaRPr lang="en-US" sz="1100"/>
          </a:p>
        </p:txBody>
      </p:sp>
      <p:sp>
        <p:nvSpPr>
          <p:cNvPr id="11" name="Shape 8"/>
          <p:cNvSpPr/>
          <p:nvPr/>
        </p:nvSpPr>
        <p:spPr>
          <a:xfrm>
            <a:off x="7452360" y="1298448"/>
            <a:ext cx="1554480" cy="105156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2" name="Text 9"/>
          <p:cNvSpPr/>
          <p:nvPr/>
        </p:nvSpPr>
        <p:spPr>
          <a:xfrm>
            <a:off x="7543800" y="1408176"/>
            <a:ext cx="1371600" cy="578358"/>
          </a:xfrm>
          <a:prstGeom prst="rect">
            <a:avLst/>
          </a:prstGeom>
          <a:noFill/>
          <a:ln/>
        </p:spPr>
        <p:txBody>
          <a:bodyPr wrap="square" lIns="0" tIns="0" rIns="0" bIns="0" rtlCol="0" anchor="ctr"/>
          <a:lstStyle/>
          <a:p>
            <a:pPr marL="0" indent="0" algn="ctr">
              <a:buNone/>
            </a:pPr>
            <a:r>
              <a:rPr lang="en-US" sz="3400" b="1">
                <a:solidFill>
                  <a:srgbClr val="F59E0B"/>
                </a:solidFill>
                <a:latin typeface="Calibri" pitchFamily="34" charset="0"/>
                <a:ea typeface="Calibri" pitchFamily="34" charset="-122"/>
                <a:cs typeface="Calibri" pitchFamily="34" charset="-120"/>
              </a:rPr>
              <a:t>60.23%</a:t>
            </a:r>
            <a:endParaRPr lang="en-US" sz="3400"/>
          </a:p>
        </p:txBody>
      </p:sp>
      <p:sp>
        <p:nvSpPr>
          <p:cNvPr id="13" name="Text 10"/>
          <p:cNvSpPr/>
          <p:nvPr/>
        </p:nvSpPr>
        <p:spPr>
          <a:xfrm>
            <a:off x="7543800" y="1950415"/>
            <a:ext cx="1371600" cy="368046"/>
          </a:xfrm>
          <a:prstGeom prst="rect">
            <a:avLst/>
          </a:prstGeom>
          <a:noFill/>
          <a:ln/>
        </p:spPr>
        <p:txBody>
          <a:bodyPr wrap="square" lIns="0" tIns="0" rIns="0" bIns="0" rtlCol="0" anchor="ctr"/>
          <a:lstStyle/>
          <a:p>
            <a:pPr marL="0" indent="0" algn="ctr">
              <a:buNone/>
            </a:pPr>
            <a:r>
              <a:rPr lang="en-US" sz="1100">
                <a:solidFill>
                  <a:srgbClr val="475569"/>
                </a:solidFill>
                <a:latin typeface="Calibri" pitchFamily="34" charset="0"/>
                <a:ea typeface="Calibri" pitchFamily="34" charset="-122"/>
                <a:cs typeface="Calibri" pitchFamily="34" charset="-120"/>
              </a:rPr>
              <a:t>Poisoned</a:t>
            </a:r>
            <a:endParaRPr lang="en-US" sz="1100"/>
          </a:p>
          <a:p>
            <a:pPr marL="0" indent="0" algn="ctr">
              <a:buNone/>
            </a:pPr>
            <a:r>
              <a:rPr lang="en-US" sz="1100">
                <a:solidFill>
                  <a:srgbClr val="475569"/>
                </a:solidFill>
                <a:latin typeface="Calibri" pitchFamily="34" charset="0"/>
                <a:ea typeface="Calibri" pitchFamily="34" charset="-122"/>
                <a:cs typeface="Calibri" pitchFamily="34" charset="-120"/>
              </a:rPr>
              <a:t>Clean Accuracy</a:t>
            </a:r>
            <a:endParaRPr lang="en-US" sz="1100"/>
          </a:p>
        </p:txBody>
      </p:sp>
      <p:sp>
        <p:nvSpPr>
          <p:cNvPr id="14" name="Shape 11"/>
          <p:cNvSpPr/>
          <p:nvPr/>
        </p:nvSpPr>
        <p:spPr>
          <a:xfrm>
            <a:off x="5806440" y="2487168"/>
            <a:ext cx="1554480" cy="105156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5" name="Text 12"/>
          <p:cNvSpPr/>
          <p:nvPr/>
        </p:nvSpPr>
        <p:spPr>
          <a:xfrm>
            <a:off x="5897880" y="2596896"/>
            <a:ext cx="1371600" cy="578358"/>
          </a:xfrm>
          <a:prstGeom prst="rect">
            <a:avLst/>
          </a:prstGeom>
          <a:noFill/>
          <a:ln/>
        </p:spPr>
        <p:txBody>
          <a:bodyPr wrap="square" lIns="0" tIns="0" rIns="0" bIns="0" rtlCol="0" anchor="ctr"/>
          <a:lstStyle/>
          <a:p>
            <a:pPr marL="0" indent="0" algn="ctr">
              <a:buNone/>
            </a:pPr>
            <a:r>
              <a:rPr lang="en-US" sz="3400" b="1">
                <a:solidFill>
                  <a:srgbClr val="22C55E"/>
                </a:solidFill>
                <a:latin typeface="Calibri" pitchFamily="34" charset="0"/>
                <a:ea typeface="Calibri" pitchFamily="34" charset="-122"/>
                <a:cs typeface="Calibri" pitchFamily="34" charset="-120"/>
              </a:rPr>
              <a:t>2.26%</a:t>
            </a:r>
            <a:endParaRPr lang="en-US" sz="3400"/>
          </a:p>
        </p:txBody>
      </p:sp>
      <p:sp>
        <p:nvSpPr>
          <p:cNvPr id="16" name="Text 13"/>
          <p:cNvSpPr/>
          <p:nvPr/>
        </p:nvSpPr>
        <p:spPr>
          <a:xfrm>
            <a:off x="5897880" y="3139135"/>
            <a:ext cx="1371600" cy="368046"/>
          </a:xfrm>
          <a:prstGeom prst="rect">
            <a:avLst/>
          </a:prstGeom>
          <a:noFill/>
          <a:ln/>
        </p:spPr>
        <p:txBody>
          <a:bodyPr wrap="square" lIns="0" tIns="0" rIns="0" bIns="0" rtlCol="0" anchor="ctr"/>
          <a:lstStyle/>
          <a:p>
            <a:pPr marL="0" indent="0" algn="ctr">
              <a:buNone/>
            </a:pPr>
            <a:r>
              <a:rPr lang="en-US" sz="1100">
                <a:solidFill>
                  <a:srgbClr val="475569"/>
                </a:solidFill>
                <a:latin typeface="Calibri" pitchFamily="34" charset="0"/>
                <a:ea typeface="Calibri" pitchFamily="34" charset="-122"/>
                <a:cs typeface="Calibri" pitchFamily="34" charset="-120"/>
              </a:rPr>
              <a:t>Baseline</a:t>
            </a:r>
            <a:endParaRPr lang="en-US" sz="1100"/>
          </a:p>
          <a:p>
            <a:pPr marL="0" indent="0" algn="ctr">
              <a:buNone/>
            </a:pPr>
            <a:r>
              <a:rPr lang="en-US" sz="1100">
                <a:solidFill>
                  <a:srgbClr val="475569"/>
                </a:solidFill>
                <a:latin typeface="Calibri" pitchFamily="34" charset="0"/>
                <a:ea typeface="Calibri" pitchFamily="34" charset="-122"/>
                <a:cs typeface="Calibri" pitchFamily="34" charset="-120"/>
              </a:rPr>
              <a:t>ASR (no trigger)</a:t>
            </a:r>
            <a:endParaRPr lang="en-US" sz="1100"/>
          </a:p>
        </p:txBody>
      </p:sp>
      <p:sp>
        <p:nvSpPr>
          <p:cNvPr id="17" name="Shape 14"/>
          <p:cNvSpPr/>
          <p:nvPr/>
        </p:nvSpPr>
        <p:spPr>
          <a:xfrm>
            <a:off x="7452360" y="2487168"/>
            <a:ext cx="1554480" cy="105156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8" name="Text 15"/>
          <p:cNvSpPr/>
          <p:nvPr/>
        </p:nvSpPr>
        <p:spPr>
          <a:xfrm>
            <a:off x="7543800" y="2596896"/>
            <a:ext cx="1371600" cy="578358"/>
          </a:xfrm>
          <a:prstGeom prst="rect">
            <a:avLst/>
          </a:prstGeom>
          <a:noFill/>
          <a:ln/>
        </p:spPr>
        <p:txBody>
          <a:bodyPr wrap="square" lIns="0" tIns="0" rIns="0" bIns="0" rtlCol="0" anchor="ctr"/>
          <a:lstStyle/>
          <a:p>
            <a:pPr marL="0" indent="0" algn="ctr">
              <a:buNone/>
            </a:pPr>
            <a:r>
              <a:rPr lang="en-US" sz="3400" b="1">
                <a:solidFill>
                  <a:srgbClr val="EF4444"/>
                </a:solidFill>
                <a:latin typeface="Calibri" pitchFamily="34" charset="0"/>
                <a:ea typeface="Calibri" pitchFamily="34" charset="-122"/>
                <a:cs typeface="Calibri" pitchFamily="34" charset="-120"/>
              </a:rPr>
              <a:t>95.29%</a:t>
            </a:r>
            <a:endParaRPr lang="en-US" sz="3400"/>
          </a:p>
        </p:txBody>
      </p:sp>
      <p:sp>
        <p:nvSpPr>
          <p:cNvPr id="19" name="Text 16"/>
          <p:cNvSpPr/>
          <p:nvPr/>
        </p:nvSpPr>
        <p:spPr>
          <a:xfrm>
            <a:off x="7543800" y="3139135"/>
            <a:ext cx="1371600" cy="368046"/>
          </a:xfrm>
          <a:prstGeom prst="rect">
            <a:avLst/>
          </a:prstGeom>
          <a:noFill/>
          <a:ln/>
        </p:spPr>
        <p:txBody>
          <a:bodyPr wrap="square" lIns="0" tIns="0" rIns="0" bIns="0" rtlCol="0" anchor="ctr"/>
          <a:lstStyle/>
          <a:p>
            <a:pPr marL="0" indent="0" algn="ctr">
              <a:buNone/>
            </a:pPr>
            <a:r>
              <a:rPr lang="en-US" sz="1100">
                <a:solidFill>
                  <a:srgbClr val="475569"/>
                </a:solidFill>
                <a:latin typeface="Calibri" pitchFamily="34" charset="0"/>
                <a:ea typeface="Calibri" pitchFamily="34" charset="-122"/>
                <a:cs typeface="Calibri" pitchFamily="34" charset="-120"/>
              </a:rPr>
              <a:t>Poisoned</a:t>
            </a:r>
            <a:endParaRPr lang="en-US" sz="1100"/>
          </a:p>
          <a:p>
            <a:pPr marL="0" indent="0" algn="ctr">
              <a:buNone/>
            </a:pPr>
            <a:r>
              <a:rPr lang="en-US" sz="1100">
                <a:solidFill>
                  <a:srgbClr val="475569"/>
                </a:solidFill>
                <a:latin typeface="Calibri" pitchFamily="34" charset="0"/>
                <a:ea typeface="Calibri" pitchFamily="34" charset="-122"/>
                <a:cs typeface="Calibri" pitchFamily="34" charset="-120"/>
              </a:rPr>
              <a:t>ASR (triggered)</a:t>
            </a:r>
            <a:endParaRPr lang="en-US" sz="1100"/>
          </a:p>
        </p:txBody>
      </p:sp>
      <p:sp>
        <p:nvSpPr>
          <p:cNvPr id="20" name="Shape 17"/>
          <p:cNvSpPr/>
          <p:nvPr/>
        </p:nvSpPr>
        <p:spPr>
          <a:xfrm>
            <a:off x="5806440" y="3675888"/>
            <a:ext cx="3200400" cy="685800"/>
          </a:xfrm>
          <a:prstGeom prst="rect">
            <a:avLst/>
          </a:prstGeom>
          <a:solidFill>
            <a:srgbClr val="FEF2F2"/>
          </a:solidFill>
          <a:ln w="12700">
            <a:solidFill>
              <a:srgbClr val="FECACA"/>
            </a:solidFill>
            <a:prstDash val="solid"/>
          </a:ln>
        </p:spPr>
        <p:txBody>
          <a:bodyPr/>
          <a:lstStyle/>
          <a:p>
            <a:endParaRPr lang="en-SG"/>
          </a:p>
        </p:txBody>
      </p:sp>
      <p:sp>
        <p:nvSpPr>
          <p:cNvPr id="21" name="Text 18"/>
          <p:cNvSpPr/>
          <p:nvPr/>
        </p:nvSpPr>
        <p:spPr>
          <a:xfrm>
            <a:off x="5897880" y="3712464"/>
            <a:ext cx="3017520" cy="612648"/>
          </a:xfrm>
          <a:prstGeom prst="rect">
            <a:avLst/>
          </a:prstGeom>
          <a:noFill/>
          <a:ln/>
        </p:spPr>
        <p:txBody>
          <a:bodyPr wrap="square" lIns="0" tIns="0" rIns="0" bIns="0" rtlCol="0" anchor="ctr"/>
          <a:lstStyle/>
          <a:p>
            <a:pPr marL="0" indent="0">
              <a:buNone/>
            </a:pPr>
            <a:r>
              <a:rPr lang="en-US" sz="950">
                <a:solidFill>
                  <a:srgbClr val="991B1B"/>
                </a:solidFill>
                <a:latin typeface="Calibri" pitchFamily="34" charset="0"/>
                <a:ea typeface="Calibri" pitchFamily="34" charset="-122"/>
                <a:cs typeface="Calibri" pitchFamily="34" charset="-120"/>
              </a:rPr>
              <a:t>⚠  Backdoor succeeded: ASR jumped from 2.26% → 95.29%</a:t>
            </a:r>
            <a:endParaRPr lang="en-US" sz="950"/>
          </a:p>
          <a:p>
            <a:pPr marL="0" indent="0">
              <a:buNone/>
            </a:pPr>
            <a:r>
              <a:rPr lang="en-US" sz="950">
                <a:solidFill>
                  <a:srgbClr val="991B1B"/>
                </a:solidFill>
                <a:latin typeface="Calibri" pitchFamily="34" charset="0"/>
                <a:ea typeface="Calibri" pitchFamily="34" charset="-122"/>
                <a:cs typeface="Calibri" pitchFamily="34" charset="-120"/>
              </a:rPr>
              <a:t>while clean accuracy dropped only 4.03%</a:t>
            </a:r>
            <a:endParaRPr lang="en-US" sz="950"/>
          </a:p>
        </p:txBody>
      </p:sp>
      <p:sp>
        <p:nvSpPr>
          <p:cNvPr id="22" name="Text 19"/>
          <p:cNvSpPr/>
          <p:nvPr/>
        </p:nvSpPr>
        <p:spPr>
          <a:xfrm>
            <a:off x="320040" y="4466694"/>
            <a:ext cx="8503920" cy="256032"/>
          </a:xfrm>
          <a:prstGeom prst="rect">
            <a:avLst/>
          </a:prstGeom>
          <a:noFill/>
          <a:ln/>
        </p:spPr>
        <p:txBody>
          <a:bodyPr wrap="square" lIns="0" tIns="0" rIns="0" bIns="0" rtlCol="0" anchor="ctr"/>
          <a:lstStyle/>
          <a:p>
            <a:pPr marL="0" indent="0">
              <a:buNone/>
            </a:pPr>
            <a:r>
              <a:rPr lang="en-US" sz="900" i="1">
                <a:solidFill>
                  <a:srgbClr val="94A3B8"/>
                </a:solidFill>
                <a:latin typeface="Calibri" pitchFamily="34" charset="0"/>
                <a:ea typeface="Calibri" pitchFamily="34" charset="-122"/>
                <a:cs typeface="Calibri" pitchFamily="34" charset="-120"/>
              </a:rPr>
              <a:t>✓  All 9 workflow steps executed successfully  ·  Results reproducible with fixed seeds (torch/numpy/random = 42)</a:t>
            </a:r>
            <a:endParaRPr lang="en-US" sz="900"/>
          </a:p>
        </p:txBody>
      </p:sp>
      <p:sp>
        <p:nvSpPr>
          <p:cNvPr id="23" name="TextBox 22">
            <a:extLst>
              <a:ext uri="{FF2B5EF4-FFF2-40B4-BE49-F238E27FC236}">
                <a16:creationId xmlns:a16="http://schemas.microsoft.com/office/drawing/2014/main" id="{1E0BF30C-E684-59E9-B7FB-6AEE9ADCF4CE}"/>
              </a:ext>
            </a:extLst>
          </p:cNvPr>
          <p:cNvSpPr txBox="1"/>
          <p:nvPr/>
        </p:nvSpPr>
        <p:spPr>
          <a:xfrm>
            <a:off x="279998" y="4717628"/>
            <a:ext cx="87243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u="sng">
                <a:solidFill>
                  <a:srgbClr val="94A3B8"/>
                </a:solidFill>
                <a:latin typeface="Calibri"/>
                <a:ea typeface="Calibri"/>
                <a:cs typeface="Calibri"/>
              </a:rPr>
              <a:t>AI tools were</a:t>
            </a:r>
            <a:r>
              <a:rPr lang="en-US" sz="900" u="sng">
                <a:solidFill>
                  <a:schemeClr val="bg2">
                    <a:lumMod val="90000"/>
                  </a:schemeClr>
                </a:solidFill>
                <a:latin typeface="Calibri"/>
                <a:ea typeface="Calibri"/>
                <a:cs typeface="Calibri"/>
              </a:rPr>
              <a:t> </a:t>
            </a:r>
            <a:r>
              <a:rPr lang="en-US" sz="900" u="sng">
                <a:solidFill>
                  <a:srgbClr val="94A3B8"/>
                </a:solidFill>
                <a:latin typeface="Calibri"/>
                <a:ea typeface="Calibri"/>
                <a:cs typeface="Calibri"/>
              </a:rPr>
              <a:t>used for coding assistance, debugging support, workflow guidance, and slide structuring. All experimental design, interpretation, analysis, conclusions, and reflections were independently reviewed, validated and written by the team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B59B6-F5C2-F5D5-3D47-EE0BEBBDA24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35B20F-D6E0-F3D0-22B0-428BC5854F7F}"/>
              </a:ext>
            </a:extLst>
          </p:cNvPr>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a:extLst>
              <a:ext uri="{FF2B5EF4-FFF2-40B4-BE49-F238E27FC236}">
                <a16:creationId xmlns:a16="http://schemas.microsoft.com/office/drawing/2014/main" id="{D97CEF54-2276-C006-AADC-AA4CC4F57D4A}"/>
              </a:ext>
            </a:extLst>
          </p:cNvPr>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2  ·  EXPERIMENTATION &amp; SECURITY ANALYSIS</a:t>
            </a:r>
            <a:endParaRPr lang="en-US" sz="900"/>
          </a:p>
        </p:txBody>
      </p:sp>
      <p:sp>
        <p:nvSpPr>
          <p:cNvPr id="4" name="Shape 2">
            <a:extLst>
              <a:ext uri="{FF2B5EF4-FFF2-40B4-BE49-F238E27FC236}">
                <a16:creationId xmlns:a16="http://schemas.microsoft.com/office/drawing/2014/main" id="{6EF87765-B88B-F1F5-9FB1-4720AEFA9374}"/>
              </a:ext>
            </a:extLst>
          </p:cNvPr>
          <p:cNvSpPr/>
          <p:nvPr/>
        </p:nvSpPr>
        <p:spPr>
          <a:xfrm>
            <a:off x="365760" y="384048"/>
            <a:ext cx="1371600" cy="237744"/>
          </a:xfrm>
          <a:prstGeom prst="rect">
            <a:avLst/>
          </a:prstGeom>
          <a:solidFill>
            <a:srgbClr val="D97706"/>
          </a:solidFill>
          <a:ln w="12700">
            <a:solidFill>
              <a:srgbClr val="D97706"/>
            </a:solidFill>
            <a:prstDash val="solid"/>
          </a:ln>
        </p:spPr>
        <p:txBody>
          <a:bodyPr/>
          <a:lstStyle/>
          <a:p>
            <a:endParaRPr lang="en-SG"/>
          </a:p>
        </p:txBody>
      </p:sp>
      <p:sp>
        <p:nvSpPr>
          <p:cNvPr id="5" name="Text 3">
            <a:extLst>
              <a:ext uri="{FF2B5EF4-FFF2-40B4-BE49-F238E27FC236}">
                <a16:creationId xmlns:a16="http://schemas.microsoft.com/office/drawing/2014/main" id="{40FEB15F-1797-4444-D1F3-D1C0BC9AFE71}"/>
              </a:ext>
            </a:extLst>
          </p:cNvPr>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Attack Design</a:t>
            </a:r>
            <a:endParaRPr lang="en-US" sz="900"/>
          </a:p>
        </p:txBody>
      </p:sp>
      <p:sp>
        <p:nvSpPr>
          <p:cNvPr id="6" name="Text 4">
            <a:extLst>
              <a:ext uri="{FF2B5EF4-FFF2-40B4-BE49-F238E27FC236}">
                <a16:creationId xmlns:a16="http://schemas.microsoft.com/office/drawing/2014/main" id="{78A4D42A-4130-A1B2-4406-ED6BCCBC7AF3}"/>
              </a:ext>
            </a:extLst>
          </p:cNvPr>
          <p:cNvSpPr/>
          <p:nvPr/>
        </p:nvSpPr>
        <p:spPr>
          <a:xfrm>
            <a:off x="365760" y="563780"/>
            <a:ext cx="8412480" cy="502920"/>
          </a:xfrm>
          <a:prstGeom prst="rect">
            <a:avLst/>
          </a:prstGeom>
          <a:noFill/>
          <a:ln/>
        </p:spPr>
        <p:txBody>
          <a:bodyPr wrap="square" lIns="0" tIns="0" rIns="0" bIns="0" rtlCol="0" anchor="ctr"/>
          <a:lstStyle/>
          <a:p>
            <a:pPr marL="0" indent="0">
              <a:buNone/>
            </a:pPr>
            <a:r>
              <a:rPr lang="en-US" sz="2600" b="1">
                <a:solidFill>
                  <a:srgbClr val="1E293B"/>
                </a:solidFill>
                <a:latin typeface="Calibri" pitchFamily="34" charset="0"/>
                <a:ea typeface="Calibri" pitchFamily="34" charset="-122"/>
                <a:cs typeface="Calibri" pitchFamily="34" charset="-120"/>
              </a:rPr>
              <a:t>Backdoor Attack Pipeline &amp; Parameter Analysis</a:t>
            </a:r>
            <a:endParaRPr lang="en-US" sz="2600"/>
          </a:p>
        </p:txBody>
      </p:sp>
      <p:sp>
        <p:nvSpPr>
          <p:cNvPr id="7" name="Shape 5">
            <a:extLst>
              <a:ext uri="{FF2B5EF4-FFF2-40B4-BE49-F238E27FC236}">
                <a16:creationId xmlns:a16="http://schemas.microsoft.com/office/drawing/2014/main" id="{B306DF6B-22CD-8470-F551-EA824A82C6E1}"/>
              </a:ext>
            </a:extLst>
          </p:cNvPr>
          <p:cNvSpPr/>
          <p:nvPr/>
        </p:nvSpPr>
        <p:spPr>
          <a:xfrm>
            <a:off x="320040" y="986412"/>
            <a:ext cx="1600200" cy="1099605"/>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endParaRPr lang="en-SG"/>
          </a:p>
        </p:txBody>
      </p:sp>
      <p:sp>
        <p:nvSpPr>
          <p:cNvPr id="8" name="Shape 6">
            <a:extLst>
              <a:ext uri="{FF2B5EF4-FFF2-40B4-BE49-F238E27FC236}">
                <a16:creationId xmlns:a16="http://schemas.microsoft.com/office/drawing/2014/main" id="{90636BDC-2EAD-2E71-8067-A98803AA49BF}"/>
              </a:ext>
            </a:extLst>
          </p:cNvPr>
          <p:cNvSpPr/>
          <p:nvPr/>
        </p:nvSpPr>
        <p:spPr>
          <a:xfrm>
            <a:off x="320040" y="986412"/>
            <a:ext cx="1600200" cy="292608"/>
          </a:xfrm>
          <a:prstGeom prst="rect">
            <a:avLst/>
          </a:prstGeom>
          <a:solidFill>
            <a:srgbClr val="0D9488"/>
          </a:solidFill>
          <a:ln w="12700">
            <a:solidFill>
              <a:srgbClr val="0D9488"/>
            </a:solidFill>
            <a:prstDash val="solid"/>
          </a:ln>
        </p:spPr>
        <p:txBody>
          <a:bodyPr/>
          <a:lstStyle/>
          <a:p>
            <a:endParaRPr lang="en-SG"/>
          </a:p>
        </p:txBody>
      </p:sp>
      <p:sp>
        <p:nvSpPr>
          <p:cNvPr id="9" name="Text 7">
            <a:extLst>
              <a:ext uri="{FF2B5EF4-FFF2-40B4-BE49-F238E27FC236}">
                <a16:creationId xmlns:a16="http://schemas.microsoft.com/office/drawing/2014/main" id="{13544DF2-BB74-9AD7-7617-F7B095FCF266}"/>
              </a:ext>
            </a:extLst>
          </p:cNvPr>
          <p:cNvSpPr/>
          <p:nvPr/>
        </p:nvSpPr>
        <p:spPr>
          <a:xfrm>
            <a:off x="320040" y="986412"/>
            <a:ext cx="1600200" cy="29260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Step 1</a:t>
            </a:r>
            <a:endParaRPr lang="en-US" sz="1000"/>
          </a:p>
        </p:txBody>
      </p:sp>
      <p:sp>
        <p:nvSpPr>
          <p:cNvPr id="10" name="Text 8">
            <a:extLst>
              <a:ext uri="{FF2B5EF4-FFF2-40B4-BE49-F238E27FC236}">
                <a16:creationId xmlns:a16="http://schemas.microsoft.com/office/drawing/2014/main" id="{12C1EE11-28E9-61B0-E637-B7A161C5BAE0}"/>
              </a:ext>
            </a:extLst>
          </p:cNvPr>
          <p:cNvSpPr/>
          <p:nvPr/>
        </p:nvSpPr>
        <p:spPr>
          <a:xfrm>
            <a:off x="393192" y="1287390"/>
            <a:ext cx="1453896" cy="274320"/>
          </a:xfrm>
          <a:prstGeom prst="rect">
            <a:avLst/>
          </a:prstGeom>
          <a:noFill/>
          <a:ln/>
        </p:spPr>
        <p:txBody>
          <a:bodyPr wrap="square" lIns="0" tIns="0" rIns="0" bIns="0" rtlCol="0" anchor="ctr"/>
          <a:lstStyle/>
          <a:p>
            <a:pPr marL="0" indent="0" algn="ctr">
              <a:buNone/>
            </a:pPr>
            <a:r>
              <a:rPr lang="en-US" sz="1200" b="1">
                <a:solidFill>
                  <a:srgbClr val="1E293B"/>
                </a:solidFill>
                <a:latin typeface="Calibri" pitchFamily="34" charset="0"/>
                <a:ea typeface="Calibri" pitchFamily="34" charset="-122"/>
                <a:cs typeface="Calibri" pitchFamily="34" charset="-120"/>
              </a:rPr>
              <a:t>Load Data</a:t>
            </a:r>
            <a:endParaRPr lang="en-US" sz="1200"/>
          </a:p>
        </p:txBody>
      </p:sp>
      <p:sp>
        <p:nvSpPr>
          <p:cNvPr id="11" name="Text 9">
            <a:extLst>
              <a:ext uri="{FF2B5EF4-FFF2-40B4-BE49-F238E27FC236}">
                <a16:creationId xmlns:a16="http://schemas.microsoft.com/office/drawing/2014/main" id="{683A7750-C4D3-07D5-2126-4B8BF9083325}"/>
              </a:ext>
            </a:extLst>
          </p:cNvPr>
          <p:cNvSpPr/>
          <p:nvPr/>
        </p:nvSpPr>
        <p:spPr>
          <a:xfrm>
            <a:off x="393192" y="1396806"/>
            <a:ext cx="1453896" cy="749808"/>
          </a:xfrm>
          <a:prstGeom prst="rect">
            <a:avLst/>
          </a:prstGeom>
          <a:noFill/>
          <a:ln/>
        </p:spPr>
        <p:txBody>
          <a:bodyPr wrap="square" lIns="0" tIns="0" rIns="0" bIns="0" rtlCol="0" anchor="ctr"/>
          <a:lstStyle/>
          <a:p>
            <a:pPr marL="0" indent="0" algn="ctr">
              <a:buNone/>
            </a:pPr>
            <a:r>
              <a:rPr lang="en-US" sz="1000">
                <a:solidFill>
                  <a:srgbClr val="475569"/>
                </a:solidFill>
                <a:latin typeface="Calibri" pitchFamily="34" charset="0"/>
                <a:ea typeface="Calibri" pitchFamily="34" charset="-122"/>
                <a:cs typeface="Calibri" pitchFamily="34" charset="-120"/>
              </a:rPr>
              <a:t>CIFAR-10</a:t>
            </a:r>
            <a:endParaRPr lang="en-US" sz="1000"/>
          </a:p>
          <a:p>
            <a:pPr marL="0" indent="0" algn="ctr">
              <a:buNone/>
            </a:pPr>
            <a:r>
              <a:rPr lang="en-US" sz="1000">
                <a:solidFill>
                  <a:srgbClr val="475569"/>
                </a:solidFill>
                <a:latin typeface="Calibri" pitchFamily="34" charset="0"/>
                <a:ea typeface="Calibri" pitchFamily="34" charset="-122"/>
                <a:cs typeface="Calibri" pitchFamily="34" charset="-120"/>
              </a:rPr>
              <a:t>10,000 samples</a:t>
            </a:r>
            <a:endParaRPr lang="en-US" sz="1000"/>
          </a:p>
          <a:p>
            <a:pPr marL="0" indent="0" algn="ctr">
              <a:buNone/>
            </a:pPr>
            <a:r>
              <a:rPr lang="en-US" sz="1000">
                <a:solidFill>
                  <a:srgbClr val="475569"/>
                </a:solidFill>
                <a:latin typeface="Calibri" pitchFamily="34" charset="0"/>
                <a:ea typeface="Calibri" pitchFamily="34" charset="-122"/>
                <a:cs typeface="Calibri" pitchFamily="34" charset="-120"/>
              </a:rPr>
              <a:t>10 classes</a:t>
            </a:r>
            <a:endParaRPr lang="en-US" sz="1000"/>
          </a:p>
        </p:txBody>
      </p:sp>
      <p:sp>
        <p:nvSpPr>
          <p:cNvPr id="12" name="Shape 10">
            <a:extLst>
              <a:ext uri="{FF2B5EF4-FFF2-40B4-BE49-F238E27FC236}">
                <a16:creationId xmlns:a16="http://schemas.microsoft.com/office/drawing/2014/main" id="{330B4900-93B9-CF9F-8BB3-867B99ED607C}"/>
              </a:ext>
            </a:extLst>
          </p:cNvPr>
          <p:cNvSpPr/>
          <p:nvPr/>
        </p:nvSpPr>
        <p:spPr>
          <a:xfrm>
            <a:off x="1938528" y="1717932"/>
            <a:ext cx="73152" cy="0"/>
          </a:xfrm>
          <a:prstGeom prst="line">
            <a:avLst/>
          </a:prstGeom>
          <a:noFill/>
          <a:ln w="19050">
            <a:solidFill>
              <a:srgbClr val="0D9488"/>
            </a:solidFill>
            <a:prstDash val="solid"/>
          </a:ln>
        </p:spPr>
        <p:txBody>
          <a:bodyPr/>
          <a:lstStyle/>
          <a:p>
            <a:endParaRPr lang="en-SG"/>
          </a:p>
        </p:txBody>
      </p:sp>
      <p:sp>
        <p:nvSpPr>
          <p:cNvPr id="13" name="Shape 11">
            <a:extLst>
              <a:ext uri="{FF2B5EF4-FFF2-40B4-BE49-F238E27FC236}">
                <a16:creationId xmlns:a16="http://schemas.microsoft.com/office/drawing/2014/main" id="{98560127-D128-6316-2221-71BDE6027651}"/>
              </a:ext>
            </a:extLst>
          </p:cNvPr>
          <p:cNvSpPr/>
          <p:nvPr/>
        </p:nvSpPr>
        <p:spPr>
          <a:xfrm>
            <a:off x="2029968" y="986412"/>
            <a:ext cx="1600200" cy="1099605"/>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endParaRPr lang="en-SG"/>
          </a:p>
        </p:txBody>
      </p:sp>
      <p:sp>
        <p:nvSpPr>
          <p:cNvPr id="14" name="Shape 12">
            <a:extLst>
              <a:ext uri="{FF2B5EF4-FFF2-40B4-BE49-F238E27FC236}">
                <a16:creationId xmlns:a16="http://schemas.microsoft.com/office/drawing/2014/main" id="{13B71458-E9B0-EF20-8FAF-6A7FBB76DB85}"/>
              </a:ext>
            </a:extLst>
          </p:cNvPr>
          <p:cNvSpPr/>
          <p:nvPr/>
        </p:nvSpPr>
        <p:spPr>
          <a:xfrm>
            <a:off x="2029968" y="986412"/>
            <a:ext cx="1600200" cy="292608"/>
          </a:xfrm>
          <a:prstGeom prst="rect">
            <a:avLst/>
          </a:prstGeom>
          <a:solidFill>
            <a:srgbClr val="0D9488"/>
          </a:solidFill>
          <a:ln w="12700">
            <a:solidFill>
              <a:srgbClr val="0D9488"/>
            </a:solidFill>
            <a:prstDash val="solid"/>
          </a:ln>
        </p:spPr>
        <p:txBody>
          <a:bodyPr/>
          <a:lstStyle/>
          <a:p>
            <a:endParaRPr lang="en-SG"/>
          </a:p>
        </p:txBody>
      </p:sp>
      <p:sp>
        <p:nvSpPr>
          <p:cNvPr id="15" name="Text 13">
            <a:extLst>
              <a:ext uri="{FF2B5EF4-FFF2-40B4-BE49-F238E27FC236}">
                <a16:creationId xmlns:a16="http://schemas.microsoft.com/office/drawing/2014/main" id="{260E095A-CEF6-3150-25C3-60568816D938}"/>
              </a:ext>
            </a:extLst>
          </p:cNvPr>
          <p:cNvSpPr/>
          <p:nvPr/>
        </p:nvSpPr>
        <p:spPr>
          <a:xfrm>
            <a:off x="2029968" y="986412"/>
            <a:ext cx="1600200" cy="29260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Step 2</a:t>
            </a:r>
            <a:endParaRPr lang="en-US" sz="1000"/>
          </a:p>
        </p:txBody>
      </p:sp>
      <p:sp>
        <p:nvSpPr>
          <p:cNvPr id="16" name="Text 14">
            <a:extLst>
              <a:ext uri="{FF2B5EF4-FFF2-40B4-BE49-F238E27FC236}">
                <a16:creationId xmlns:a16="http://schemas.microsoft.com/office/drawing/2014/main" id="{12C4413D-9F6B-1EA3-748D-580CC79716E9}"/>
              </a:ext>
            </a:extLst>
          </p:cNvPr>
          <p:cNvSpPr/>
          <p:nvPr/>
        </p:nvSpPr>
        <p:spPr>
          <a:xfrm>
            <a:off x="2103120" y="1287390"/>
            <a:ext cx="1453896" cy="274320"/>
          </a:xfrm>
          <a:prstGeom prst="rect">
            <a:avLst/>
          </a:prstGeom>
          <a:noFill/>
          <a:ln/>
        </p:spPr>
        <p:txBody>
          <a:bodyPr wrap="square" lIns="0" tIns="0" rIns="0" bIns="0" rtlCol="0" anchor="ctr"/>
          <a:lstStyle/>
          <a:p>
            <a:pPr marL="0" indent="0" algn="ctr">
              <a:buNone/>
            </a:pPr>
            <a:r>
              <a:rPr lang="en-US" sz="1200" b="1">
                <a:solidFill>
                  <a:srgbClr val="1E293B"/>
                </a:solidFill>
                <a:latin typeface="Calibri" pitchFamily="34" charset="0"/>
                <a:ea typeface="Calibri" pitchFamily="34" charset="-122"/>
                <a:cs typeface="Calibri" pitchFamily="34" charset="-120"/>
              </a:rPr>
              <a:t>Build CNN</a:t>
            </a:r>
            <a:endParaRPr lang="en-US" sz="1200"/>
          </a:p>
        </p:txBody>
      </p:sp>
      <p:sp>
        <p:nvSpPr>
          <p:cNvPr id="17" name="Text 15">
            <a:extLst>
              <a:ext uri="{FF2B5EF4-FFF2-40B4-BE49-F238E27FC236}">
                <a16:creationId xmlns:a16="http://schemas.microsoft.com/office/drawing/2014/main" id="{2FEA8D88-1692-C8DE-202E-64FBE782AA49}"/>
              </a:ext>
            </a:extLst>
          </p:cNvPr>
          <p:cNvSpPr/>
          <p:nvPr/>
        </p:nvSpPr>
        <p:spPr>
          <a:xfrm>
            <a:off x="2103120" y="1396806"/>
            <a:ext cx="1453896" cy="749808"/>
          </a:xfrm>
          <a:prstGeom prst="rect">
            <a:avLst/>
          </a:prstGeom>
          <a:noFill/>
          <a:ln/>
        </p:spPr>
        <p:txBody>
          <a:bodyPr wrap="square" lIns="0" tIns="0" rIns="0" bIns="0" rtlCol="0" anchor="ctr"/>
          <a:lstStyle/>
          <a:p>
            <a:pPr marL="0" indent="0" algn="ctr">
              <a:buNone/>
            </a:pPr>
            <a:r>
              <a:rPr lang="en-US" sz="1000">
                <a:solidFill>
                  <a:srgbClr val="475569"/>
                </a:solidFill>
                <a:latin typeface="Calibri" pitchFamily="34" charset="0"/>
                <a:ea typeface="Calibri" pitchFamily="34" charset="-122"/>
                <a:cs typeface="Calibri" pitchFamily="34" charset="-120"/>
              </a:rPr>
              <a:t>3-block CNN</a:t>
            </a:r>
            <a:endParaRPr lang="en-US" sz="1000"/>
          </a:p>
          <a:p>
            <a:pPr marL="0" indent="0" algn="ctr">
              <a:buNone/>
            </a:pPr>
            <a:r>
              <a:rPr lang="en-US" sz="1000">
                <a:solidFill>
                  <a:srgbClr val="475569"/>
                </a:solidFill>
                <a:latin typeface="Calibri" pitchFamily="34" charset="0"/>
                <a:ea typeface="Calibri" pitchFamily="34" charset="-122"/>
                <a:cs typeface="Calibri" pitchFamily="34" charset="-120"/>
              </a:rPr>
              <a:t>Dropout 0.5</a:t>
            </a:r>
            <a:endParaRPr lang="en-US" sz="1000"/>
          </a:p>
          <a:p>
            <a:pPr marL="0" indent="0" algn="ctr">
              <a:buNone/>
            </a:pPr>
            <a:r>
              <a:rPr lang="en-US" sz="1000">
                <a:solidFill>
                  <a:srgbClr val="475569"/>
                </a:solidFill>
                <a:latin typeface="Calibri" pitchFamily="34" charset="0"/>
                <a:ea typeface="Calibri" pitchFamily="34" charset="-122"/>
                <a:cs typeface="Calibri" pitchFamily="34" charset="-120"/>
              </a:rPr>
              <a:t>Adam optimizer</a:t>
            </a:r>
            <a:endParaRPr lang="en-US" sz="1000"/>
          </a:p>
        </p:txBody>
      </p:sp>
      <p:sp>
        <p:nvSpPr>
          <p:cNvPr id="18" name="Shape 16">
            <a:extLst>
              <a:ext uri="{FF2B5EF4-FFF2-40B4-BE49-F238E27FC236}">
                <a16:creationId xmlns:a16="http://schemas.microsoft.com/office/drawing/2014/main" id="{03444B2B-444F-A4B4-A7C1-08022323E69E}"/>
              </a:ext>
            </a:extLst>
          </p:cNvPr>
          <p:cNvSpPr/>
          <p:nvPr/>
        </p:nvSpPr>
        <p:spPr>
          <a:xfrm>
            <a:off x="3648456" y="1717932"/>
            <a:ext cx="73152" cy="0"/>
          </a:xfrm>
          <a:prstGeom prst="line">
            <a:avLst/>
          </a:prstGeom>
          <a:noFill/>
          <a:ln w="19050">
            <a:solidFill>
              <a:srgbClr val="0D9488"/>
            </a:solidFill>
            <a:prstDash val="solid"/>
          </a:ln>
        </p:spPr>
        <p:txBody>
          <a:bodyPr/>
          <a:lstStyle/>
          <a:p>
            <a:endParaRPr lang="en-SG"/>
          </a:p>
        </p:txBody>
      </p:sp>
      <p:sp>
        <p:nvSpPr>
          <p:cNvPr id="19" name="Shape 17">
            <a:extLst>
              <a:ext uri="{FF2B5EF4-FFF2-40B4-BE49-F238E27FC236}">
                <a16:creationId xmlns:a16="http://schemas.microsoft.com/office/drawing/2014/main" id="{BE41F6BF-181D-3645-04D1-953770D9DB99}"/>
              </a:ext>
            </a:extLst>
          </p:cNvPr>
          <p:cNvSpPr/>
          <p:nvPr/>
        </p:nvSpPr>
        <p:spPr>
          <a:xfrm>
            <a:off x="3739896" y="986412"/>
            <a:ext cx="1600200" cy="1099605"/>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endParaRPr lang="en-SG"/>
          </a:p>
        </p:txBody>
      </p:sp>
      <p:sp>
        <p:nvSpPr>
          <p:cNvPr id="20" name="Shape 18">
            <a:extLst>
              <a:ext uri="{FF2B5EF4-FFF2-40B4-BE49-F238E27FC236}">
                <a16:creationId xmlns:a16="http://schemas.microsoft.com/office/drawing/2014/main" id="{50C74CD2-99BA-9E84-16AC-7FF508A27D63}"/>
              </a:ext>
            </a:extLst>
          </p:cNvPr>
          <p:cNvSpPr/>
          <p:nvPr/>
        </p:nvSpPr>
        <p:spPr>
          <a:xfrm>
            <a:off x="3739896" y="986412"/>
            <a:ext cx="1600200" cy="292608"/>
          </a:xfrm>
          <a:prstGeom prst="rect">
            <a:avLst/>
          </a:prstGeom>
          <a:solidFill>
            <a:srgbClr val="0D9488"/>
          </a:solidFill>
          <a:ln w="12700">
            <a:solidFill>
              <a:srgbClr val="0D9488"/>
            </a:solidFill>
            <a:prstDash val="solid"/>
          </a:ln>
        </p:spPr>
        <p:txBody>
          <a:bodyPr/>
          <a:lstStyle/>
          <a:p>
            <a:endParaRPr lang="en-SG"/>
          </a:p>
        </p:txBody>
      </p:sp>
      <p:sp>
        <p:nvSpPr>
          <p:cNvPr id="21" name="Text 19">
            <a:extLst>
              <a:ext uri="{FF2B5EF4-FFF2-40B4-BE49-F238E27FC236}">
                <a16:creationId xmlns:a16="http://schemas.microsoft.com/office/drawing/2014/main" id="{3CAE60B6-504A-AC99-5194-BFD7D2723BA3}"/>
              </a:ext>
            </a:extLst>
          </p:cNvPr>
          <p:cNvSpPr/>
          <p:nvPr/>
        </p:nvSpPr>
        <p:spPr>
          <a:xfrm>
            <a:off x="3739896" y="986412"/>
            <a:ext cx="1600200" cy="29260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Step 3</a:t>
            </a:r>
            <a:endParaRPr lang="en-US" sz="1000"/>
          </a:p>
        </p:txBody>
      </p:sp>
      <p:sp>
        <p:nvSpPr>
          <p:cNvPr id="22" name="Text 20">
            <a:extLst>
              <a:ext uri="{FF2B5EF4-FFF2-40B4-BE49-F238E27FC236}">
                <a16:creationId xmlns:a16="http://schemas.microsoft.com/office/drawing/2014/main" id="{9D85A606-BEDD-F531-E55E-D605918FFAA4}"/>
              </a:ext>
            </a:extLst>
          </p:cNvPr>
          <p:cNvSpPr/>
          <p:nvPr/>
        </p:nvSpPr>
        <p:spPr>
          <a:xfrm>
            <a:off x="3813048" y="1287390"/>
            <a:ext cx="1453896" cy="274320"/>
          </a:xfrm>
          <a:prstGeom prst="rect">
            <a:avLst/>
          </a:prstGeom>
          <a:noFill/>
          <a:ln/>
        </p:spPr>
        <p:txBody>
          <a:bodyPr wrap="square" lIns="0" tIns="0" rIns="0" bIns="0" rtlCol="0" anchor="ctr"/>
          <a:lstStyle/>
          <a:p>
            <a:pPr marL="0" indent="0" algn="ctr">
              <a:buNone/>
            </a:pPr>
            <a:r>
              <a:rPr lang="en-US" sz="1200" b="1">
                <a:solidFill>
                  <a:srgbClr val="1E293B"/>
                </a:solidFill>
                <a:latin typeface="Calibri" pitchFamily="34" charset="0"/>
                <a:ea typeface="Calibri" pitchFamily="34" charset="-122"/>
                <a:cs typeface="Calibri" pitchFamily="34" charset="-120"/>
              </a:rPr>
              <a:t>Design Trigger</a:t>
            </a:r>
            <a:endParaRPr lang="en-US" sz="1200"/>
          </a:p>
        </p:txBody>
      </p:sp>
      <p:sp>
        <p:nvSpPr>
          <p:cNvPr id="23" name="Text 21">
            <a:extLst>
              <a:ext uri="{FF2B5EF4-FFF2-40B4-BE49-F238E27FC236}">
                <a16:creationId xmlns:a16="http://schemas.microsoft.com/office/drawing/2014/main" id="{EB47CAB4-BF8A-E767-E2E6-1F7E6D1B9948}"/>
              </a:ext>
            </a:extLst>
          </p:cNvPr>
          <p:cNvSpPr/>
          <p:nvPr/>
        </p:nvSpPr>
        <p:spPr>
          <a:xfrm>
            <a:off x="3813048" y="1396806"/>
            <a:ext cx="1453896" cy="749808"/>
          </a:xfrm>
          <a:prstGeom prst="rect">
            <a:avLst/>
          </a:prstGeom>
          <a:noFill/>
          <a:ln/>
        </p:spPr>
        <p:txBody>
          <a:bodyPr wrap="square" lIns="0" tIns="0" rIns="0" bIns="0" rtlCol="0" anchor="ctr"/>
          <a:lstStyle/>
          <a:p>
            <a:pPr marL="0" indent="0" algn="ctr">
              <a:buNone/>
            </a:pPr>
            <a:r>
              <a:rPr lang="en-US" sz="1000">
                <a:solidFill>
                  <a:srgbClr val="475569"/>
                </a:solidFill>
                <a:latin typeface="Calibri" pitchFamily="34" charset="0"/>
                <a:ea typeface="Calibri" pitchFamily="34" charset="-122"/>
                <a:cs typeface="Calibri" pitchFamily="34" charset="-120"/>
              </a:rPr>
              <a:t>4×4 white square</a:t>
            </a:r>
            <a:endParaRPr lang="en-US" sz="1000"/>
          </a:p>
          <a:p>
            <a:pPr marL="0" indent="0" algn="ctr">
              <a:buNone/>
            </a:pPr>
            <a:r>
              <a:rPr lang="en-US" sz="1000">
                <a:solidFill>
                  <a:srgbClr val="475569"/>
                </a:solidFill>
                <a:latin typeface="Calibri" pitchFamily="34" charset="0"/>
                <a:ea typeface="Calibri" pitchFamily="34" charset="-122"/>
                <a:cs typeface="Calibri" pitchFamily="34" charset="-120"/>
              </a:rPr>
              <a:t>Bottom-right</a:t>
            </a:r>
            <a:endParaRPr lang="en-US" sz="1000"/>
          </a:p>
          <a:p>
            <a:pPr marL="0" indent="0" algn="ctr">
              <a:buNone/>
            </a:pPr>
            <a:r>
              <a:rPr lang="en-US" sz="1000">
                <a:solidFill>
                  <a:srgbClr val="475569"/>
                </a:solidFill>
                <a:latin typeface="Calibri" pitchFamily="34" charset="0"/>
                <a:ea typeface="Calibri" pitchFamily="34" charset="-122"/>
                <a:cs typeface="Calibri" pitchFamily="34" charset="-120"/>
              </a:rPr>
              <a:t>Normalised = 1.0</a:t>
            </a:r>
            <a:endParaRPr lang="en-US" sz="1000"/>
          </a:p>
        </p:txBody>
      </p:sp>
      <p:sp>
        <p:nvSpPr>
          <p:cNvPr id="24" name="Shape 22">
            <a:extLst>
              <a:ext uri="{FF2B5EF4-FFF2-40B4-BE49-F238E27FC236}">
                <a16:creationId xmlns:a16="http://schemas.microsoft.com/office/drawing/2014/main" id="{2306D9F2-40A2-590E-83C9-B64B1096A1A2}"/>
              </a:ext>
            </a:extLst>
          </p:cNvPr>
          <p:cNvSpPr/>
          <p:nvPr/>
        </p:nvSpPr>
        <p:spPr>
          <a:xfrm>
            <a:off x="5358384" y="1717932"/>
            <a:ext cx="73152" cy="0"/>
          </a:xfrm>
          <a:prstGeom prst="line">
            <a:avLst/>
          </a:prstGeom>
          <a:noFill/>
          <a:ln w="19050">
            <a:solidFill>
              <a:srgbClr val="0D9488"/>
            </a:solidFill>
            <a:prstDash val="solid"/>
          </a:ln>
        </p:spPr>
        <p:txBody>
          <a:bodyPr/>
          <a:lstStyle/>
          <a:p>
            <a:endParaRPr lang="en-SG"/>
          </a:p>
        </p:txBody>
      </p:sp>
      <p:sp>
        <p:nvSpPr>
          <p:cNvPr id="25" name="Shape 23">
            <a:extLst>
              <a:ext uri="{FF2B5EF4-FFF2-40B4-BE49-F238E27FC236}">
                <a16:creationId xmlns:a16="http://schemas.microsoft.com/office/drawing/2014/main" id="{F43E7282-7558-6EC1-6267-33AF58E57B74}"/>
              </a:ext>
            </a:extLst>
          </p:cNvPr>
          <p:cNvSpPr/>
          <p:nvPr/>
        </p:nvSpPr>
        <p:spPr>
          <a:xfrm>
            <a:off x="5449824" y="986412"/>
            <a:ext cx="1600200" cy="1099605"/>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endParaRPr lang="en-SG"/>
          </a:p>
        </p:txBody>
      </p:sp>
      <p:sp>
        <p:nvSpPr>
          <p:cNvPr id="26" name="Shape 24">
            <a:extLst>
              <a:ext uri="{FF2B5EF4-FFF2-40B4-BE49-F238E27FC236}">
                <a16:creationId xmlns:a16="http://schemas.microsoft.com/office/drawing/2014/main" id="{B347AE2E-D62C-5B7E-24AB-7712E03E1F0F}"/>
              </a:ext>
            </a:extLst>
          </p:cNvPr>
          <p:cNvSpPr/>
          <p:nvPr/>
        </p:nvSpPr>
        <p:spPr>
          <a:xfrm>
            <a:off x="5449824" y="986412"/>
            <a:ext cx="1600200" cy="292608"/>
          </a:xfrm>
          <a:prstGeom prst="rect">
            <a:avLst/>
          </a:prstGeom>
          <a:solidFill>
            <a:srgbClr val="0D9488"/>
          </a:solidFill>
          <a:ln w="12700">
            <a:solidFill>
              <a:srgbClr val="0D9488"/>
            </a:solidFill>
            <a:prstDash val="solid"/>
          </a:ln>
        </p:spPr>
        <p:txBody>
          <a:bodyPr/>
          <a:lstStyle/>
          <a:p>
            <a:endParaRPr lang="en-SG"/>
          </a:p>
        </p:txBody>
      </p:sp>
      <p:sp>
        <p:nvSpPr>
          <p:cNvPr id="27" name="Text 25">
            <a:extLst>
              <a:ext uri="{FF2B5EF4-FFF2-40B4-BE49-F238E27FC236}">
                <a16:creationId xmlns:a16="http://schemas.microsoft.com/office/drawing/2014/main" id="{C65A761B-61A4-2D90-0E59-1CDA7B8B0173}"/>
              </a:ext>
            </a:extLst>
          </p:cNvPr>
          <p:cNvSpPr/>
          <p:nvPr/>
        </p:nvSpPr>
        <p:spPr>
          <a:xfrm>
            <a:off x="5449824" y="986412"/>
            <a:ext cx="1600200" cy="29260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Step 4</a:t>
            </a:r>
            <a:endParaRPr lang="en-US" sz="1000"/>
          </a:p>
        </p:txBody>
      </p:sp>
      <p:sp>
        <p:nvSpPr>
          <p:cNvPr id="28" name="Text 26">
            <a:extLst>
              <a:ext uri="{FF2B5EF4-FFF2-40B4-BE49-F238E27FC236}">
                <a16:creationId xmlns:a16="http://schemas.microsoft.com/office/drawing/2014/main" id="{0D99E429-A3BD-4742-0DB0-35B4421BF61D}"/>
              </a:ext>
            </a:extLst>
          </p:cNvPr>
          <p:cNvSpPr/>
          <p:nvPr/>
        </p:nvSpPr>
        <p:spPr>
          <a:xfrm>
            <a:off x="5522976" y="1287390"/>
            <a:ext cx="1453896" cy="274320"/>
          </a:xfrm>
          <a:prstGeom prst="rect">
            <a:avLst/>
          </a:prstGeom>
          <a:noFill/>
          <a:ln/>
        </p:spPr>
        <p:txBody>
          <a:bodyPr wrap="square" lIns="0" tIns="0" rIns="0" bIns="0" rtlCol="0" anchor="ctr"/>
          <a:lstStyle/>
          <a:p>
            <a:pPr marL="0" indent="0" algn="ctr">
              <a:buNone/>
            </a:pPr>
            <a:r>
              <a:rPr lang="en-US" sz="1200" b="1">
                <a:solidFill>
                  <a:srgbClr val="1E293B"/>
                </a:solidFill>
                <a:latin typeface="Calibri" pitchFamily="34" charset="0"/>
                <a:ea typeface="Calibri" pitchFamily="34" charset="-122"/>
                <a:cs typeface="Calibri" pitchFamily="34" charset="-120"/>
              </a:rPr>
              <a:t>Poison Data</a:t>
            </a:r>
            <a:endParaRPr lang="en-US" sz="1200"/>
          </a:p>
        </p:txBody>
      </p:sp>
      <p:sp>
        <p:nvSpPr>
          <p:cNvPr id="29" name="Text 27">
            <a:extLst>
              <a:ext uri="{FF2B5EF4-FFF2-40B4-BE49-F238E27FC236}">
                <a16:creationId xmlns:a16="http://schemas.microsoft.com/office/drawing/2014/main" id="{7C79462B-A7CA-6016-BE90-FFC6FF901DFD}"/>
              </a:ext>
            </a:extLst>
          </p:cNvPr>
          <p:cNvSpPr/>
          <p:nvPr/>
        </p:nvSpPr>
        <p:spPr>
          <a:xfrm>
            <a:off x="5522976" y="1396806"/>
            <a:ext cx="1453896" cy="749808"/>
          </a:xfrm>
          <a:prstGeom prst="rect">
            <a:avLst/>
          </a:prstGeom>
          <a:noFill/>
          <a:ln/>
        </p:spPr>
        <p:txBody>
          <a:bodyPr wrap="square" lIns="0" tIns="0" rIns="0" bIns="0" rtlCol="0" anchor="ctr"/>
          <a:lstStyle/>
          <a:p>
            <a:pPr marL="0" indent="0" algn="ctr">
              <a:buNone/>
            </a:pPr>
            <a:r>
              <a:rPr lang="en-US" sz="1000">
                <a:solidFill>
                  <a:srgbClr val="475569"/>
                </a:solidFill>
                <a:latin typeface="Calibri" pitchFamily="34" charset="0"/>
                <a:ea typeface="Calibri" pitchFamily="34" charset="-122"/>
                <a:cs typeface="Calibri" pitchFamily="34" charset="-120"/>
              </a:rPr>
              <a:t>10% samples</a:t>
            </a:r>
            <a:endParaRPr lang="en-US" sz="1000"/>
          </a:p>
          <a:p>
            <a:pPr marL="0" indent="0" algn="ctr">
              <a:buNone/>
            </a:pPr>
            <a:r>
              <a:rPr lang="en-US" sz="1000">
                <a:solidFill>
                  <a:srgbClr val="475569"/>
                </a:solidFill>
                <a:latin typeface="Calibri" pitchFamily="34" charset="0"/>
                <a:ea typeface="Calibri" pitchFamily="34" charset="-122"/>
                <a:cs typeface="Calibri" pitchFamily="34" charset="-120"/>
              </a:rPr>
              <a:t>Relabelled →</a:t>
            </a:r>
            <a:endParaRPr lang="en-US" sz="1000"/>
          </a:p>
          <a:p>
            <a:pPr marL="0" indent="0" algn="ctr">
              <a:buNone/>
            </a:pPr>
            <a:r>
              <a:rPr lang="en-US" sz="1000">
                <a:solidFill>
                  <a:srgbClr val="475569"/>
                </a:solidFill>
                <a:latin typeface="Calibri" pitchFamily="34" charset="0"/>
                <a:ea typeface="Calibri" pitchFamily="34" charset="-122"/>
                <a:cs typeface="Calibri" pitchFamily="34" charset="-120"/>
              </a:rPr>
              <a:t>Airplane (0)</a:t>
            </a:r>
            <a:endParaRPr lang="en-US" sz="1000"/>
          </a:p>
        </p:txBody>
      </p:sp>
      <p:sp>
        <p:nvSpPr>
          <p:cNvPr id="30" name="Shape 28">
            <a:extLst>
              <a:ext uri="{FF2B5EF4-FFF2-40B4-BE49-F238E27FC236}">
                <a16:creationId xmlns:a16="http://schemas.microsoft.com/office/drawing/2014/main" id="{9518BB02-EBA6-74B6-0D25-A4339DD28CDF}"/>
              </a:ext>
            </a:extLst>
          </p:cNvPr>
          <p:cNvSpPr/>
          <p:nvPr/>
        </p:nvSpPr>
        <p:spPr>
          <a:xfrm>
            <a:off x="7068312" y="1717932"/>
            <a:ext cx="73152" cy="0"/>
          </a:xfrm>
          <a:prstGeom prst="line">
            <a:avLst/>
          </a:prstGeom>
          <a:noFill/>
          <a:ln w="19050">
            <a:solidFill>
              <a:srgbClr val="0D9488"/>
            </a:solidFill>
            <a:prstDash val="solid"/>
          </a:ln>
        </p:spPr>
        <p:txBody>
          <a:bodyPr/>
          <a:lstStyle/>
          <a:p>
            <a:endParaRPr lang="en-SG"/>
          </a:p>
        </p:txBody>
      </p:sp>
      <p:sp>
        <p:nvSpPr>
          <p:cNvPr id="31" name="Shape 29">
            <a:extLst>
              <a:ext uri="{FF2B5EF4-FFF2-40B4-BE49-F238E27FC236}">
                <a16:creationId xmlns:a16="http://schemas.microsoft.com/office/drawing/2014/main" id="{C9E504AC-CDA1-C86B-762F-381CEAAF0AC2}"/>
              </a:ext>
            </a:extLst>
          </p:cNvPr>
          <p:cNvSpPr/>
          <p:nvPr/>
        </p:nvSpPr>
        <p:spPr>
          <a:xfrm>
            <a:off x="7159752" y="986412"/>
            <a:ext cx="1600200" cy="1099605"/>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endParaRPr lang="en-SG"/>
          </a:p>
        </p:txBody>
      </p:sp>
      <p:sp>
        <p:nvSpPr>
          <p:cNvPr id="32" name="Shape 30">
            <a:extLst>
              <a:ext uri="{FF2B5EF4-FFF2-40B4-BE49-F238E27FC236}">
                <a16:creationId xmlns:a16="http://schemas.microsoft.com/office/drawing/2014/main" id="{AEA62927-0696-0A5C-998C-88C9BEF59484}"/>
              </a:ext>
            </a:extLst>
          </p:cNvPr>
          <p:cNvSpPr/>
          <p:nvPr/>
        </p:nvSpPr>
        <p:spPr>
          <a:xfrm>
            <a:off x="7159752" y="986412"/>
            <a:ext cx="1600200" cy="292608"/>
          </a:xfrm>
          <a:prstGeom prst="rect">
            <a:avLst/>
          </a:prstGeom>
          <a:solidFill>
            <a:srgbClr val="0D9488"/>
          </a:solidFill>
          <a:ln w="12700">
            <a:solidFill>
              <a:srgbClr val="0D9488"/>
            </a:solidFill>
            <a:prstDash val="solid"/>
          </a:ln>
        </p:spPr>
        <p:txBody>
          <a:bodyPr/>
          <a:lstStyle/>
          <a:p>
            <a:endParaRPr lang="en-SG"/>
          </a:p>
        </p:txBody>
      </p:sp>
      <p:sp>
        <p:nvSpPr>
          <p:cNvPr id="33" name="Text 31">
            <a:extLst>
              <a:ext uri="{FF2B5EF4-FFF2-40B4-BE49-F238E27FC236}">
                <a16:creationId xmlns:a16="http://schemas.microsoft.com/office/drawing/2014/main" id="{ACF81148-9ACB-7DF4-07D1-52F239FA233D}"/>
              </a:ext>
            </a:extLst>
          </p:cNvPr>
          <p:cNvSpPr/>
          <p:nvPr/>
        </p:nvSpPr>
        <p:spPr>
          <a:xfrm>
            <a:off x="7159752" y="986412"/>
            <a:ext cx="1600200" cy="29260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Step 5</a:t>
            </a:r>
            <a:endParaRPr lang="en-US" sz="1000"/>
          </a:p>
        </p:txBody>
      </p:sp>
      <p:sp>
        <p:nvSpPr>
          <p:cNvPr id="34" name="Text 32">
            <a:extLst>
              <a:ext uri="{FF2B5EF4-FFF2-40B4-BE49-F238E27FC236}">
                <a16:creationId xmlns:a16="http://schemas.microsoft.com/office/drawing/2014/main" id="{927D78EC-7E0A-9220-5C35-A63F2CA853F5}"/>
              </a:ext>
            </a:extLst>
          </p:cNvPr>
          <p:cNvSpPr/>
          <p:nvPr/>
        </p:nvSpPr>
        <p:spPr>
          <a:xfrm>
            <a:off x="7232904" y="1287390"/>
            <a:ext cx="1453896" cy="274320"/>
          </a:xfrm>
          <a:prstGeom prst="rect">
            <a:avLst/>
          </a:prstGeom>
          <a:noFill/>
          <a:ln/>
        </p:spPr>
        <p:txBody>
          <a:bodyPr wrap="square" lIns="0" tIns="0" rIns="0" bIns="0" rtlCol="0" anchor="ctr"/>
          <a:lstStyle/>
          <a:p>
            <a:pPr marL="0" indent="0" algn="ctr">
              <a:buNone/>
            </a:pPr>
            <a:r>
              <a:rPr lang="en-US" sz="1200" b="1">
                <a:solidFill>
                  <a:srgbClr val="1E293B"/>
                </a:solidFill>
                <a:latin typeface="Calibri" pitchFamily="34" charset="0"/>
                <a:ea typeface="Calibri" pitchFamily="34" charset="-122"/>
                <a:cs typeface="Calibri" pitchFamily="34" charset="-120"/>
              </a:rPr>
              <a:t>Train Model</a:t>
            </a:r>
            <a:endParaRPr lang="en-US" sz="1200"/>
          </a:p>
        </p:txBody>
      </p:sp>
      <p:sp>
        <p:nvSpPr>
          <p:cNvPr id="35" name="Text 33">
            <a:extLst>
              <a:ext uri="{FF2B5EF4-FFF2-40B4-BE49-F238E27FC236}">
                <a16:creationId xmlns:a16="http://schemas.microsoft.com/office/drawing/2014/main" id="{B16784C3-FF82-DF5C-DC38-AC6B18D04A85}"/>
              </a:ext>
            </a:extLst>
          </p:cNvPr>
          <p:cNvSpPr/>
          <p:nvPr/>
        </p:nvSpPr>
        <p:spPr>
          <a:xfrm>
            <a:off x="7232904" y="1396806"/>
            <a:ext cx="1453896" cy="749808"/>
          </a:xfrm>
          <a:prstGeom prst="rect">
            <a:avLst/>
          </a:prstGeom>
          <a:noFill/>
          <a:ln/>
        </p:spPr>
        <p:txBody>
          <a:bodyPr wrap="square" lIns="0" tIns="0" rIns="0" bIns="0" rtlCol="0" anchor="ctr"/>
          <a:lstStyle/>
          <a:p>
            <a:pPr marL="0" indent="0" algn="ctr">
              <a:buNone/>
            </a:pPr>
            <a:r>
              <a:rPr lang="en-US" sz="1000">
                <a:solidFill>
                  <a:srgbClr val="475569"/>
                </a:solidFill>
                <a:latin typeface="Calibri" pitchFamily="34" charset="0"/>
                <a:ea typeface="Calibri" pitchFamily="34" charset="-122"/>
                <a:cs typeface="Calibri" pitchFamily="34" charset="-120"/>
              </a:rPr>
              <a:t>10 epochs</a:t>
            </a:r>
            <a:endParaRPr lang="en-US" sz="1000"/>
          </a:p>
          <a:p>
            <a:pPr marL="0" indent="0" algn="ctr">
              <a:buNone/>
            </a:pPr>
            <a:r>
              <a:rPr lang="en-US" sz="1000">
                <a:solidFill>
                  <a:srgbClr val="475569"/>
                </a:solidFill>
                <a:latin typeface="Calibri" pitchFamily="34" charset="0"/>
                <a:ea typeface="Calibri" pitchFamily="34" charset="-122"/>
                <a:cs typeface="Calibri" pitchFamily="34" charset="-120"/>
              </a:rPr>
              <a:t>Mixed clean +</a:t>
            </a:r>
            <a:endParaRPr lang="en-US" sz="1000"/>
          </a:p>
          <a:p>
            <a:pPr marL="0" indent="0" algn="ctr">
              <a:buNone/>
            </a:pPr>
            <a:r>
              <a:rPr lang="en-US" sz="1000">
                <a:solidFill>
                  <a:srgbClr val="475569"/>
                </a:solidFill>
                <a:latin typeface="Calibri" pitchFamily="34" charset="0"/>
                <a:ea typeface="Calibri" pitchFamily="34" charset="-122"/>
                <a:cs typeface="Calibri" pitchFamily="34" charset="-120"/>
              </a:rPr>
              <a:t>poisoned data</a:t>
            </a:r>
            <a:endParaRPr lang="en-US" sz="1000"/>
          </a:p>
        </p:txBody>
      </p:sp>
      <p:sp>
        <p:nvSpPr>
          <p:cNvPr id="36" name="Shape 34">
            <a:extLst>
              <a:ext uri="{FF2B5EF4-FFF2-40B4-BE49-F238E27FC236}">
                <a16:creationId xmlns:a16="http://schemas.microsoft.com/office/drawing/2014/main" id="{80F85F1A-90EE-D2F1-1EBE-8BE52AD21EE8}"/>
              </a:ext>
            </a:extLst>
          </p:cNvPr>
          <p:cNvSpPr/>
          <p:nvPr/>
        </p:nvSpPr>
        <p:spPr>
          <a:xfrm>
            <a:off x="320040" y="2128581"/>
            <a:ext cx="8439912" cy="2668571"/>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37" name="Text 35">
            <a:extLst>
              <a:ext uri="{FF2B5EF4-FFF2-40B4-BE49-F238E27FC236}">
                <a16:creationId xmlns:a16="http://schemas.microsoft.com/office/drawing/2014/main" id="{6A6CEB1D-C94F-8E2A-850B-410B16217F2B}"/>
              </a:ext>
            </a:extLst>
          </p:cNvPr>
          <p:cNvSpPr/>
          <p:nvPr/>
        </p:nvSpPr>
        <p:spPr>
          <a:xfrm>
            <a:off x="502920" y="2148111"/>
            <a:ext cx="8229600" cy="256032"/>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Reference attack (this lab): </a:t>
            </a:r>
            <a:r>
              <a:rPr lang="en-US" sz="1200">
                <a:solidFill>
                  <a:srgbClr val="1E293B"/>
                </a:solidFill>
                <a:latin typeface="Calibri" pitchFamily="34" charset="0"/>
                <a:ea typeface="Calibri" pitchFamily="34" charset="-122"/>
                <a:cs typeface="Calibri" pitchFamily="34" charset="-120"/>
              </a:rPr>
              <a:t>10% poison, 4 x 4 trigger, fixed bottom-right -&gt; ASR 95.29%, high stealth</a:t>
            </a:r>
            <a:endParaRPr lang="en-US" sz="1200"/>
          </a:p>
        </p:txBody>
      </p:sp>
      <p:graphicFrame>
        <p:nvGraphicFramePr>
          <p:cNvPr id="38" name="Table 0">
            <a:extLst>
              <a:ext uri="{FF2B5EF4-FFF2-40B4-BE49-F238E27FC236}">
                <a16:creationId xmlns:a16="http://schemas.microsoft.com/office/drawing/2014/main" id="{2484E20C-8457-B03B-5DF8-65F3CFC54113}"/>
              </a:ext>
            </a:extLst>
          </p:cNvPr>
          <p:cNvGraphicFramePr>
            <a:graphicFrameLocks noGrp="1"/>
          </p:cNvGraphicFramePr>
          <p:nvPr>
            <p:extLst>
              <p:ext uri="{D42A27DB-BD31-4B8C-83A1-F6EECF244321}">
                <p14:modId xmlns:p14="http://schemas.microsoft.com/office/powerpoint/2010/main" val="3932304356"/>
              </p:ext>
            </p:extLst>
          </p:nvPr>
        </p:nvGraphicFramePr>
        <p:xfrm>
          <a:off x="502920" y="2404298"/>
          <a:ext cx="8092440" cy="2310384"/>
        </p:xfrm>
        <a:graphic>
          <a:graphicData uri="http://schemas.openxmlformats.org/drawingml/2006/table">
            <a:tbl>
              <a:tblPr/>
              <a:tblGrid>
                <a:gridCol w="2395263">
                  <a:extLst>
                    <a:ext uri="{9D8B030D-6E8A-4147-A177-3AD203B41FA5}">
                      <a16:colId xmlns:a16="http://schemas.microsoft.com/office/drawing/2014/main" val="20000"/>
                    </a:ext>
                  </a:extLst>
                </a:gridCol>
                <a:gridCol w="1844298">
                  <a:extLst>
                    <a:ext uri="{9D8B030D-6E8A-4147-A177-3AD203B41FA5}">
                      <a16:colId xmlns:a16="http://schemas.microsoft.com/office/drawing/2014/main" val="20002"/>
                    </a:ext>
                  </a:extLst>
                </a:gridCol>
                <a:gridCol w="3852879">
                  <a:extLst>
                    <a:ext uri="{9D8B030D-6E8A-4147-A177-3AD203B41FA5}">
                      <a16:colId xmlns:a16="http://schemas.microsoft.com/office/drawing/2014/main" val="20004"/>
                    </a:ext>
                  </a:extLst>
                </a:gridCol>
              </a:tblGrid>
              <a:tr h="329184">
                <a:tc>
                  <a:txBody>
                    <a:bodyPr/>
                    <a:lstStyle/>
                    <a:p>
                      <a:pPr marL="0" indent="0" algn="ctr">
                        <a:buNone/>
                      </a:pPr>
                      <a:r>
                        <a:rPr lang="en-US" sz="1000" b="1">
                          <a:solidFill>
                            <a:schemeClr val="bg1"/>
                          </a:solidFill>
                          <a:latin typeface="Calibri" charset="0"/>
                          <a:ea typeface="Calibri" charset="0"/>
                          <a:cs typeface="Calibri" charset="0"/>
                        </a:rPr>
                        <a:t>Change to the attack</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tc>
                  <a:txBody>
                    <a:bodyPr/>
                    <a:lstStyle/>
                    <a:p>
                      <a:pPr marL="0" indent="0" algn="ctr">
                        <a:buNone/>
                      </a:pPr>
                      <a:r>
                        <a:rPr lang="en-US" sz="1000" b="1">
                          <a:solidFill>
                            <a:schemeClr val="bg1"/>
                          </a:solidFill>
                          <a:latin typeface="Calibri" charset="0"/>
                          <a:ea typeface="Calibri" charset="0"/>
                          <a:cs typeface="Calibri" charset="0"/>
                        </a:rPr>
                        <a:t>Effect on ASR</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tc>
                  <a:txBody>
                    <a:bodyPr/>
                    <a:lstStyle/>
                    <a:p>
                      <a:pPr marL="0" indent="0" algn="ctr">
                        <a:buNone/>
                      </a:pPr>
                      <a:r>
                        <a:rPr lang="en-US" sz="1000" b="1">
                          <a:solidFill>
                            <a:schemeClr val="bg1"/>
                          </a:solidFill>
                          <a:latin typeface="Calibri" charset="0"/>
                          <a:ea typeface="Calibri" charset="0"/>
                          <a:cs typeface="Calibri" charset="0"/>
                        </a:rPr>
                        <a:t>Effect  on stealth</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extLst>
                  <a:ext uri="{0D108BD9-81ED-4DB2-BD59-A6C34878D82A}">
                    <a16:rowId xmlns:a16="http://schemas.microsoft.com/office/drawing/2014/main" val="10000"/>
                  </a:ext>
                </a:extLst>
              </a:tr>
              <a:tr h="329184">
                <a:tc>
                  <a:txBody>
                    <a:bodyPr/>
                    <a:lstStyle/>
                    <a:p>
                      <a:pPr marL="0" indent="0" algn="ctr">
                        <a:buNone/>
                      </a:pPr>
                      <a:r>
                        <a:rPr lang="en-US" sz="1000">
                          <a:latin typeface="Calibri" charset="0"/>
                          <a:ea typeface="Calibri" charset="0"/>
                          <a:cs typeface="Calibri" charset="0"/>
                        </a:rPr>
                        <a:t>Increase poison %</a:t>
                      </a:r>
                    </a:p>
                    <a:p>
                      <a:pPr marL="0" indent="0" algn="ctr">
                        <a:buNone/>
                      </a:pPr>
                      <a:r>
                        <a:rPr lang="en-US" sz="1000">
                          <a:latin typeface="Calibri" charset="0"/>
                          <a:ea typeface="Calibri" charset="0"/>
                          <a:cs typeface="Calibri" charset="0"/>
                        </a:rPr>
                        <a:t>(10% -&gt; 50%)</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a:latin typeface="Calibri" charset="0"/>
                          <a:ea typeface="Calibri" charset="0"/>
                          <a:cs typeface="Calibri" charset="0"/>
                        </a:rPr>
                        <a:t>ASR increases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a:latin typeface="Calibri" charset="0"/>
                          <a:ea typeface="Calibri" charset="0"/>
                          <a:cs typeface="Calibri" charset="0"/>
                        </a:rPr>
                        <a:t>Stealth decreases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ctr">
                        <a:buNone/>
                      </a:pPr>
                      <a:r>
                        <a:rPr lang="en-US" sz="1000">
                          <a:latin typeface="Calibri" charset="0"/>
                          <a:ea typeface="Calibri" charset="0"/>
                          <a:cs typeface="Calibri" charset="0"/>
                        </a:rPr>
                        <a:t>Decrease poison %</a:t>
                      </a:r>
                    </a:p>
                    <a:p>
                      <a:pPr marL="0" indent="0" algn="ctr">
                        <a:buNone/>
                      </a:pPr>
                      <a:r>
                        <a:rPr lang="en-US" sz="1000">
                          <a:latin typeface="Calibri" charset="0"/>
                          <a:ea typeface="Calibri" charset="0"/>
                          <a:cs typeface="Calibri" charset="0"/>
                        </a:rPr>
                        <a:t>(10% -&gt; 1%)</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a:latin typeface="Calibri" charset="0"/>
                          <a:ea typeface="Calibri" charset="0"/>
                          <a:cs typeface="Calibri" charset="0"/>
                        </a:rPr>
                        <a:t>ASR decreases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a:latin typeface="Calibri" charset="0"/>
                          <a:ea typeface="Calibri" charset="0"/>
                          <a:cs typeface="Calibri" charset="0"/>
                        </a:rPr>
                        <a:t>Stealth increases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ctr">
                        <a:buNone/>
                      </a:pPr>
                      <a:r>
                        <a:rPr lang="en-US" sz="1000">
                          <a:latin typeface="Calibri" charset="0"/>
                          <a:ea typeface="Calibri" charset="0"/>
                          <a:cs typeface="Calibri" charset="0"/>
                        </a:rPr>
                        <a:t>Increase trigger size</a:t>
                      </a:r>
                    </a:p>
                    <a:p>
                      <a:pPr marL="0" indent="0" algn="ctr">
                        <a:buNone/>
                      </a:pPr>
                      <a:r>
                        <a:rPr lang="en-US" sz="1000">
                          <a:latin typeface="Calibri" charset="0"/>
                          <a:ea typeface="Calibri" charset="0"/>
                          <a:cs typeface="Calibri" charset="0"/>
                        </a:rPr>
                        <a:t>(larger patch)</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a:latin typeface="Calibri" charset="0"/>
                          <a:ea typeface="Calibri" charset="0"/>
                          <a:cs typeface="Calibri" charset="0"/>
                        </a:rPr>
                        <a:t>ASR increases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a:latin typeface="Calibri" charset="0"/>
                          <a:ea typeface="Calibri" charset="0"/>
                          <a:cs typeface="Calibri" charset="0"/>
                        </a:rPr>
                        <a:t>Stealth decreases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507292407"/>
                  </a:ext>
                </a:extLst>
              </a:tr>
              <a:tr h="329184">
                <a:tc>
                  <a:txBody>
                    <a:bodyPr/>
                    <a:lstStyle/>
                    <a:p>
                      <a:pPr marL="0" indent="0" algn="ctr">
                        <a:buNone/>
                      </a:pPr>
                      <a:r>
                        <a:rPr lang="en-US" sz="1000">
                          <a:latin typeface="Calibri" charset="0"/>
                          <a:ea typeface="Calibri" charset="0"/>
                          <a:cs typeface="Calibri" charset="0"/>
                        </a:rPr>
                        <a:t>Decrease trigger size</a:t>
                      </a:r>
                    </a:p>
                    <a:p>
                      <a:pPr marL="0" indent="0" algn="ctr">
                        <a:buNone/>
                      </a:pPr>
                      <a:r>
                        <a:rPr lang="en-US" sz="1000">
                          <a:latin typeface="Calibri" charset="0"/>
                          <a:ea typeface="Calibri" charset="0"/>
                          <a:cs typeface="Calibri" charset="0"/>
                        </a:rPr>
                        <a:t>(smaller patch)</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a:latin typeface="Calibri" charset="0"/>
                          <a:ea typeface="Calibri" charset="0"/>
                          <a:cs typeface="Calibri" charset="0"/>
                        </a:rPr>
                        <a:t>ASR decreases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a:latin typeface="Calibri" charset="0"/>
                          <a:ea typeface="Calibri" charset="0"/>
                          <a:cs typeface="Calibri" charset="0"/>
                        </a:rPr>
                        <a:t>Stealth decreases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33406021"/>
                  </a:ext>
                </a:extLst>
              </a:tr>
              <a:tr h="329184">
                <a:tc>
                  <a:txBody>
                    <a:bodyPr/>
                    <a:lstStyle/>
                    <a:p>
                      <a:pPr marL="0" indent="0" algn="ctr">
                        <a:buNone/>
                      </a:pPr>
                      <a:r>
                        <a:rPr lang="en-US" sz="1000">
                          <a:latin typeface="Calibri" charset="0"/>
                          <a:ea typeface="Calibri" charset="0"/>
                          <a:cs typeface="Calibri" charset="0"/>
                        </a:rPr>
                        <a:t>Change location</a:t>
                      </a:r>
                    </a:p>
                    <a:p>
                      <a:pPr marL="0" indent="0" algn="ctr">
                        <a:buNone/>
                      </a:pPr>
                      <a:r>
                        <a:rPr lang="en-US" sz="1000">
                          <a:latin typeface="Calibri" charset="0"/>
                          <a:ea typeface="Calibri" charset="0"/>
                          <a:cs typeface="Calibri" charset="0"/>
                        </a:rPr>
                        <a:t>(fixed -&gt; random)</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a:latin typeface="Calibri" charset="0"/>
                          <a:ea typeface="Calibri" charset="0"/>
                          <a:cs typeface="Calibri" charset="0"/>
                        </a:rPr>
                        <a:t>ASR decreases</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a:latin typeface="Calibri" charset="0"/>
                          <a:ea typeface="Calibri" charset="0"/>
                          <a:cs typeface="Calibri" charset="0"/>
                        </a:rPr>
                        <a:t>Stealth about the same – the patch is just as visible wherever it sits but it evades a fixed-region auditor that only checks one location</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1" name="TextBox 39">
            <a:extLst>
              <a:ext uri="{FF2B5EF4-FFF2-40B4-BE49-F238E27FC236}">
                <a16:creationId xmlns:a16="http://schemas.microsoft.com/office/drawing/2014/main" id="{0186811E-A2DC-3277-A83E-47F1A581A7F2}"/>
              </a:ext>
            </a:extLst>
          </p:cNvPr>
          <p:cNvSpPr txBox="1"/>
          <p:nvPr/>
        </p:nvSpPr>
        <p:spPr>
          <a:xfrm>
            <a:off x="298735" y="4783209"/>
            <a:ext cx="8499521"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u="sng">
                <a:solidFill>
                  <a:srgbClr val="94A3B8"/>
                </a:solidFill>
                <a:latin typeface="Calibri"/>
                <a:ea typeface="Calibri"/>
                <a:cs typeface="Calibri"/>
              </a:rPr>
              <a:t>AI tools were</a:t>
            </a:r>
            <a:r>
              <a:rPr lang="en-US" sz="900" u="sng">
                <a:solidFill>
                  <a:schemeClr val="bg2">
                    <a:lumMod val="90000"/>
                  </a:schemeClr>
                </a:solidFill>
                <a:latin typeface="Calibri"/>
                <a:ea typeface="Calibri"/>
                <a:cs typeface="Calibri"/>
              </a:rPr>
              <a:t> </a:t>
            </a:r>
            <a:r>
              <a:rPr lang="en-US" sz="900" u="sng">
                <a:solidFill>
                  <a:srgbClr val="94A3B8"/>
                </a:solidFill>
                <a:latin typeface="Calibri"/>
                <a:ea typeface="Calibri"/>
                <a:cs typeface="Calibri"/>
              </a:rPr>
              <a:t>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2013475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3  ·  RESULTS INTERPRETATION &amp; VISUALIZATION</a:t>
            </a:r>
            <a:endParaRPr lang="en-US" sz="900"/>
          </a:p>
        </p:txBody>
      </p:sp>
      <p:sp>
        <p:nvSpPr>
          <p:cNvPr id="4" name="Shape 2"/>
          <p:cNvSpPr/>
          <p:nvPr/>
        </p:nvSpPr>
        <p:spPr>
          <a:xfrm>
            <a:off x="365760" y="384048"/>
            <a:ext cx="1371600" cy="237744"/>
          </a:xfrm>
          <a:prstGeom prst="rect">
            <a:avLst/>
          </a:prstGeom>
          <a:solidFill>
            <a:srgbClr val="0D9488"/>
          </a:solidFill>
          <a:ln w="12700">
            <a:solidFill>
              <a:srgbClr val="0D9488"/>
            </a:solidFill>
            <a:prstDash val="solid"/>
          </a:ln>
        </p:spPr>
        <p:txBody>
          <a:bodyPr/>
          <a:lstStyle/>
          <a:p>
            <a:endParaRPr lang="en-SG"/>
          </a:p>
        </p:txBody>
      </p:sp>
      <p:sp>
        <p:nvSpPr>
          <p:cNvPr id="5" name="Text 3"/>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Visualization</a:t>
            </a:r>
            <a:endParaRPr lang="en-US" sz="900"/>
          </a:p>
        </p:txBody>
      </p:sp>
      <p:sp>
        <p:nvSpPr>
          <p:cNvPr id="6" name="Text 4"/>
          <p:cNvSpPr/>
          <p:nvPr/>
        </p:nvSpPr>
        <p:spPr>
          <a:xfrm>
            <a:off x="365760" y="694944"/>
            <a:ext cx="8412480" cy="502920"/>
          </a:xfrm>
          <a:prstGeom prst="rect">
            <a:avLst/>
          </a:prstGeom>
          <a:noFill/>
          <a:ln/>
        </p:spPr>
        <p:txBody>
          <a:bodyPr wrap="square" lIns="0" tIns="0" rIns="0" bIns="0" rtlCol="0" anchor="ctr"/>
          <a:lstStyle/>
          <a:p>
            <a:pPr marL="0" indent="0">
              <a:buNone/>
            </a:pPr>
            <a:r>
              <a:rPr lang="en-US" sz="2600" b="1">
                <a:solidFill>
                  <a:srgbClr val="1E293B"/>
                </a:solidFill>
                <a:latin typeface="Calibri" pitchFamily="34" charset="0"/>
                <a:ea typeface="Calibri" pitchFamily="34" charset="-122"/>
                <a:cs typeface="Calibri" pitchFamily="34" charset="-120"/>
              </a:rPr>
              <a:t>CIFAR-10 Dataset Samples &amp; Trigger Design</a:t>
            </a:r>
            <a:endParaRPr lang="en-US" sz="2600"/>
          </a:p>
        </p:txBody>
      </p:sp>
      <p:sp>
        <p:nvSpPr>
          <p:cNvPr id="7" name="Shape 5"/>
          <p:cNvSpPr/>
          <p:nvPr/>
        </p:nvSpPr>
        <p:spPr>
          <a:xfrm>
            <a:off x="320040" y="1298448"/>
            <a:ext cx="8503920" cy="15544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8" name="Text 6"/>
          <p:cNvSpPr/>
          <p:nvPr/>
        </p:nvSpPr>
        <p:spPr>
          <a:xfrm>
            <a:off x="502920" y="1389888"/>
            <a:ext cx="8229600" cy="256032"/>
          </a:xfrm>
          <a:prstGeom prst="rect">
            <a:avLst/>
          </a:prstGeom>
          <a:noFill/>
          <a:ln/>
        </p:spPr>
        <p:txBody>
          <a:bodyPr wrap="square" lIns="0" tIns="0" rIns="0" bIns="0" rtlCol="0" anchor="ctr"/>
          <a:lstStyle/>
          <a:p>
            <a:pPr marL="0" indent="0">
              <a:buNone/>
            </a:pPr>
            <a:r>
              <a:rPr lang="en-US" sz="1100" b="1">
                <a:solidFill>
                  <a:srgbClr val="0D9488"/>
                </a:solidFill>
                <a:latin typeface="Calibri" pitchFamily="34" charset="0"/>
                <a:ea typeface="Calibri" pitchFamily="34" charset="-122"/>
                <a:cs typeface="Calibri" pitchFamily="34" charset="-120"/>
              </a:rPr>
              <a:t>Step 1 — Sample CIFAR-10 Training Images</a:t>
            </a:r>
            <a:endParaRPr lang="en-US" sz="1100"/>
          </a:p>
        </p:txBody>
      </p:sp>
      <p:pic>
        <p:nvPicPr>
          <p:cNvPr id="9" name="Image 0" descr="preencoded.png"/>
          <p:cNvPicPr>
            <a:picLocks noChangeAspect="1"/>
          </p:cNvPicPr>
          <p:nvPr/>
        </p:nvPicPr>
        <p:blipFill>
          <a:blip r:embed="rId3"/>
          <a:stretch>
            <a:fillRect/>
          </a:stretch>
        </p:blipFill>
        <p:spPr>
          <a:xfrm>
            <a:off x="1508760" y="1682496"/>
            <a:ext cx="6035040" cy="1097280"/>
          </a:xfrm>
          <a:prstGeom prst="rect">
            <a:avLst/>
          </a:prstGeom>
        </p:spPr>
      </p:pic>
      <p:sp>
        <p:nvSpPr>
          <p:cNvPr id="10" name="Shape 7"/>
          <p:cNvSpPr/>
          <p:nvPr/>
        </p:nvSpPr>
        <p:spPr>
          <a:xfrm>
            <a:off x="320040" y="2971800"/>
            <a:ext cx="4069080" cy="192024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1" name="Text 8"/>
          <p:cNvSpPr/>
          <p:nvPr/>
        </p:nvSpPr>
        <p:spPr>
          <a:xfrm>
            <a:off x="502920" y="3081528"/>
            <a:ext cx="3749040" cy="256032"/>
          </a:xfrm>
          <a:prstGeom prst="rect">
            <a:avLst/>
          </a:prstGeom>
          <a:noFill/>
          <a:ln/>
        </p:spPr>
        <p:txBody>
          <a:bodyPr wrap="square" lIns="0" tIns="0" rIns="0" bIns="0" rtlCol="0" anchor="ctr"/>
          <a:lstStyle/>
          <a:p>
            <a:pPr marL="0" indent="0">
              <a:buNone/>
            </a:pPr>
            <a:r>
              <a:rPr lang="en-US" sz="1100" b="1">
                <a:solidFill>
                  <a:srgbClr val="0D9488"/>
                </a:solidFill>
                <a:latin typeface="Calibri" pitchFamily="34" charset="0"/>
                <a:ea typeface="Calibri" pitchFamily="34" charset="-122"/>
                <a:cs typeface="Calibri" pitchFamily="34" charset="-120"/>
              </a:rPr>
              <a:t>Step 3 — Trigger Design: Clean vs Triggered</a:t>
            </a:r>
            <a:endParaRPr lang="en-US" sz="1100"/>
          </a:p>
        </p:txBody>
      </p:sp>
      <p:pic>
        <p:nvPicPr>
          <p:cNvPr id="12" name="Image 1" descr="preencoded.png"/>
          <p:cNvPicPr>
            <a:picLocks noChangeAspect="1"/>
          </p:cNvPicPr>
          <p:nvPr/>
        </p:nvPicPr>
        <p:blipFill>
          <a:blip r:embed="rId4"/>
          <a:stretch>
            <a:fillRect/>
          </a:stretch>
        </p:blipFill>
        <p:spPr>
          <a:xfrm>
            <a:off x="914400" y="3401568"/>
            <a:ext cx="2496312" cy="1371600"/>
          </a:xfrm>
          <a:prstGeom prst="rect">
            <a:avLst/>
          </a:prstGeom>
        </p:spPr>
      </p:pic>
      <p:sp>
        <p:nvSpPr>
          <p:cNvPr id="13" name="Shape 9"/>
          <p:cNvSpPr/>
          <p:nvPr/>
        </p:nvSpPr>
        <p:spPr>
          <a:xfrm>
            <a:off x="4709160" y="2971800"/>
            <a:ext cx="4114800" cy="192024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4" name="Text 10"/>
          <p:cNvSpPr/>
          <p:nvPr/>
        </p:nvSpPr>
        <p:spPr>
          <a:xfrm>
            <a:off x="4892040" y="3081528"/>
            <a:ext cx="3749040" cy="256032"/>
          </a:xfrm>
          <a:prstGeom prst="rect">
            <a:avLst/>
          </a:prstGeom>
          <a:noFill/>
          <a:ln/>
        </p:spPr>
        <p:txBody>
          <a:bodyPr wrap="square" lIns="0" tIns="0" rIns="0" bIns="0" rtlCol="0" anchor="ctr"/>
          <a:lstStyle/>
          <a:p>
            <a:pPr marL="0" indent="0">
              <a:buNone/>
            </a:pPr>
            <a:r>
              <a:rPr lang="en-US" sz="1100" b="1">
                <a:solidFill>
                  <a:srgbClr val="0D9488"/>
                </a:solidFill>
                <a:latin typeface="Calibri" pitchFamily="34" charset="0"/>
                <a:ea typeface="Calibri" pitchFamily="34" charset="-122"/>
                <a:cs typeface="Calibri" pitchFamily="34" charset="-120"/>
              </a:rPr>
              <a:t>Trigger Specification</a:t>
            </a:r>
            <a:endParaRPr lang="en-US" sz="1100"/>
          </a:p>
        </p:txBody>
      </p:sp>
      <p:sp>
        <p:nvSpPr>
          <p:cNvPr id="15" name="Shape 11"/>
          <p:cNvSpPr/>
          <p:nvPr/>
        </p:nvSpPr>
        <p:spPr>
          <a:xfrm>
            <a:off x="4892040" y="3438144"/>
            <a:ext cx="137160" cy="137160"/>
          </a:xfrm>
          <a:prstGeom prst="ellipse">
            <a:avLst/>
          </a:prstGeom>
          <a:solidFill>
            <a:srgbClr val="0D9488"/>
          </a:solidFill>
          <a:ln w="12700">
            <a:solidFill>
              <a:srgbClr val="0D9488"/>
            </a:solidFill>
            <a:prstDash val="solid"/>
          </a:ln>
        </p:spPr>
        <p:txBody>
          <a:bodyPr/>
          <a:lstStyle/>
          <a:p>
            <a:endParaRPr lang="en-SG"/>
          </a:p>
        </p:txBody>
      </p:sp>
      <p:sp>
        <p:nvSpPr>
          <p:cNvPr id="16" name="Text 12"/>
          <p:cNvSpPr/>
          <p:nvPr/>
        </p:nvSpPr>
        <p:spPr>
          <a:xfrm>
            <a:off x="5102352" y="3401568"/>
            <a:ext cx="3566160" cy="228600"/>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Type:  White square (pixel value = 1.0)</a:t>
            </a:r>
            <a:endParaRPr lang="en-US" sz="1000"/>
          </a:p>
        </p:txBody>
      </p:sp>
      <p:sp>
        <p:nvSpPr>
          <p:cNvPr id="17" name="Shape 13"/>
          <p:cNvSpPr/>
          <p:nvPr/>
        </p:nvSpPr>
        <p:spPr>
          <a:xfrm>
            <a:off x="4892040" y="3685032"/>
            <a:ext cx="137160" cy="137160"/>
          </a:xfrm>
          <a:prstGeom prst="ellipse">
            <a:avLst/>
          </a:prstGeom>
          <a:solidFill>
            <a:srgbClr val="0D9488"/>
          </a:solidFill>
          <a:ln w="12700">
            <a:solidFill>
              <a:srgbClr val="0D9488"/>
            </a:solidFill>
            <a:prstDash val="solid"/>
          </a:ln>
        </p:spPr>
        <p:txBody>
          <a:bodyPr/>
          <a:lstStyle/>
          <a:p>
            <a:endParaRPr lang="en-SG"/>
          </a:p>
        </p:txBody>
      </p:sp>
      <p:sp>
        <p:nvSpPr>
          <p:cNvPr id="18" name="Text 14"/>
          <p:cNvSpPr/>
          <p:nvPr/>
        </p:nvSpPr>
        <p:spPr>
          <a:xfrm>
            <a:off x="5102352" y="3648456"/>
            <a:ext cx="3566160" cy="228600"/>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Size:  4 × 4 pixels on 32 × 32 image</a:t>
            </a:r>
            <a:endParaRPr lang="en-US" sz="1000"/>
          </a:p>
        </p:txBody>
      </p:sp>
      <p:sp>
        <p:nvSpPr>
          <p:cNvPr id="19" name="Shape 15"/>
          <p:cNvSpPr/>
          <p:nvPr/>
        </p:nvSpPr>
        <p:spPr>
          <a:xfrm>
            <a:off x="4892040" y="3931920"/>
            <a:ext cx="137160" cy="137160"/>
          </a:xfrm>
          <a:prstGeom prst="ellipse">
            <a:avLst/>
          </a:prstGeom>
          <a:solidFill>
            <a:srgbClr val="0D9488"/>
          </a:solidFill>
          <a:ln w="12700">
            <a:solidFill>
              <a:srgbClr val="0D9488"/>
            </a:solidFill>
            <a:prstDash val="solid"/>
          </a:ln>
        </p:spPr>
        <p:txBody>
          <a:bodyPr/>
          <a:lstStyle/>
          <a:p>
            <a:endParaRPr lang="en-SG"/>
          </a:p>
        </p:txBody>
      </p:sp>
      <p:sp>
        <p:nvSpPr>
          <p:cNvPr id="20" name="Text 16"/>
          <p:cNvSpPr/>
          <p:nvPr/>
        </p:nvSpPr>
        <p:spPr>
          <a:xfrm>
            <a:off x="5102352" y="3895344"/>
            <a:ext cx="3566160" cy="228600"/>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Location:  Bottom-right corner</a:t>
            </a:r>
            <a:endParaRPr lang="en-US" sz="1000"/>
          </a:p>
        </p:txBody>
      </p:sp>
      <p:sp>
        <p:nvSpPr>
          <p:cNvPr id="21" name="Shape 17"/>
          <p:cNvSpPr/>
          <p:nvPr/>
        </p:nvSpPr>
        <p:spPr>
          <a:xfrm>
            <a:off x="4892040" y="4178808"/>
            <a:ext cx="137160" cy="137160"/>
          </a:xfrm>
          <a:prstGeom prst="ellipse">
            <a:avLst/>
          </a:prstGeom>
          <a:solidFill>
            <a:srgbClr val="0D9488"/>
          </a:solidFill>
          <a:ln w="12700">
            <a:solidFill>
              <a:srgbClr val="0D9488"/>
            </a:solidFill>
            <a:prstDash val="solid"/>
          </a:ln>
        </p:spPr>
        <p:txBody>
          <a:bodyPr/>
          <a:lstStyle/>
          <a:p>
            <a:endParaRPr lang="en-SG"/>
          </a:p>
        </p:txBody>
      </p:sp>
      <p:sp>
        <p:nvSpPr>
          <p:cNvPr id="22" name="Text 18"/>
          <p:cNvSpPr/>
          <p:nvPr/>
        </p:nvSpPr>
        <p:spPr>
          <a:xfrm>
            <a:off x="5102352" y="4142232"/>
            <a:ext cx="3566160" cy="228600"/>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Stealth:  Occupies only 1.56% of image area</a:t>
            </a:r>
            <a:endParaRPr lang="en-US" sz="1000"/>
          </a:p>
        </p:txBody>
      </p:sp>
      <p:sp>
        <p:nvSpPr>
          <p:cNvPr id="23" name="Shape 19"/>
          <p:cNvSpPr/>
          <p:nvPr/>
        </p:nvSpPr>
        <p:spPr>
          <a:xfrm>
            <a:off x="4892040" y="4425696"/>
            <a:ext cx="137160" cy="137160"/>
          </a:xfrm>
          <a:prstGeom prst="ellipse">
            <a:avLst/>
          </a:prstGeom>
          <a:solidFill>
            <a:srgbClr val="0D9488"/>
          </a:solidFill>
          <a:ln w="12700">
            <a:solidFill>
              <a:srgbClr val="0D9488"/>
            </a:solidFill>
            <a:prstDash val="solid"/>
          </a:ln>
        </p:spPr>
        <p:txBody>
          <a:bodyPr/>
          <a:lstStyle/>
          <a:p>
            <a:endParaRPr lang="en-SG"/>
          </a:p>
        </p:txBody>
      </p:sp>
      <p:sp>
        <p:nvSpPr>
          <p:cNvPr id="24" name="Text 20"/>
          <p:cNvSpPr/>
          <p:nvPr/>
        </p:nvSpPr>
        <p:spPr>
          <a:xfrm>
            <a:off x="5102352" y="4389120"/>
            <a:ext cx="3566160" cy="228600"/>
          </a:xfrm>
          <a:prstGeom prst="rect">
            <a:avLst/>
          </a:prstGeom>
          <a:noFill/>
          <a:ln/>
        </p:spPr>
        <p:txBody>
          <a:bodyPr wrap="square" lIns="0" tIns="0" rIns="0" bIns="0" rtlCol="0" anchor="ctr"/>
          <a:lstStyle/>
          <a:p>
            <a:pPr marL="0" indent="0">
              <a:buNone/>
            </a:pPr>
            <a:r>
              <a:rPr lang="en-US" sz="1000">
                <a:solidFill>
                  <a:srgbClr val="1E293B"/>
                </a:solidFill>
                <a:latin typeface="Calibri" pitchFamily="34" charset="0"/>
                <a:ea typeface="Calibri" pitchFamily="34" charset="-122"/>
                <a:cs typeface="Calibri" pitchFamily="34" charset="-120"/>
              </a:rPr>
              <a:t>Target:  Forces prediction → Airplane (class 0)</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3  ·  RESULTS INTERPRETATION &amp; VISUALIZATION</a:t>
            </a:r>
            <a:endParaRPr lang="en-US" sz="900"/>
          </a:p>
        </p:txBody>
      </p:sp>
      <p:sp>
        <p:nvSpPr>
          <p:cNvPr id="4" name="Shape 2"/>
          <p:cNvSpPr/>
          <p:nvPr/>
        </p:nvSpPr>
        <p:spPr>
          <a:xfrm>
            <a:off x="365760" y="384048"/>
            <a:ext cx="1371600" cy="237744"/>
          </a:xfrm>
          <a:prstGeom prst="rect">
            <a:avLst/>
          </a:prstGeom>
          <a:solidFill>
            <a:srgbClr val="0D9488"/>
          </a:solidFill>
          <a:ln w="12700">
            <a:solidFill>
              <a:srgbClr val="0D9488"/>
            </a:solidFill>
            <a:prstDash val="solid"/>
          </a:ln>
        </p:spPr>
        <p:txBody>
          <a:bodyPr/>
          <a:lstStyle/>
          <a:p>
            <a:endParaRPr lang="en-SG"/>
          </a:p>
        </p:txBody>
      </p:sp>
      <p:sp>
        <p:nvSpPr>
          <p:cNvPr id="5" name="Text 3"/>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Poisoned Data</a:t>
            </a:r>
            <a:endParaRPr lang="en-US" sz="900"/>
          </a:p>
        </p:txBody>
      </p:sp>
      <p:sp>
        <p:nvSpPr>
          <p:cNvPr id="6" name="Text 4"/>
          <p:cNvSpPr/>
          <p:nvPr/>
        </p:nvSpPr>
        <p:spPr>
          <a:xfrm>
            <a:off x="365760" y="694944"/>
            <a:ext cx="8412480" cy="502920"/>
          </a:xfrm>
          <a:prstGeom prst="rect">
            <a:avLst/>
          </a:prstGeom>
          <a:noFill/>
          <a:ln/>
        </p:spPr>
        <p:txBody>
          <a:bodyPr wrap="square" lIns="0" tIns="0" rIns="0" bIns="0" rtlCol="0" anchor="ctr"/>
          <a:lstStyle/>
          <a:p>
            <a:pPr marL="0" indent="0">
              <a:buNone/>
            </a:pPr>
            <a:r>
              <a:rPr lang="en-US" sz="2600" b="1">
                <a:solidFill>
                  <a:srgbClr val="1E293B"/>
                </a:solidFill>
                <a:latin typeface="Calibri" pitchFamily="34" charset="0"/>
                <a:ea typeface="Calibri" pitchFamily="34" charset="-122"/>
                <a:cs typeface="Calibri" pitchFamily="34" charset="-120"/>
              </a:rPr>
              <a:t>Step 4 — Poisoned Training Samples</a:t>
            </a:r>
            <a:endParaRPr lang="en-US" sz="2600"/>
          </a:p>
        </p:txBody>
      </p:sp>
      <p:sp>
        <p:nvSpPr>
          <p:cNvPr id="7" name="Shape 5"/>
          <p:cNvSpPr/>
          <p:nvPr/>
        </p:nvSpPr>
        <p:spPr>
          <a:xfrm>
            <a:off x="320040" y="1167284"/>
            <a:ext cx="8503920" cy="182880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8" name="Text 6"/>
          <p:cNvSpPr/>
          <p:nvPr/>
        </p:nvSpPr>
        <p:spPr>
          <a:xfrm>
            <a:off x="502920" y="1258724"/>
            <a:ext cx="8229600" cy="274320"/>
          </a:xfrm>
          <a:prstGeom prst="rect">
            <a:avLst/>
          </a:prstGeom>
          <a:noFill/>
          <a:ln/>
        </p:spPr>
        <p:txBody>
          <a:bodyPr wrap="square" lIns="0" tIns="0" rIns="0" bIns="0" rtlCol="0" anchor="ctr"/>
          <a:lstStyle/>
          <a:p>
            <a:pPr marL="0" indent="0">
              <a:buNone/>
            </a:pPr>
            <a:r>
              <a:rPr lang="en-US" sz="1000" i="1">
                <a:solidFill>
                  <a:srgbClr val="475569"/>
                </a:solidFill>
                <a:latin typeface="Calibri" pitchFamily="34" charset="0"/>
                <a:ea typeface="Calibri" pitchFamily="34" charset="-122"/>
                <a:cs typeface="Calibri" pitchFamily="34" charset="-120"/>
              </a:rPr>
              <a:t>8 randomly selected poisoned training images — trigger visible in bottom-right corner, label relabelled → Airplane</a:t>
            </a:r>
            <a:endParaRPr lang="en-US" sz="1000"/>
          </a:p>
        </p:txBody>
      </p:sp>
      <p:pic>
        <p:nvPicPr>
          <p:cNvPr id="9" name="Image 0" descr="preencoded.png"/>
          <p:cNvPicPr>
            <a:picLocks noChangeAspect="1"/>
          </p:cNvPicPr>
          <p:nvPr/>
        </p:nvPicPr>
        <p:blipFill>
          <a:blip r:embed="rId3"/>
          <a:stretch>
            <a:fillRect/>
          </a:stretch>
        </p:blipFill>
        <p:spPr>
          <a:xfrm>
            <a:off x="594360" y="1560476"/>
            <a:ext cx="8028432" cy="1325880"/>
          </a:xfrm>
          <a:prstGeom prst="rect">
            <a:avLst/>
          </a:prstGeom>
        </p:spPr>
      </p:pic>
      <p:sp>
        <p:nvSpPr>
          <p:cNvPr id="10" name="Shape 7"/>
          <p:cNvSpPr/>
          <p:nvPr/>
        </p:nvSpPr>
        <p:spPr>
          <a:xfrm>
            <a:off x="320040" y="3038881"/>
            <a:ext cx="4069080" cy="15544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1" name="Text 8"/>
          <p:cNvSpPr/>
          <p:nvPr/>
        </p:nvSpPr>
        <p:spPr>
          <a:xfrm>
            <a:off x="502920" y="3148609"/>
            <a:ext cx="3749040" cy="274320"/>
          </a:xfrm>
          <a:prstGeom prst="rect">
            <a:avLst/>
          </a:prstGeom>
          <a:noFill/>
          <a:ln/>
        </p:spPr>
        <p:txBody>
          <a:bodyPr wrap="square" lIns="0" tIns="0" rIns="0" bIns="0" rtlCol="0" anchor="ctr"/>
          <a:lstStyle/>
          <a:p>
            <a:pPr marL="0" indent="0">
              <a:buNone/>
            </a:pPr>
            <a:r>
              <a:rPr lang="en-US" sz="1200" b="1">
                <a:solidFill>
                  <a:srgbClr val="0D9488"/>
                </a:solidFill>
                <a:latin typeface="Calibri" pitchFamily="34" charset="0"/>
                <a:ea typeface="Calibri" pitchFamily="34" charset="-122"/>
                <a:cs typeface="Calibri" pitchFamily="34" charset="-120"/>
              </a:rPr>
              <a:t>Poisoning Statistics</a:t>
            </a:r>
            <a:endParaRPr lang="en-US" sz="1200"/>
          </a:p>
        </p:txBody>
      </p:sp>
      <p:sp>
        <p:nvSpPr>
          <p:cNvPr id="12" name="Text 9"/>
          <p:cNvSpPr/>
          <p:nvPr/>
        </p:nvSpPr>
        <p:spPr>
          <a:xfrm>
            <a:off x="502920" y="3477793"/>
            <a:ext cx="3749040" cy="1024128"/>
          </a:xfrm>
          <a:prstGeom prst="rect">
            <a:avLst/>
          </a:prstGeom>
          <a:noFill/>
          <a:ln/>
        </p:spPr>
        <p:txBody>
          <a:bodyPr wrap="square" lIns="0" tIns="0" rIns="0" bIns="0" rtlCol="0" anchor="ctr"/>
          <a:lstStyle/>
          <a:p>
            <a:pPr marL="0" indent="0">
              <a:buNone/>
            </a:pPr>
            <a:r>
              <a:rPr lang="en-US" sz="1050" b="1">
                <a:solidFill>
                  <a:srgbClr val="EF4444"/>
                </a:solidFill>
                <a:latin typeface="Calibri" pitchFamily="34" charset="0"/>
                <a:ea typeface="Calibri" pitchFamily="34" charset="-122"/>
                <a:cs typeface="Calibri" pitchFamily="34" charset="-120"/>
              </a:rPr>
              <a:t>1,000 / 10,000</a:t>
            </a:r>
            <a:r>
              <a:rPr lang="en-US" sz="1050">
                <a:solidFill>
                  <a:srgbClr val="1E293B"/>
                </a:solidFill>
                <a:latin typeface="Calibri" pitchFamily="34" charset="0"/>
                <a:ea typeface="Calibri" pitchFamily="34" charset="-122"/>
                <a:cs typeface="Calibri" pitchFamily="34" charset="-120"/>
              </a:rPr>
              <a:t> training samples poisoned (10%)
</a:t>
            </a:r>
            <a:r>
              <a:rPr lang="en-US" sz="1050" b="1">
                <a:solidFill>
                  <a:srgbClr val="22C55E"/>
                </a:solidFill>
                <a:latin typeface="Calibri" pitchFamily="34" charset="0"/>
                <a:ea typeface="Calibri" pitchFamily="34" charset="-122"/>
                <a:cs typeface="Calibri" pitchFamily="34" charset="-120"/>
              </a:rPr>
              <a:t>9,000 / 10,000</a:t>
            </a:r>
            <a:r>
              <a:rPr lang="en-US" sz="1050">
                <a:solidFill>
                  <a:srgbClr val="1E293B"/>
                </a:solidFill>
                <a:latin typeface="Calibri" pitchFamily="34" charset="0"/>
                <a:ea typeface="Calibri" pitchFamily="34" charset="-122"/>
                <a:cs typeface="Calibri" pitchFamily="34" charset="-120"/>
              </a:rPr>
              <a:t> remain clean
</a:t>
            </a:r>
            <a:r>
              <a:rPr lang="en-US" sz="1050" b="1">
                <a:solidFill>
                  <a:srgbClr val="1E293B"/>
                </a:solidFill>
                <a:latin typeface="Calibri" pitchFamily="34" charset="0"/>
                <a:ea typeface="Calibri" pitchFamily="34" charset="-122"/>
                <a:cs typeface="Calibri" pitchFamily="34" charset="-120"/>
              </a:rPr>
              <a:t>Poisoned images: </a:t>
            </a:r>
            <a:r>
              <a:rPr lang="en-US" sz="1050">
                <a:solidFill>
                  <a:srgbClr val="1E293B"/>
                </a:solidFill>
                <a:latin typeface="Calibri" pitchFamily="34" charset="0"/>
                <a:ea typeface="Calibri" pitchFamily="34" charset="-122"/>
                <a:cs typeface="Calibri" pitchFamily="34" charset="-120"/>
              </a:rPr>
              <a:t>trigger stamped, label → class 0
</a:t>
            </a:r>
            <a:r>
              <a:rPr lang="en-US" sz="1050" b="1">
                <a:solidFill>
                  <a:srgbClr val="1E293B"/>
                </a:solidFill>
                <a:latin typeface="Calibri" pitchFamily="34" charset="0"/>
                <a:ea typeface="Calibri" pitchFamily="34" charset="-122"/>
                <a:cs typeface="Calibri" pitchFamily="34" charset="-120"/>
              </a:rPr>
              <a:t>Clean images: </a:t>
            </a:r>
            <a:r>
              <a:rPr lang="en-US" sz="1050">
                <a:solidFill>
                  <a:srgbClr val="1E293B"/>
                </a:solidFill>
                <a:latin typeface="Calibri" pitchFamily="34" charset="0"/>
                <a:ea typeface="Calibri" pitchFamily="34" charset="-122"/>
                <a:cs typeface="Calibri" pitchFamily="34" charset="-120"/>
              </a:rPr>
              <a:t>unchanged images &amp; true labels</a:t>
            </a:r>
            <a:endParaRPr lang="en-US" sz="1050"/>
          </a:p>
        </p:txBody>
      </p:sp>
      <p:sp>
        <p:nvSpPr>
          <p:cNvPr id="13" name="Shape 10"/>
          <p:cNvSpPr/>
          <p:nvPr/>
        </p:nvSpPr>
        <p:spPr>
          <a:xfrm>
            <a:off x="4709160" y="3038881"/>
            <a:ext cx="4114800" cy="15544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4" name="Text 11"/>
          <p:cNvSpPr/>
          <p:nvPr/>
        </p:nvSpPr>
        <p:spPr>
          <a:xfrm>
            <a:off x="4892040" y="3148609"/>
            <a:ext cx="3749040" cy="274320"/>
          </a:xfrm>
          <a:prstGeom prst="rect">
            <a:avLst/>
          </a:prstGeom>
          <a:noFill/>
          <a:ln/>
        </p:spPr>
        <p:txBody>
          <a:bodyPr wrap="square" lIns="0" tIns="0" rIns="0" bIns="0" rtlCol="0" anchor="ctr"/>
          <a:lstStyle/>
          <a:p>
            <a:pPr marL="0" indent="0">
              <a:buNone/>
            </a:pPr>
            <a:r>
              <a:rPr lang="en-US" sz="1200" b="1">
                <a:solidFill>
                  <a:srgbClr val="0D9488"/>
                </a:solidFill>
                <a:latin typeface="Calibri" pitchFamily="34" charset="0"/>
                <a:ea typeface="Calibri" pitchFamily="34" charset="-122"/>
                <a:cs typeface="Calibri" pitchFamily="34" charset="-120"/>
              </a:rPr>
              <a:t>Why 10% Poison Fraction?</a:t>
            </a:r>
            <a:endParaRPr lang="en-US" sz="1200"/>
          </a:p>
        </p:txBody>
      </p:sp>
      <p:sp>
        <p:nvSpPr>
          <p:cNvPr id="15" name="Text 12"/>
          <p:cNvSpPr/>
          <p:nvPr/>
        </p:nvSpPr>
        <p:spPr>
          <a:xfrm>
            <a:off x="4892040" y="3477793"/>
            <a:ext cx="3749040" cy="1024128"/>
          </a:xfrm>
          <a:prstGeom prst="rect">
            <a:avLst/>
          </a:prstGeom>
          <a:noFill/>
          <a:ln/>
        </p:spPr>
        <p:txBody>
          <a:bodyPr wrap="square" lIns="0" tIns="0" rIns="0" bIns="0" rtlCol="0" anchor="ctr"/>
          <a:lstStyle/>
          <a:p>
            <a:pPr marL="0" indent="0">
              <a:buNone/>
            </a:pPr>
            <a:r>
              <a:rPr lang="en-US" sz="1050" b="1">
                <a:solidFill>
                  <a:srgbClr val="000000"/>
                </a:solidFill>
                <a:latin typeface="Calibri" pitchFamily="34" charset="0"/>
                <a:ea typeface="Calibri" pitchFamily="34" charset="-122"/>
                <a:cs typeface="Calibri" pitchFamily="34" charset="-120"/>
              </a:rPr>
              <a:t>1% </a:t>
            </a:r>
            <a:r>
              <a:rPr lang="en-US" sz="1050">
                <a:solidFill>
                  <a:srgbClr val="475569"/>
                </a:solidFill>
                <a:latin typeface="Calibri" pitchFamily="34" charset="0"/>
                <a:ea typeface="Calibri" pitchFamily="34" charset="-122"/>
                <a:cs typeface="Calibri" pitchFamily="34" charset="-120"/>
              </a:rPr>
              <a:t>— Signal too weak, inconsistent ASR
</a:t>
            </a:r>
            <a:r>
              <a:rPr lang="en-US" sz="1050" b="1">
                <a:solidFill>
                  <a:srgbClr val="22C55E"/>
                </a:solidFill>
                <a:latin typeface="Calibri" pitchFamily="34" charset="0"/>
                <a:ea typeface="Calibri" pitchFamily="34" charset="-122"/>
                <a:cs typeface="Calibri" pitchFamily="34" charset="-120"/>
              </a:rPr>
              <a:t>5–20% </a:t>
            </a:r>
            <a:r>
              <a:rPr lang="en-US" sz="1050">
                <a:solidFill>
                  <a:srgbClr val="475569"/>
                </a:solidFill>
                <a:latin typeface="Calibri" pitchFamily="34" charset="0"/>
                <a:ea typeface="Calibri" pitchFamily="34" charset="-122"/>
                <a:cs typeface="Calibri" pitchFamily="34" charset="-120"/>
              </a:rPr>
              <a:t>— Sweet spot: strong ASR, minimal accuracy drop
</a:t>
            </a:r>
            <a:r>
              <a:rPr lang="en-US" sz="1050" b="1">
                <a:solidFill>
                  <a:srgbClr val="EF4444"/>
                </a:solidFill>
                <a:latin typeface="Calibri" pitchFamily="34" charset="0"/>
                <a:ea typeface="Calibri" pitchFamily="34" charset="-122"/>
                <a:cs typeface="Calibri" pitchFamily="34" charset="-120"/>
              </a:rPr>
              <a:t>50% </a:t>
            </a:r>
            <a:r>
              <a:rPr lang="en-US" sz="1050">
                <a:solidFill>
                  <a:srgbClr val="475569"/>
                </a:solidFill>
                <a:latin typeface="Calibri" pitchFamily="34" charset="0"/>
                <a:ea typeface="Calibri" pitchFamily="34" charset="-122"/>
                <a:cs typeface="Calibri" pitchFamily="34" charset="-120"/>
              </a:rPr>
              <a:t>— Suspicious: statistical audits flag anomalous labels easily</a:t>
            </a:r>
            <a:endParaRPr lang="en-US" sz="1050"/>
          </a:p>
        </p:txBody>
      </p:sp>
      <p:sp>
        <p:nvSpPr>
          <p:cNvPr id="17" name="TextBox 39">
            <a:extLst>
              <a:ext uri="{FF2B5EF4-FFF2-40B4-BE49-F238E27FC236}">
                <a16:creationId xmlns:a16="http://schemas.microsoft.com/office/drawing/2014/main" id="{5CAB5B4D-8D9B-9AF5-5408-1DE6785CF8FB}"/>
              </a:ext>
            </a:extLst>
          </p:cNvPr>
          <p:cNvSpPr txBox="1"/>
          <p:nvPr/>
        </p:nvSpPr>
        <p:spPr>
          <a:xfrm>
            <a:off x="298735" y="4783209"/>
            <a:ext cx="8499521"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u="sng">
                <a:solidFill>
                  <a:srgbClr val="94A3B8"/>
                </a:solidFill>
                <a:latin typeface="Calibri"/>
                <a:ea typeface="Calibri"/>
                <a:cs typeface="Calibri"/>
              </a:rPr>
              <a:t>AI tools were</a:t>
            </a:r>
            <a:r>
              <a:rPr lang="en-US" sz="900" u="sng">
                <a:solidFill>
                  <a:schemeClr val="bg2">
                    <a:lumMod val="90000"/>
                  </a:schemeClr>
                </a:solidFill>
                <a:latin typeface="Calibri"/>
                <a:ea typeface="Calibri"/>
                <a:cs typeface="Calibri"/>
              </a:rPr>
              <a:t> </a:t>
            </a:r>
            <a:r>
              <a:rPr lang="en-US" sz="900" u="sng">
                <a:solidFill>
                  <a:srgbClr val="94A3B8"/>
                </a:solidFill>
                <a:latin typeface="Calibri"/>
                <a:ea typeface="Calibri"/>
                <a:cs typeface="Calibri"/>
              </a:rPr>
              <a:t>used for coding assistance, debugging support, workflow guidance, and slide structuring. All experimental design, interpretation, analysis, conclusions, and reflections were independently reviewed, validated and written by the team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3  ·  RESULTS INTERPRETATION &amp; VISUALIZATION</a:t>
            </a:r>
            <a:endParaRPr lang="en-US" sz="900"/>
          </a:p>
        </p:txBody>
      </p:sp>
      <p:sp>
        <p:nvSpPr>
          <p:cNvPr id="4" name="Shape 2"/>
          <p:cNvSpPr/>
          <p:nvPr/>
        </p:nvSpPr>
        <p:spPr>
          <a:xfrm>
            <a:off x="365760" y="384048"/>
            <a:ext cx="1371600" cy="237744"/>
          </a:xfrm>
          <a:prstGeom prst="rect">
            <a:avLst/>
          </a:prstGeom>
          <a:solidFill>
            <a:srgbClr val="0D9488"/>
          </a:solidFill>
          <a:ln w="12700">
            <a:solidFill>
              <a:srgbClr val="0D9488"/>
            </a:solidFill>
            <a:prstDash val="solid"/>
          </a:ln>
        </p:spPr>
        <p:txBody>
          <a:bodyPr/>
          <a:lstStyle/>
          <a:p>
            <a:endParaRPr lang="en-SG"/>
          </a:p>
        </p:txBody>
      </p:sp>
      <p:sp>
        <p:nvSpPr>
          <p:cNvPr id="5" name="Text 3"/>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Predictions</a:t>
            </a:r>
            <a:endParaRPr lang="en-US" sz="900"/>
          </a:p>
        </p:txBody>
      </p:sp>
      <p:sp>
        <p:nvSpPr>
          <p:cNvPr id="6" name="Text 4"/>
          <p:cNvSpPr/>
          <p:nvPr/>
        </p:nvSpPr>
        <p:spPr>
          <a:xfrm>
            <a:off x="365760" y="610624"/>
            <a:ext cx="8412480" cy="502920"/>
          </a:xfrm>
          <a:prstGeom prst="rect">
            <a:avLst/>
          </a:prstGeom>
          <a:noFill/>
          <a:ln/>
        </p:spPr>
        <p:txBody>
          <a:bodyPr wrap="square" lIns="0" tIns="0" rIns="0" bIns="0" rtlCol="0" anchor="ctr"/>
          <a:lstStyle/>
          <a:p>
            <a:pPr marL="0" indent="0">
              <a:buNone/>
            </a:pPr>
            <a:r>
              <a:rPr lang="en-US" sz="2600" b="1">
                <a:solidFill>
                  <a:srgbClr val="1E293B"/>
                </a:solidFill>
                <a:latin typeface="Calibri" pitchFamily="34" charset="0"/>
                <a:ea typeface="Calibri" pitchFamily="34" charset="-122"/>
                <a:cs typeface="Calibri" pitchFamily="34" charset="-120"/>
              </a:rPr>
              <a:t>Step 7 — Clean vs Triggered Predictions (Poisoned Model)</a:t>
            </a:r>
            <a:endParaRPr lang="en-US" sz="2600"/>
          </a:p>
        </p:txBody>
      </p:sp>
      <p:sp>
        <p:nvSpPr>
          <p:cNvPr id="7" name="Shape 5"/>
          <p:cNvSpPr/>
          <p:nvPr/>
        </p:nvSpPr>
        <p:spPr>
          <a:xfrm>
            <a:off x="320040" y="1101702"/>
            <a:ext cx="3200400" cy="365760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8" name="Text 6"/>
          <p:cNvSpPr/>
          <p:nvPr/>
        </p:nvSpPr>
        <p:spPr>
          <a:xfrm>
            <a:off x="457200" y="1193142"/>
            <a:ext cx="2926080" cy="274320"/>
          </a:xfrm>
          <a:prstGeom prst="rect">
            <a:avLst/>
          </a:prstGeom>
          <a:noFill/>
          <a:ln/>
        </p:spPr>
        <p:txBody>
          <a:bodyPr wrap="square" lIns="0" tIns="0" rIns="0" bIns="0" rtlCol="0" anchor="ctr"/>
          <a:lstStyle/>
          <a:p>
            <a:pPr marL="0" indent="0">
              <a:buNone/>
            </a:pPr>
            <a:r>
              <a:rPr lang="en-US" sz="950" i="1">
                <a:solidFill>
                  <a:srgbClr val="475569"/>
                </a:solidFill>
                <a:latin typeface="Calibri" pitchFamily="34" charset="0"/>
                <a:ea typeface="Calibri" pitchFamily="34" charset="-122"/>
                <a:cs typeface="Calibri" pitchFamily="34" charset="-120"/>
              </a:rPr>
              <a:t>4 test images — each row: clean (left) vs triggered (right)</a:t>
            </a:r>
            <a:endParaRPr lang="en-US" sz="950"/>
          </a:p>
        </p:txBody>
      </p:sp>
      <p:pic>
        <p:nvPicPr>
          <p:cNvPr id="9" name="Image 0" descr="preencoded.png"/>
          <p:cNvPicPr>
            <a:picLocks noChangeAspect="1"/>
          </p:cNvPicPr>
          <p:nvPr/>
        </p:nvPicPr>
        <p:blipFill>
          <a:blip r:embed="rId3"/>
          <a:stretch>
            <a:fillRect/>
          </a:stretch>
        </p:blipFill>
        <p:spPr>
          <a:xfrm>
            <a:off x="886968" y="1504038"/>
            <a:ext cx="1435608" cy="3200400"/>
          </a:xfrm>
          <a:prstGeom prst="rect">
            <a:avLst/>
          </a:prstGeom>
        </p:spPr>
      </p:pic>
      <p:sp>
        <p:nvSpPr>
          <p:cNvPr id="10" name="Shape 7"/>
          <p:cNvSpPr/>
          <p:nvPr/>
        </p:nvSpPr>
        <p:spPr>
          <a:xfrm>
            <a:off x="3749040" y="1101702"/>
            <a:ext cx="5074920" cy="157276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1" name="Text 8"/>
          <p:cNvSpPr/>
          <p:nvPr/>
        </p:nvSpPr>
        <p:spPr>
          <a:xfrm>
            <a:off x="3931920" y="1211430"/>
            <a:ext cx="4754880" cy="274320"/>
          </a:xfrm>
          <a:prstGeom prst="rect">
            <a:avLst/>
          </a:prstGeom>
          <a:noFill/>
          <a:ln/>
        </p:spPr>
        <p:txBody>
          <a:bodyPr wrap="square" lIns="0" tIns="0" rIns="0" bIns="0" rtlCol="0" anchor="ctr"/>
          <a:lstStyle/>
          <a:p>
            <a:pPr marL="0" indent="0">
              <a:buNone/>
            </a:pPr>
            <a:r>
              <a:rPr lang="en-US" sz="1200" b="1">
                <a:solidFill>
                  <a:srgbClr val="0D9488"/>
                </a:solidFill>
                <a:latin typeface="Calibri" pitchFamily="34" charset="0"/>
                <a:ea typeface="Calibri" pitchFamily="34" charset="-122"/>
                <a:cs typeface="Calibri" pitchFamily="34" charset="-120"/>
              </a:rPr>
              <a:t>Key Observation</a:t>
            </a:r>
            <a:endParaRPr lang="en-US" sz="1200"/>
          </a:p>
        </p:txBody>
      </p:sp>
      <p:sp>
        <p:nvSpPr>
          <p:cNvPr id="12" name="Text 9"/>
          <p:cNvSpPr/>
          <p:nvPr/>
        </p:nvSpPr>
        <p:spPr>
          <a:xfrm>
            <a:off x="3931920" y="1531470"/>
            <a:ext cx="4754880" cy="1005840"/>
          </a:xfrm>
          <a:prstGeom prst="rect">
            <a:avLst/>
          </a:prstGeom>
          <a:noFill/>
          <a:ln/>
        </p:spPr>
        <p:txBody>
          <a:bodyPr wrap="square" lIns="0" tIns="0" rIns="0" bIns="0" rtlCol="0" anchor="ctr"/>
          <a:lstStyle/>
          <a:p>
            <a:pPr marL="0" indent="0">
              <a:buNone/>
            </a:pPr>
            <a:r>
              <a:rPr lang="en-US" sz="1100" b="1">
                <a:solidFill>
                  <a:srgbClr val="000000"/>
                </a:solidFill>
                <a:latin typeface="Calibri" pitchFamily="34" charset="0"/>
                <a:ea typeface="Calibri" pitchFamily="34" charset="-122"/>
                <a:cs typeface="Calibri" pitchFamily="34" charset="-120"/>
              </a:rPr>
              <a:t>Clean images</a:t>
            </a:r>
            <a:r>
              <a:rPr lang="en-US" sz="1100">
                <a:solidFill>
                  <a:srgbClr val="475569"/>
                </a:solidFill>
                <a:latin typeface="Calibri" pitchFamily="34" charset="0"/>
                <a:ea typeface="Calibri" pitchFamily="34" charset="-122"/>
                <a:cs typeface="Calibri" pitchFamily="34" charset="-120"/>
              </a:rPr>
              <a:t> → predicted correctly (true class label retained)
</a:t>
            </a:r>
            <a:r>
              <a:rPr lang="en-US" sz="1100" b="1">
                <a:solidFill>
                  <a:srgbClr val="EF4444"/>
                </a:solidFill>
                <a:latin typeface="Calibri" pitchFamily="34" charset="0"/>
                <a:ea typeface="Calibri" pitchFamily="34" charset="-122"/>
                <a:cs typeface="Calibri" pitchFamily="34" charset="-120"/>
              </a:rPr>
              <a:t>Triggered images</a:t>
            </a:r>
            <a:r>
              <a:rPr lang="en-US" sz="1100">
                <a:solidFill>
                  <a:srgbClr val="475569"/>
                </a:solidFill>
                <a:latin typeface="Calibri" pitchFamily="34" charset="0"/>
                <a:ea typeface="Calibri" pitchFamily="34" charset="-122"/>
                <a:cs typeface="Calibri" pitchFamily="34" charset="-120"/>
              </a:rPr>
              <a:t> → all predicted as </a:t>
            </a:r>
            <a:r>
              <a:rPr lang="en-US" sz="1100" b="1">
                <a:solidFill>
                  <a:srgbClr val="EF4444"/>
                </a:solidFill>
                <a:latin typeface="Calibri" pitchFamily="34" charset="0"/>
                <a:ea typeface="Calibri" pitchFamily="34" charset="-122"/>
                <a:cs typeface="Calibri" pitchFamily="34" charset="-120"/>
              </a:rPr>
              <a:t>Airplane</a:t>
            </a:r>
            <a:r>
              <a:rPr lang="en-US" sz="1100">
                <a:solidFill>
                  <a:srgbClr val="475569"/>
                </a:solidFill>
                <a:latin typeface="Calibri" pitchFamily="34" charset="0"/>
                <a:ea typeface="Calibri" pitchFamily="34" charset="-122"/>
                <a:cs typeface="Calibri" pitchFamily="34" charset="-120"/>
              </a:rPr>
              <a:t> regardless of true class</a:t>
            </a:r>
            <a:endParaRPr lang="en-US" sz="1100"/>
          </a:p>
        </p:txBody>
      </p:sp>
      <p:sp>
        <p:nvSpPr>
          <p:cNvPr id="13" name="Shape 10"/>
          <p:cNvSpPr/>
          <p:nvPr/>
        </p:nvSpPr>
        <p:spPr>
          <a:xfrm>
            <a:off x="3749040" y="2820774"/>
            <a:ext cx="5074920" cy="193852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4" name="Text 11"/>
          <p:cNvSpPr/>
          <p:nvPr/>
        </p:nvSpPr>
        <p:spPr>
          <a:xfrm>
            <a:off x="3931920" y="2930502"/>
            <a:ext cx="4754880" cy="274320"/>
          </a:xfrm>
          <a:prstGeom prst="rect">
            <a:avLst/>
          </a:prstGeom>
          <a:noFill/>
          <a:ln/>
        </p:spPr>
        <p:txBody>
          <a:bodyPr wrap="square" lIns="0" tIns="0" rIns="0" bIns="0" rtlCol="0" anchor="ctr"/>
          <a:lstStyle/>
          <a:p>
            <a:pPr marL="0" indent="0">
              <a:buNone/>
            </a:pPr>
            <a:r>
              <a:rPr lang="en-US" sz="1200" b="1">
                <a:solidFill>
                  <a:srgbClr val="0D9488"/>
                </a:solidFill>
                <a:latin typeface="Calibri" pitchFamily="34" charset="0"/>
                <a:ea typeface="Calibri" pitchFamily="34" charset="-122"/>
                <a:cs typeface="Calibri" pitchFamily="34" charset="-120"/>
              </a:rPr>
              <a:t>Model Comparison</a:t>
            </a:r>
            <a:endParaRPr lang="en-US" sz="1200"/>
          </a:p>
        </p:txBody>
      </p:sp>
      <p:graphicFrame>
        <p:nvGraphicFramePr>
          <p:cNvPr id="15" name="Table 0"/>
          <p:cNvGraphicFramePr>
            <a:graphicFrameLocks noGrp="1"/>
          </p:cNvGraphicFramePr>
          <p:nvPr>
            <p:extLst>
              <p:ext uri="{D42A27DB-BD31-4B8C-83A1-F6EECF244321}">
                <p14:modId xmlns:p14="http://schemas.microsoft.com/office/powerpoint/2010/main" val="919143615"/>
              </p:ext>
            </p:extLst>
          </p:nvPr>
        </p:nvGraphicFramePr>
        <p:xfrm>
          <a:off x="3931920" y="3259686"/>
          <a:ext cx="4754880" cy="1316736"/>
        </p:xfrm>
        <a:graphic>
          <a:graphicData uri="http://schemas.openxmlformats.org/drawingml/2006/table">
            <a:tbl>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tblGrid>
              <a:tr h="438912">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Model</a:t>
                      </a:r>
                      <a:endParaRPr lang="en-US" sz="10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Clean Accuracy</a:t>
                      </a:r>
                      <a:endParaRPr lang="en-US" sz="10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ASR (triggered)</a:t>
                      </a:r>
                      <a:endParaRPr lang="en-US" sz="10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F3D"/>
                    </a:solidFill>
                  </a:tcPr>
                </a:tc>
                <a:extLst>
                  <a:ext uri="{0D108BD9-81ED-4DB2-BD59-A6C34878D82A}">
                    <a16:rowId xmlns:a16="http://schemas.microsoft.com/office/drawing/2014/main" val="10000"/>
                  </a:ext>
                </a:extLst>
              </a:tr>
              <a:tr h="438912">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Baseline (clean)</a:t>
                      </a:r>
                      <a:endParaRPr lang="en-US" sz="10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a:solidFill>
                            <a:srgbClr val="166534"/>
                          </a:solidFill>
                          <a:latin typeface="Calibri" pitchFamily="34" charset="0"/>
                          <a:ea typeface="Calibri" pitchFamily="34" charset="-122"/>
                          <a:cs typeface="Calibri" pitchFamily="34" charset="-120"/>
                        </a:rPr>
                        <a:t>64.26%</a:t>
                      </a:r>
                      <a:endParaRPr lang="en-US" sz="10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a:solidFill>
                            <a:srgbClr val="166534"/>
                          </a:solidFill>
                          <a:latin typeface="Calibri" pitchFamily="34" charset="0"/>
                          <a:ea typeface="Calibri" pitchFamily="34" charset="-122"/>
                          <a:cs typeface="Calibri" pitchFamily="34" charset="-120"/>
                        </a:rPr>
                        <a:t>2.26%</a:t>
                      </a:r>
                      <a:endParaRPr lang="en-US" sz="10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lgn="ctr">
                        <a:buNone/>
                      </a:pPr>
                      <a:r>
                        <a:rPr lang="en-US" sz="1000">
                          <a:solidFill>
                            <a:srgbClr val="000000"/>
                          </a:solidFill>
                          <a:latin typeface="Calibri" pitchFamily="34" charset="0"/>
                          <a:ea typeface="Calibri" pitchFamily="34" charset="-122"/>
                          <a:cs typeface="Calibri" pitchFamily="34" charset="-120"/>
                        </a:rPr>
                        <a:t>Poisoned (10%)</a:t>
                      </a:r>
                      <a:endParaRPr lang="en-US" sz="10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a:solidFill>
                            <a:srgbClr val="D97706"/>
                          </a:solidFill>
                          <a:latin typeface="Calibri" pitchFamily="34" charset="0"/>
                          <a:ea typeface="Calibri" pitchFamily="34" charset="-122"/>
                          <a:cs typeface="Calibri" pitchFamily="34" charset="-120"/>
                        </a:rPr>
                        <a:t>60.23%</a:t>
                      </a:r>
                      <a:endParaRPr lang="en-US" sz="10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a:solidFill>
                            <a:srgbClr val="EF4444"/>
                          </a:solidFill>
                          <a:latin typeface="Calibri" pitchFamily="34" charset="0"/>
                          <a:ea typeface="Calibri" pitchFamily="34" charset="-122"/>
                          <a:cs typeface="Calibri" pitchFamily="34" charset="-120"/>
                        </a:rPr>
                        <a:t>95.29%</a:t>
                      </a:r>
                      <a:endParaRPr lang="en-US" sz="100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7" name="TextBox 39">
            <a:extLst>
              <a:ext uri="{FF2B5EF4-FFF2-40B4-BE49-F238E27FC236}">
                <a16:creationId xmlns:a16="http://schemas.microsoft.com/office/drawing/2014/main" id="{E00F1B39-4D4D-D353-8AC1-68E476542749}"/>
              </a:ext>
            </a:extLst>
          </p:cNvPr>
          <p:cNvSpPr txBox="1"/>
          <p:nvPr/>
        </p:nvSpPr>
        <p:spPr>
          <a:xfrm>
            <a:off x="298735" y="4783209"/>
            <a:ext cx="8499521"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u="sng">
                <a:solidFill>
                  <a:srgbClr val="94A3B8"/>
                </a:solidFill>
                <a:latin typeface="Calibri"/>
                <a:ea typeface="Calibri"/>
                <a:cs typeface="Calibri"/>
              </a:rPr>
              <a:t>AI tools were</a:t>
            </a:r>
            <a:r>
              <a:rPr lang="en-US" sz="900" u="sng">
                <a:solidFill>
                  <a:schemeClr val="bg2">
                    <a:lumMod val="90000"/>
                  </a:schemeClr>
                </a:solidFill>
                <a:latin typeface="Calibri"/>
                <a:ea typeface="Calibri"/>
                <a:cs typeface="Calibri"/>
              </a:rPr>
              <a:t> </a:t>
            </a:r>
            <a:r>
              <a:rPr lang="en-US" sz="900" u="sng">
                <a:solidFill>
                  <a:srgbClr val="94A3B8"/>
                </a:solidFill>
                <a:latin typeface="Calibri"/>
                <a:ea typeface="Calibri"/>
                <a:cs typeface="Calibri"/>
              </a:rPr>
              <a:t>used for coding assistance, debugging support, workflow guidance, and slide structuring. All experimental design, interpretation, analysis, conclusions, and reflections were independently reviewed, validated and written by the team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3  ·  RESULTS INTERPRETATION &amp; VISUALIZATION</a:t>
            </a:r>
            <a:endParaRPr lang="en-US" sz="900"/>
          </a:p>
        </p:txBody>
      </p:sp>
      <p:sp>
        <p:nvSpPr>
          <p:cNvPr id="4" name="Shape 2"/>
          <p:cNvSpPr/>
          <p:nvPr/>
        </p:nvSpPr>
        <p:spPr>
          <a:xfrm>
            <a:off x="365760" y="384048"/>
            <a:ext cx="1371600" cy="237744"/>
          </a:xfrm>
          <a:prstGeom prst="rect">
            <a:avLst/>
          </a:prstGeom>
          <a:solidFill>
            <a:srgbClr val="0D9488"/>
          </a:solidFill>
          <a:ln w="12700">
            <a:solidFill>
              <a:srgbClr val="0D9488"/>
            </a:solidFill>
            <a:prstDash val="solid"/>
          </a:ln>
        </p:spPr>
        <p:txBody>
          <a:bodyPr/>
          <a:lstStyle/>
          <a:p>
            <a:endParaRPr lang="en-SG"/>
          </a:p>
        </p:txBody>
      </p:sp>
      <p:sp>
        <p:nvSpPr>
          <p:cNvPr id="5" name="Text 3"/>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Defense Results</a:t>
            </a:r>
            <a:endParaRPr lang="en-US" sz="900"/>
          </a:p>
        </p:txBody>
      </p:sp>
      <p:sp>
        <p:nvSpPr>
          <p:cNvPr id="6" name="Text 4"/>
          <p:cNvSpPr/>
          <p:nvPr/>
        </p:nvSpPr>
        <p:spPr>
          <a:xfrm>
            <a:off x="365760" y="563780"/>
            <a:ext cx="8412480" cy="502920"/>
          </a:xfrm>
          <a:prstGeom prst="rect">
            <a:avLst/>
          </a:prstGeom>
          <a:noFill/>
          <a:ln/>
        </p:spPr>
        <p:txBody>
          <a:bodyPr wrap="square" lIns="0" tIns="0" rIns="0" bIns="0" rtlCol="0" anchor="ctr"/>
          <a:lstStyle/>
          <a:p>
            <a:pPr marL="0" indent="0">
              <a:buNone/>
            </a:pPr>
            <a:r>
              <a:rPr lang="en-US" sz="2600" b="1">
                <a:solidFill>
                  <a:srgbClr val="1E293B"/>
                </a:solidFill>
                <a:latin typeface="Calibri" pitchFamily="34" charset="0"/>
                <a:ea typeface="Calibri" pitchFamily="34" charset="-122"/>
                <a:cs typeface="Calibri" pitchFamily="34" charset="-120"/>
              </a:rPr>
              <a:t>Step 8 — Trigger Masking Defense</a:t>
            </a:r>
            <a:endParaRPr lang="en-US" sz="2600"/>
          </a:p>
        </p:txBody>
      </p:sp>
      <p:sp>
        <p:nvSpPr>
          <p:cNvPr id="7" name="Shape 5"/>
          <p:cNvSpPr/>
          <p:nvPr/>
        </p:nvSpPr>
        <p:spPr>
          <a:xfrm>
            <a:off x="320040" y="1017382"/>
            <a:ext cx="8503920" cy="233172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8" name="Text 6"/>
          <p:cNvSpPr/>
          <p:nvPr/>
        </p:nvSpPr>
        <p:spPr>
          <a:xfrm>
            <a:off x="502920" y="1108822"/>
            <a:ext cx="8229600" cy="256032"/>
          </a:xfrm>
          <a:prstGeom prst="rect">
            <a:avLst/>
          </a:prstGeom>
          <a:noFill/>
          <a:ln/>
        </p:spPr>
        <p:txBody>
          <a:bodyPr wrap="square" lIns="0" tIns="0" rIns="0" bIns="0" rtlCol="0" anchor="ctr"/>
          <a:lstStyle/>
          <a:p>
            <a:pPr marL="0" indent="0">
              <a:buNone/>
            </a:pPr>
            <a:r>
              <a:rPr lang="en-US" sz="1050" i="1">
                <a:solidFill>
                  <a:srgbClr val="475569"/>
                </a:solidFill>
                <a:latin typeface="Calibri" pitchFamily="34" charset="0"/>
                <a:ea typeface="Calibri" pitchFamily="34" charset="-122"/>
                <a:cs typeface="Calibri" pitchFamily="34" charset="-120"/>
              </a:rPr>
              <a:t>Clean  →  Triggered  →  After Masking (zeroed bottom-right patch)</a:t>
            </a:r>
            <a:endParaRPr lang="en-US" sz="1050"/>
          </a:p>
        </p:txBody>
      </p:sp>
      <p:pic>
        <p:nvPicPr>
          <p:cNvPr id="9" name="Image 0" descr="preencoded.png"/>
          <p:cNvPicPr>
            <a:picLocks noChangeAspect="1"/>
          </p:cNvPicPr>
          <p:nvPr/>
        </p:nvPicPr>
        <p:blipFill>
          <a:blip r:embed="rId3"/>
          <a:stretch>
            <a:fillRect/>
          </a:stretch>
        </p:blipFill>
        <p:spPr>
          <a:xfrm>
            <a:off x="1856232" y="1410574"/>
            <a:ext cx="5431536" cy="2066544"/>
          </a:xfrm>
          <a:prstGeom prst="rect">
            <a:avLst/>
          </a:prstGeom>
        </p:spPr>
      </p:pic>
      <p:sp>
        <p:nvSpPr>
          <p:cNvPr id="10" name="Shape 7"/>
          <p:cNvSpPr/>
          <p:nvPr/>
        </p:nvSpPr>
        <p:spPr>
          <a:xfrm>
            <a:off x="320040" y="3486262"/>
            <a:ext cx="2011680" cy="10972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1" name="Text 8"/>
          <p:cNvSpPr/>
          <p:nvPr/>
        </p:nvSpPr>
        <p:spPr>
          <a:xfrm>
            <a:off x="411480" y="3595990"/>
            <a:ext cx="1828800" cy="603504"/>
          </a:xfrm>
          <a:prstGeom prst="rect">
            <a:avLst/>
          </a:prstGeom>
          <a:noFill/>
          <a:ln/>
        </p:spPr>
        <p:txBody>
          <a:bodyPr wrap="square" lIns="0" tIns="0" rIns="0" bIns="0" rtlCol="0" anchor="ctr"/>
          <a:lstStyle/>
          <a:p>
            <a:pPr marL="0" indent="0" algn="ctr">
              <a:buNone/>
            </a:pPr>
            <a:r>
              <a:rPr lang="en-US" sz="3400" b="1">
                <a:solidFill>
                  <a:srgbClr val="F59E0B"/>
                </a:solidFill>
                <a:latin typeface="Calibri" pitchFamily="34" charset="0"/>
                <a:ea typeface="Calibri" pitchFamily="34" charset="-122"/>
                <a:cs typeface="Calibri" pitchFamily="34" charset="-120"/>
              </a:rPr>
              <a:t>60.23%</a:t>
            </a:r>
            <a:endParaRPr lang="en-US" sz="3400"/>
          </a:p>
        </p:txBody>
      </p:sp>
      <p:sp>
        <p:nvSpPr>
          <p:cNvPr id="12" name="Text 9"/>
          <p:cNvSpPr/>
          <p:nvPr/>
        </p:nvSpPr>
        <p:spPr>
          <a:xfrm>
            <a:off x="411480" y="4166576"/>
            <a:ext cx="1828800" cy="384048"/>
          </a:xfrm>
          <a:prstGeom prst="rect">
            <a:avLst/>
          </a:prstGeom>
          <a:noFill/>
          <a:ln/>
        </p:spPr>
        <p:txBody>
          <a:bodyPr wrap="square" lIns="0" tIns="0" rIns="0" bIns="0" rtlCol="0" anchor="ctr"/>
          <a:lstStyle/>
          <a:p>
            <a:pPr marL="0" indent="0" algn="ctr">
              <a:buNone/>
            </a:pPr>
            <a:r>
              <a:rPr lang="en-US" sz="1100">
                <a:solidFill>
                  <a:srgbClr val="475569"/>
                </a:solidFill>
                <a:latin typeface="Calibri" pitchFamily="34" charset="0"/>
                <a:ea typeface="Calibri" pitchFamily="34" charset="-122"/>
                <a:cs typeface="Calibri" pitchFamily="34" charset="-120"/>
              </a:rPr>
              <a:t>Before Defense</a:t>
            </a:r>
            <a:endParaRPr lang="en-US" sz="1100"/>
          </a:p>
          <a:p>
            <a:pPr marL="0" indent="0" algn="ctr">
              <a:buNone/>
            </a:pPr>
            <a:r>
              <a:rPr lang="en-US" sz="1100">
                <a:solidFill>
                  <a:srgbClr val="475569"/>
                </a:solidFill>
                <a:latin typeface="Calibri" pitchFamily="34" charset="0"/>
                <a:ea typeface="Calibri" pitchFamily="34" charset="-122"/>
                <a:cs typeface="Calibri" pitchFamily="34" charset="-120"/>
              </a:rPr>
              <a:t>Clean Accuracy</a:t>
            </a:r>
            <a:endParaRPr lang="en-US" sz="1100"/>
          </a:p>
        </p:txBody>
      </p:sp>
      <p:sp>
        <p:nvSpPr>
          <p:cNvPr id="13" name="Shape 10"/>
          <p:cNvSpPr/>
          <p:nvPr/>
        </p:nvSpPr>
        <p:spPr>
          <a:xfrm>
            <a:off x="2496312" y="3486262"/>
            <a:ext cx="2011680" cy="10972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4" name="Text 11"/>
          <p:cNvSpPr/>
          <p:nvPr/>
        </p:nvSpPr>
        <p:spPr>
          <a:xfrm>
            <a:off x="2587752" y="3595990"/>
            <a:ext cx="1828800" cy="603504"/>
          </a:xfrm>
          <a:prstGeom prst="rect">
            <a:avLst/>
          </a:prstGeom>
          <a:noFill/>
          <a:ln/>
        </p:spPr>
        <p:txBody>
          <a:bodyPr wrap="square" lIns="0" tIns="0" rIns="0" bIns="0" rtlCol="0" anchor="ctr"/>
          <a:lstStyle/>
          <a:p>
            <a:pPr marL="0" indent="0" algn="ctr">
              <a:buNone/>
            </a:pPr>
            <a:r>
              <a:rPr lang="en-US" sz="3400" b="1">
                <a:solidFill>
                  <a:srgbClr val="0D9488"/>
                </a:solidFill>
                <a:latin typeface="Calibri" pitchFamily="34" charset="0"/>
                <a:ea typeface="Calibri" pitchFamily="34" charset="-122"/>
                <a:cs typeface="Calibri" pitchFamily="34" charset="-120"/>
              </a:rPr>
              <a:t>58.55%</a:t>
            </a:r>
            <a:endParaRPr lang="en-US" sz="3400"/>
          </a:p>
        </p:txBody>
      </p:sp>
      <p:sp>
        <p:nvSpPr>
          <p:cNvPr id="15" name="Text 12"/>
          <p:cNvSpPr/>
          <p:nvPr/>
        </p:nvSpPr>
        <p:spPr>
          <a:xfrm>
            <a:off x="2587752" y="4166576"/>
            <a:ext cx="1828800" cy="384048"/>
          </a:xfrm>
          <a:prstGeom prst="rect">
            <a:avLst/>
          </a:prstGeom>
          <a:noFill/>
          <a:ln/>
        </p:spPr>
        <p:txBody>
          <a:bodyPr wrap="square" lIns="0" tIns="0" rIns="0" bIns="0" rtlCol="0" anchor="ctr"/>
          <a:lstStyle/>
          <a:p>
            <a:pPr marL="0" indent="0" algn="ctr">
              <a:buNone/>
            </a:pPr>
            <a:r>
              <a:rPr lang="en-US" sz="1100">
                <a:solidFill>
                  <a:srgbClr val="475569"/>
                </a:solidFill>
                <a:latin typeface="Calibri" pitchFamily="34" charset="0"/>
                <a:ea typeface="Calibri" pitchFamily="34" charset="-122"/>
                <a:cs typeface="Calibri" pitchFamily="34" charset="-120"/>
              </a:rPr>
              <a:t>After Defense</a:t>
            </a:r>
            <a:endParaRPr lang="en-US" sz="1100"/>
          </a:p>
          <a:p>
            <a:pPr marL="0" indent="0" algn="ctr">
              <a:buNone/>
            </a:pPr>
            <a:r>
              <a:rPr lang="en-US" sz="1100">
                <a:solidFill>
                  <a:srgbClr val="475569"/>
                </a:solidFill>
                <a:latin typeface="Calibri" pitchFamily="34" charset="0"/>
                <a:ea typeface="Calibri" pitchFamily="34" charset="-122"/>
                <a:cs typeface="Calibri" pitchFamily="34" charset="-120"/>
              </a:rPr>
              <a:t>Clean Accuracy</a:t>
            </a:r>
            <a:endParaRPr lang="en-US" sz="1100"/>
          </a:p>
        </p:txBody>
      </p:sp>
      <p:sp>
        <p:nvSpPr>
          <p:cNvPr id="16" name="Shape 13"/>
          <p:cNvSpPr/>
          <p:nvPr/>
        </p:nvSpPr>
        <p:spPr>
          <a:xfrm>
            <a:off x="4672584" y="3486262"/>
            <a:ext cx="2011680" cy="10972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7" name="Text 14"/>
          <p:cNvSpPr/>
          <p:nvPr/>
        </p:nvSpPr>
        <p:spPr>
          <a:xfrm>
            <a:off x="4764024" y="3595990"/>
            <a:ext cx="1828800" cy="603504"/>
          </a:xfrm>
          <a:prstGeom prst="rect">
            <a:avLst/>
          </a:prstGeom>
          <a:noFill/>
          <a:ln/>
        </p:spPr>
        <p:txBody>
          <a:bodyPr wrap="square" lIns="0" tIns="0" rIns="0" bIns="0" rtlCol="0" anchor="ctr"/>
          <a:lstStyle/>
          <a:p>
            <a:pPr marL="0" indent="0" algn="ctr">
              <a:buNone/>
            </a:pPr>
            <a:r>
              <a:rPr lang="en-US" sz="3400" b="1">
                <a:solidFill>
                  <a:srgbClr val="EF4444"/>
                </a:solidFill>
                <a:latin typeface="Calibri" pitchFamily="34" charset="0"/>
                <a:ea typeface="Calibri" pitchFamily="34" charset="-122"/>
                <a:cs typeface="Calibri" pitchFamily="34" charset="-120"/>
              </a:rPr>
              <a:t>95.29%</a:t>
            </a:r>
            <a:endParaRPr lang="en-US" sz="3400"/>
          </a:p>
        </p:txBody>
      </p:sp>
      <p:sp>
        <p:nvSpPr>
          <p:cNvPr id="18" name="Text 15"/>
          <p:cNvSpPr/>
          <p:nvPr/>
        </p:nvSpPr>
        <p:spPr>
          <a:xfrm>
            <a:off x="4764024" y="4166576"/>
            <a:ext cx="1828800" cy="384048"/>
          </a:xfrm>
          <a:prstGeom prst="rect">
            <a:avLst/>
          </a:prstGeom>
          <a:noFill/>
          <a:ln/>
        </p:spPr>
        <p:txBody>
          <a:bodyPr wrap="square" lIns="0" tIns="0" rIns="0" bIns="0" rtlCol="0" anchor="ctr"/>
          <a:lstStyle/>
          <a:p>
            <a:pPr marL="0" indent="0" algn="ctr">
              <a:buNone/>
            </a:pPr>
            <a:r>
              <a:rPr lang="en-US" sz="1100">
                <a:solidFill>
                  <a:srgbClr val="475569"/>
                </a:solidFill>
                <a:latin typeface="Calibri" pitchFamily="34" charset="0"/>
                <a:ea typeface="Calibri" pitchFamily="34" charset="-122"/>
                <a:cs typeface="Calibri" pitchFamily="34" charset="-120"/>
              </a:rPr>
              <a:t>Before Defense</a:t>
            </a:r>
            <a:endParaRPr lang="en-US" sz="1100"/>
          </a:p>
          <a:p>
            <a:pPr marL="0" indent="0" algn="ctr">
              <a:buNone/>
            </a:pPr>
            <a:r>
              <a:rPr lang="en-US" sz="1100">
                <a:solidFill>
                  <a:srgbClr val="475569"/>
                </a:solidFill>
                <a:latin typeface="Calibri" pitchFamily="34" charset="0"/>
                <a:ea typeface="Calibri" pitchFamily="34" charset="-122"/>
                <a:cs typeface="Calibri" pitchFamily="34" charset="-120"/>
              </a:rPr>
              <a:t>ASR</a:t>
            </a:r>
            <a:endParaRPr lang="en-US" sz="1100"/>
          </a:p>
        </p:txBody>
      </p:sp>
      <p:sp>
        <p:nvSpPr>
          <p:cNvPr id="19" name="Shape 16"/>
          <p:cNvSpPr/>
          <p:nvPr/>
        </p:nvSpPr>
        <p:spPr>
          <a:xfrm>
            <a:off x="6848856" y="3486262"/>
            <a:ext cx="2011680" cy="10972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20" name="Text 17"/>
          <p:cNvSpPr/>
          <p:nvPr/>
        </p:nvSpPr>
        <p:spPr>
          <a:xfrm>
            <a:off x="6940296" y="3595990"/>
            <a:ext cx="1828800" cy="603504"/>
          </a:xfrm>
          <a:prstGeom prst="rect">
            <a:avLst/>
          </a:prstGeom>
          <a:noFill/>
          <a:ln/>
        </p:spPr>
        <p:txBody>
          <a:bodyPr wrap="square" lIns="0" tIns="0" rIns="0" bIns="0" rtlCol="0" anchor="ctr"/>
          <a:lstStyle/>
          <a:p>
            <a:pPr marL="0" indent="0" algn="ctr">
              <a:buNone/>
            </a:pPr>
            <a:r>
              <a:rPr lang="en-US" sz="3400" b="1">
                <a:solidFill>
                  <a:srgbClr val="22C55E"/>
                </a:solidFill>
                <a:latin typeface="Calibri" pitchFamily="34" charset="0"/>
                <a:ea typeface="Calibri" pitchFamily="34" charset="-122"/>
                <a:cs typeface="Calibri" pitchFamily="34" charset="-120"/>
              </a:rPr>
              <a:t>6.03%</a:t>
            </a:r>
            <a:endParaRPr lang="en-US" sz="3400"/>
          </a:p>
        </p:txBody>
      </p:sp>
      <p:sp>
        <p:nvSpPr>
          <p:cNvPr id="21" name="Text 18"/>
          <p:cNvSpPr/>
          <p:nvPr/>
        </p:nvSpPr>
        <p:spPr>
          <a:xfrm>
            <a:off x="6940296" y="4166576"/>
            <a:ext cx="1828800" cy="384048"/>
          </a:xfrm>
          <a:prstGeom prst="rect">
            <a:avLst/>
          </a:prstGeom>
          <a:noFill/>
          <a:ln/>
        </p:spPr>
        <p:txBody>
          <a:bodyPr wrap="square" lIns="0" tIns="0" rIns="0" bIns="0" rtlCol="0" anchor="ctr"/>
          <a:lstStyle/>
          <a:p>
            <a:pPr marL="0" indent="0" algn="ctr">
              <a:buNone/>
            </a:pPr>
            <a:r>
              <a:rPr lang="en-US" sz="1100">
                <a:solidFill>
                  <a:srgbClr val="475569"/>
                </a:solidFill>
                <a:latin typeface="Calibri" pitchFamily="34" charset="0"/>
                <a:ea typeface="Calibri" pitchFamily="34" charset="-122"/>
                <a:cs typeface="Calibri" pitchFamily="34" charset="-120"/>
              </a:rPr>
              <a:t>After Defense</a:t>
            </a:r>
            <a:endParaRPr lang="en-US" sz="1100"/>
          </a:p>
          <a:p>
            <a:pPr marL="0" indent="0" algn="ctr">
              <a:buNone/>
            </a:pPr>
            <a:r>
              <a:rPr lang="en-US" sz="1100">
                <a:solidFill>
                  <a:srgbClr val="475569"/>
                </a:solidFill>
                <a:latin typeface="Calibri" pitchFamily="34" charset="0"/>
                <a:ea typeface="Calibri" pitchFamily="34" charset="-122"/>
                <a:cs typeface="Calibri" pitchFamily="34" charset="-120"/>
              </a:rPr>
              <a:t>ASR</a:t>
            </a:r>
            <a:endParaRPr lang="en-US" sz="1100"/>
          </a:p>
        </p:txBody>
      </p:sp>
      <p:sp>
        <p:nvSpPr>
          <p:cNvPr id="22" name="Text 19"/>
          <p:cNvSpPr/>
          <p:nvPr/>
        </p:nvSpPr>
        <p:spPr>
          <a:xfrm>
            <a:off x="320040" y="4546966"/>
            <a:ext cx="8503920" cy="228600"/>
          </a:xfrm>
          <a:prstGeom prst="rect">
            <a:avLst/>
          </a:prstGeom>
          <a:noFill/>
          <a:ln/>
        </p:spPr>
        <p:txBody>
          <a:bodyPr wrap="square" lIns="0" tIns="0" rIns="0" bIns="0" rtlCol="0" anchor="ctr"/>
          <a:lstStyle/>
          <a:p>
            <a:pPr marL="0" indent="0" algn="ctr">
              <a:buNone/>
            </a:pPr>
            <a:r>
              <a:rPr lang="en-US" sz="950" i="1">
                <a:solidFill>
                  <a:srgbClr val="475569"/>
                </a:solidFill>
                <a:latin typeface="Calibri" pitchFamily="34" charset="0"/>
                <a:ea typeface="Calibri" pitchFamily="34" charset="-122"/>
                <a:cs typeface="Calibri" pitchFamily="34" charset="-120"/>
              </a:rPr>
              <a:t>Trigger masking reduced ASR by 89.26 pp at a cost of only 1.68 pp clean accuracy drop</a:t>
            </a:r>
            <a:endParaRPr lang="en-US" sz="950"/>
          </a:p>
        </p:txBody>
      </p:sp>
      <p:sp>
        <p:nvSpPr>
          <p:cNvPr id="24" name="TextBox 39">
            <a:extLst>
              <a:ext uri="{FF2B5EF4-FFF2-40B4-BE49-F238E27FC236}">
                <a16:creationId xmlns:a16="http://schemas.microsoft.com/office/drawing/2014/main" id="{E05BB98F-41BA-4D1D-0125-852685A3D103}"/>
              </a:ext>
            </a:extLst>
          </p:cNvPr>
          <p:cNvSpPr txBox="1"/>
          <p:nvPr/>
        </p:nvSpPr>
        <p:spPr>
          <a:xfrm>
            <a:off x="298735" y="4783209"/>
            <a:ext cx="8499521"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u="sng">
                <a:solidFill>
                  <a:srgbClr val="94A3B8"/>
                </a:solidFill>
                <a:latin typeface="Calibri"/>
                <a:ea typeface="Calibri"/>
                <a:cs typeface="Calibri"/>
              </a:rPr>
              <a:t>AI tools were</a:t>
            </a:r>
            <a:r>
              <a:rPr lang="en-US" sz="900" u="sng">
                <a:solidFill>
                  <a:schemeClr val="bg2">
                    <a:lumMod val="90000"/>
                  </a:schemeClr>
                </a:solidFill>
                <a:latin typeface="Calibri"/>
                <a:ea typeface="Calibri"/>
                <a:cs typeface="Calibri"/>
              </a:rPr>
              <a:t> </a:t>
            </a:r>
            <a:r>
              <a:rPr lang="en-US" sz="900" u="sng">
                <a:solidFill>
                  <a:srgbClr val="94A3B8"/>
                </a:solidFill>
                <a:latin typeface="Calibri"/>
                <a:ea typeface="Calibri"/>
                <a:cs typeface="Calibri"/>
              </a:rPr>
              <a:t>used for coding assistance, debugging support, workflow guidance, and slide structuring. All experimental design, interpretation, analysis, conclusions, and reflections were independently reviewed, validated and written by the team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4  ·  CONCEPTUAL UNDERSTANDING</a:t>
            </a:r>
            <a:endParaRPr lang="en-US" sz="900"/>
          </a:p>
        </p:txBody>
      </p:sp>
      <p:sp>
        <p:nvSpPr>
          <p:cNvPr id="4" name="Shape 2"/>
          <p:cNvSpPr/>
          <p:nvPr/>
        </p:nvSpPr>
        <p:spPr>
          <a:xfrm>
            <a:off x="365760" y="384048"/>
            <a:ext cx="1371600" cy="237744"/>
          </a:xfrm>
          <a:prstGeom prst="rect">
            <a:avLst/>
          </a:prstGeom>
          <a:solidFill>
            <a:srgbClr val="7C3AED"/>
          </a:solidFill>
          <a:ln w="12700">
            <a:solidFill>
              <a:srgbClr val="7C3AED"/>
            </a:solidFill>
            <a:prstDash val="solid"/>
          </a:ln>
        </p:spPr>
        <p:txBody>
          <a:bodyPr/>
          <a:lstStyle/>
          <a:p>
            <a:endParaRPr lang="en-SG"/>
          </a:p>
        </p:txBody>
      </p:sp>
      <p:sp>
        <p:nvSpPr>
          <p:cNvPr id="5" name="Text 3"/>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Concepts Pt 1</a:t>
            </a:r>
            <a:endParaRPr lang="en-US" sz="900"/>
          </a:p>
        </p:txBody>
      </p:sp>
      <p:sp>
        <p:nvSpPr>
          <p:cNvPr id="6" name="Text 4"/>
          <p:cNvSpPr/>
          <p:nvPr/>
        </p:nvSpPr>
        <p:spPr>
          <a:xfrm>
            <a:off x="365760" y="694944"/>
            <a:ext cx="8412480" cy="502920"/>
          </a:xfrm>
          <a:prstGeom prst="rect">
            <a:avLst/>
          </a:prstGeom>
          <a:noFill/>
          <a:ln/>
        </p:spPr>
        <p:txBody>
          <a:bodyPr wrap="square" lIns="0" tIns="0" rIns="0" bIns="0" rtlCol="0" anchor="ctr"/>
          <a:lstStyle/>
          <a:p>
            <a:pPr marL="0" indent="0">
              <a:buNone/>
            </a:pPr>
            <a:r>
              <a:rPr lang="en-US" sz="2600" b="1">
                <a:solidFill>
                  <a:srgbClr val="1E293B"/>
                </a:solidFill>
                <a:latin typeface="Calibri" pitchFamily="34" charset="0"/>
                <a:ea typeface="Calibri" pitchFamily="34" charset="-122"/>
                <a:cs typeface="Calibri" pitchFamily="34" charset="-120"/>
              </a:rPr>
              <a:t>Dataset Difficulty &amp; The Limits of Clean Accuracy</a:t>
            </a:r>
            <a:endParaRPr lang="en-US" sz="2600"/>
          </a:p>
        </p:txBody>
      </p:sp>
      <p:sp>
        <p:nvSpPr>
          <p:cNvPr id="7" name="Shape 5"/>
          <p:cNvSpPr/>
          <p:nvPr/>
        </p:nvSpPr>
        <p:spPr>
          <a:xfrm>
            <a:off x="320040" y="1325880"/>
            <a:ext cx="8503920" cy="10972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8" name="Shape 6"/>
          <p:cNvSpPr/>
          <p:nvPr/>
        </p:nvSpPr>
        <p:spPr>
          <a:xfrm>
            <a:off x="320040" y="1325880"/>
            <a:ext cx="292608" cy="1097280"/>
          </a:xfrm>
          <a:prstGeom prst="rect">
            <a:avLst/>
          </a:prstGeom>
          <a:solidFill>
            <a:srgbClr val="7C3AED"/>
          </a:solidFill>
          <a:ln w="12700">
            <a:solidFill>
              <a:srgbClr val="7C3AED"/>
            </a:solidFill>
            <a:prstDash val="solid"/>
          </a:ln>
        </p:spPr>
        <p:txBody>
          <a:bodyPr/>
          <a:lstStyle/>
          <a:p>
            <a:endParaRPr lang="en-SG"/>
          </a:p>
        </p:txBody>
      </p:sp>
      <p:sp>
        <p:nvSpPr>
          <p:cNvPr id="9" name="Text 7"/>
          <p:cNvSpPr/>
          <p:nvPr/>
        </p:nvSpPr>
        <p:spPr>
          <a:xfrm>
            <a:off x="320040" y="1325880"/>
            <a:ext cx="292608" cy="347472"/>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Q</a:t>
            </a:r>
            <a:endParaRPr lang="en-US" sz="1400"/>
          </a:p>
        </p:txBody>
      </p:sp>
      <p:sp>
        <p:nvSpPr>
          <p:cNvPr id="10" name="Text 8"/>
          <p:cNvSpPr/>
          <p:nvPr/>
        </p:nvSpPr>
        <p:spPr>
          <a:xfrm>
            <a:off x="320040" y="1673352"/>
            <a:ext cx="292608" cy="749808"/>
          </a:xfrm>
          <a:prstGeom prst="rect">
            <a:avLst/>
          </a:prstGeom>
          <a:noFill/>
          <a:ln/>
        </p:spPr>
        <p:txBody>
          <a:bodyPr wrap="square" lIns="0" tIns="0" rIns="0" bIns="0" rtlCol="0" anchor="ctr"/>
          <a:lstStyle/>
          <a:p>
            <a:pPr marL="0" indent="0" algn="ctr">
              <a:buNone/>
            </a:pPr>
            <a:r>
              <a:rPr lang="en-US" sz="1400" b="1">
                <a:solidFill>
                  <a:srgbClr val="F59E0B"/>
                </a:solidFill>
                <a:latin typeface="Calibri" pitchFamily="34" charset="0"/>
                <a:ea typeface="Calibri" pitchFamily="34" charset="-122"/>
                <a:cs typeface="Calibri" pitchFamily="34" charset="-120"/>
              </a:rPr>
              <a:t>A</a:t>
            </a:r>
            <a:endParaRPr lang="en-US" sz="1400"/>
          </a:p>
        </p:txBody>
      </p:sp>
      <p:sp>
        <p:nvSpPr>
          <p:cNvPr id="11" name="Text 9"/>
          <p:cNvSpPr/>
          <p:nvPr/>
        </p:nvSpPr>
        <p:spPr>
          <a:xfrm>
            <a:off x="731520" y="1380744"/>
            <a:ext cx="7955280" cy="274320"/>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Why is CIFAR-10 harder than MNIST?</a:t>
            </a:r>
            <a:endParaRPr lang="en-US" sz="1100"/>
          </a:p>
        </p:txBody>
      </p:sp>
      <p:sp>
        <p:nvSpPr>
          <p:cNvPr id="12" name="Text 10"/>
          <p:cNvSpPr/>
          <p:nvPr/>
        </p:nvSpPr>
        <p:spPr>
          <a:xfrm>
            <a:off x="731520" y="1691640"/>
            <a:ext cx="7955280" cy="676656"/>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CIFAR-10 uses RGB images (3 channels vs 1), contains real-world objects with varied pose, lighting &amp; background clutter, and has high inter-class visual similarity (e.g., cat vs dog). MNIST digits are centered, grayscale, and visually distinct with a plain background.</a:t>
            </a:r>
            <a:endParaRPr lang="en-US" sz="1000"/>
          </a:p>
        </p:txBody>
      </p:sp>
      <p:sp>
        <p:nvSpPr>
          <p:cNvPr id="13" name="Shape 11"/>
          <p:cNvSpPr/>
          <p:nvPr/>
        </p:nvSpPr>
        <p:spPr>
          <a:xfrm>
            <a:off x="320040" y="2514600"/>
            <a:ext cx="8503920" cy="10972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4" name="Shape 12"/>
          <p:cNvSpPr/>
          <p:nvPr/>
        </p:nvSpPr>
        <p:spPr>
          <a:xfrm>
            <a:off x="320040" y="2514600"/>
            <a:ext cx="292608" cy="1097280"/>
          </a:xfrm>
          <a:prstGeom prst="rect">
            <a:avLst/>
          </a:prstGeom>
          <a:solidFill>
            <a:srgbClr val="7C3AED"/>
          </a:solidFill>
          <a:ln w="12700">
            <a:solidFill>
              <a:srgbClr val="7C3AED"/>
            </a:solidFill>
            <a:prstDash val="solid"/>
          </a:ln>
        </p:spPr>
        <p:txBody>
          <a:bodyPr/>
          <a:lstStyle/>
          <a:p>
            <a:endParaRPr lang="en-SG"/>
          </a:p>
        </p:txBody>
      </p:sp>
      <p:sp>
        <p:nvSpPr>
          <p:cNvPr id="15" name="Text 13"/>
          <p:cNvSpPr/>
          <p:nvPr/>
        </p:nvSpPr>
        <p:spPr>
          <a:xfrm>
            <a:off x="320040" y="2514600"/>
            <a:ext cx="292608" cy="347472"/>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Q</a:t>
            </a:r>
            <a:endParaRPr lang="en-US" sz="1400"/>
          </a:p>
        </p:txBody>
      </p:sp>
      <p:sp>
        <p:nvSpPr>
          <p:cNvPr id="16" name="Text 14"/>
          <p:cNvSpPr/>
          <p:nvPr/>
        </p:nvSpPr>
        <p:spPr>
          <a:xfrm>
            <a:off x="320040" y="2862072"/>
            <a:ext cx="292608" cy="749808"/>
          </a:xfrm>
          <a:prstGeom prst="rect">
            <a:avLst/>
          </a:prstGeom>
          <a:noFill/>
          <a:ln/>
        </p:spPr>
        <p:txBody>
          <a:bodyPr wrap="square" lIns="0" tIns="0" rIns="0" bIns="0" rtlCol="0" anchor="ctr"/>
          <a:lstStyle/>
          <a:p>
            <a:pPr marL="0" indent="0" algn="ctr">
              <a:buNone/>
            </a:pPr>
            <a:r>
              <a:rPr lang="en-US" sz="1400" b="1">
                <a:solidFill>
                  <a:srgbClr val="F59E0B"/>
                </a:solidFill>
                <a:latin typeface="Calibri" pitchFamily="34" charset="0"/>
                <a:ea typeface="Calibri" pitchFamily="34" charset="-122"/>
                <a:cs typeface="Calibri" pitchFamily="34" charset="-120"/>
              </a:rPr>
              <a:t>A</a:t>
            </a:r>
            <a:endParaRPr lang="en-US" sz="1400"/>
          </a:p>
        </p:txBody>
      </p:sp>
      <p:sp>
        <p:nvSpPr>
          <p:cNvPr id="17" name="Text 15"/>
          <p:cNvSpPr/>
          <p:nvPr/>
        </p:nvSpPr>
        <p:spPr>
          <a:xfrm>
            <a:off x="731520" y="2569464"/>
            <a:ext cx="7955280" cy="274320"/>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Is clean accuracy enough to evaluate a model?</a:t>
            </a:r>
            <a:endParaRPr lang="en-US" sz="1100"/>
          </a:p>
        </p:txBody>
      </p:sp>
      <p:sp>
        <p:nvSpPr>
          <p:cNvPr id="18" name="Text 16"/>
          <p:cNvSpPr/>
          <p:nvPr/>
        </p:nvSpPr>
        <p:spPr>
          <a:xfrm>
            <a:off x="731520" y="2880360"/>
            <a:ext cx="7955280" cy="676656"/>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No. Clean accuracy only measures performance on unmodified inputs. A backdoored model scores high on clean data while secretly misclassifying any triggered input. Standard accuracy metrics are blind to this vulnerability — you need Attack Success Rate (ASR) as well.</a:t>
            </a:r>
            <a:endParaRPr lang="en-US" sz="1000"/>
          </a:p>
        </p:txBody>
      </p:sp>
      <p:sp>
        <p:nvSpPr>
          <p:cNvPr id="19" name="Shape 17"/>
          <p:cNvSpPr/>
          <p:nvPr/>
        </p:nvSpPr>
        <p:spPr>
          <a:xfrm>
            <a:off x="320040" y="3703320"/>
            <a:ext cx="8503920" cy="10972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20" name="Shape 18"/>
          <p:cNvSpPr/>
          <p:nvPr/>
        </p:nvSpPr>
        <p:spPr>
          <a:xfrm>
            <a:off x="320040" y="3703320"/>
            <a:ext cx="292608" cy="1097280"/>
          </a:xfrm>
          <a:prstGeom prst="rect">
            <a:avLst/>
          </a:prstGeom>
          <a:solidFill>
            <a:srgbClr val="7C3AED"/>
          </a:solidFill>
          <a:ln w="12700">
            <a:solidFill>
              <a:srgbClr val="7C3AED"/>
            </a:solidFill>
            <a:prstDash val="solid"/>
          </a:ln>
        </p:spPr>
        <p:txBody>
          <a:bodyPr/>
          <a:lstStyle/>
          <a:p>
            <a:endParaRPr lang="en-SG"/>
          </a:p>
        </p:txBody>
      </p:sp>
      <p:sp>
        <p:nvSpPr>
          <p:cNvPr id="21" name="Text 19"/>
          <p:cNvSpPr/>
          <p:nvPr/>
        </p:nvSpPr>
        <p:spPr>
          <a:xfrm>
            <a:off x="320040" y="3703320"/>
            <a:ext cx="292608" cy="347472"/>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Q</a:t>
            </a:r>
            <a:endParaRPr lang="en-US" sz="1400"/>
          </a:p>
        </p:txBody>
      </p:sp>
      <p:sp>
        <p:nvSpPr>
          <p:cNvPr id="22" name="Text 20"/>
          <p:cNvSpPr/>
          <p:nvPr/>
        </p:nvSpPr>
        <p:spPr>
          <a:xfrm>
            <a:off x="320040" y="4050792"/>
            <a:ext cx="292608" cy="749808"/>
          </a:xfrm>
          <a:prstGeom prst="rect">
            <a:avLst/>
          </a:prstGeom>
          <a:noFill/>
          <a:ln/>
        </p:spPr>
        <p:txBody>
          <a:bodyPr wrap="square" lIns="0" tIns="0" rIns="0" bIns="0" rtlCol="0" anchor="ctr"/>
          <a:lstStyle/>
          <a:p>
            <a:pPr marL="0" indent="0" algn="ctr">
              <a:buNone/>
            </a:pPr>
            <a:r>
              <a:rPr lang="en-US" sz="1400" b="1">
                <a:solidFill>
                  <a:srgbClr val="F59E0B"/>
                </a:solidFill>
                <a:latin typeface="Calibri" pitchFamily="34" charset="0"/>
                <a:ea typeface="Calibri" pitchFamily="34" charset="-122"/>
                <a:cs typeface="Calibri" pitchFamily="34" charset="-120"/>
              </a:rPr>
              <a:t>A</a:t>
            </a:r>
            <a:endParaRPr lang="en-US" sz="1400"/>
          </a:p>
        </p:txBody>
      </p:sp>
      <p:sp>
        <p:nvSpPr>
          <p:cNvPr id="23" name="Text 21"/>
          <p:cNvSpPr/>
          <p:nvPr/>
        </p:nvSpPr>
        <p:spPr>
          <a:xfrm>
            <a:off x="731520" y="3758184"/>
            <a:ext cx="7955280" cy="274320"/>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Can a model have high accuracy and still be insecure?</a:t>
            </a:r>
            <a:endParaRPr lang="en-US" sz="1100"/>
          </a:p>
        </p:txBody>
      </p:sp>
      <p:sp>
        <p:nvSpPr>
          <p:cNvPr id="24" name="Text 22"/>
          <p:cNvSpPr/>
          <p:nvPr/>
        </p:nvSpPr>
        <p:spPr>
          <a:xfrm>
            <a:off x="731520" y="4069080"/>
            <a:ext cx="7955280" cy="676656"/>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Yes. The backdoor is dormant on clean inputs, so accuracy looks normal. Only triggered inputs expose the hidden vulnerability. This makes backdoor attacks particularly dangerous in safety-critical deployments (e.g., autonomous vehicles, medical imaging).</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4  ·  CONCEPTUAL UNDERSTANDING</a:t>
            </a:r>
            <a:endParaRPr lang="en-US" sz="900"/>
          </a:p>
        </p:txBody>
      </p:sp>
      <p:sp>
        <p:nvSpPr>
          <p:cNvPr id="4" name="Shape 2"/>
          <p:cNvSpPr/>
          <p:nvPr/>
        </p:nvSpPr>
        <p:spPr>
          <a:xfrm>
            <a:off x="365760" y="384048"/>
            <a:ext cx="1371600" cy="237744"/>
          </a:xfrm>
          <a:prstGeom prst="rect">
            <a:avLst/>
          </a:prstGeom>
          <a:solidFill>
            <a:srgbClr val="7C3AED"/>
          </a:solidFill>
          <a:ln w="12700">
            <a:solidFill>
              <a:srgbClr val="7C3AED"/>
            </a:solidFill>
            <a:prstDash val="solid"/>
          </a:ln>
        </p:spPr>
        <p:txBody>
          <a:bodyPr/>
          <a:lstStyle/>
          <a:p>
            <a:endParaRPr lang="en-SG"/>
          </a:p>
        </p:txBody>
      </p:sp>
      <p:sp>
        <p:nvSpPr>
          <p:cNvPr id="5" name="Text 3"/>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Concepts Pt 2</a:t>
            </a:r>
            <a:endParaRPr lang="en-US" sz="900"/>
          </a:p>
        </p:txBody>
      </p:sp>
      <p:sp>
        <p:nvSpPr>
          <p:cNvPr id="6" name="Text 4"/>
          <p:cNvSpPr/>
          <p:nvPr/>
        </p:nvSpPr>
        <p:spPr>
          <a:xfrm>
            <a:off x="365760" y="694944"/>
            <a:ext cx="8412480" cy="502920"/>
          </a:xfrm>
          <a:prstGeom prst="rect">
            <a:avLst/>
          </a:prstGeom>
          <a:noFill/>
          <a:ln/>
        </p:spPr>
        <p:txBody>
          <a:bodyPr wrap="square" lIns="0" tIns="0" rIns="0" bIns="0" rtlCol="0" anchor="ctr"/>
          <a:lstStyle/>
          <a:p>
            <a:pPr marL="0" indent="0">
              <a:buNone/>
            </a:pPr>
            <a:r>
              <a:rPr lang="en-US" sz="2600" b="1">
                <a:solidFill>
                  <a:srgbClr val="1E293B"/>
                </a:solidFill>
                <a:latin typeface="Calibri" pitchFamily="34" charset="0"/>
                <a:ea typeface="Calibri" pitchFamily="34" charset="-122"/>
                <a:cs typeface="Calibri" pitchFamily="34" charset="-120"/>
              </a:rPr>
              <a:t>Attack Mechanism, ASR, and Defense Trade-offs</a:t>
            </a:r>
            <a:endParaRPr lang="en-US" sz="2600"/>
          </a:p>
        </p:txBody>
      </p:sp>
      <p:sp>
        <p:nvSpPr>
          <p:cNvPr id="7" name="Shape 5"/>
          <p:cNvSpPr/>
          <p:nvPr/>
        </p:nvSpPr>
        <p:spPr>
          <a:xfrm>
            <a:off x="320040" y="1325880"/>
            <a:ext cx="8503920" cy="10972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8" name="Shape 6"/>
          <p:cNvSpPr/>
          <p:nvPr/>
        </p:nvSpPr>
        <p:spPr>
          <a:xfrm>
            <a:off x="320040" y="1325880"/>
            <a:ext cx="292608" cy="1097280"/>
          </a:xfrm>
          <a:prstGeom prst="rect">
            <a:avLst/>
          </a:prstGeom>
          <a:solidFill>
            <a:srgbClr val="7C3AED"/>
          </a:solidFill>
          <a:ln w="12700">
            <a:solidFill>
              <a:srgbClr val="7C3AED"/>
            </a:solidFill>
            <a:prstDash val="solid"/>
          </a:ln>
        </p:spPr>
        <p:txBody>
          <a:bodyPr/>
          <a:lstStyle/>
          <a:p>
            <a:endParaRPr lang="en-SG"/>
          </a:p>
        </p:txBody>
      </p:sp>
      <p:sp>
        <p:nvSpPr>
          <p:cNvPr id="9" name="Text 7"/>
          <p:cNvSpPr/>
          <p:nvPr/>
        </p:nvSpPr>
        <p:spPr>
          <a:xfrm>
            <a:off x="320040" y="1325880"/>
            <a:ext cx="292608" cy="347472"/>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Q</a:t>
            </a:r>
            <a:endParaRPr lang="en-US" sz="1400"/>
          </a:p>
        </p:txBody>
      </p:sp>
      <p:sp>
        <p:nvSpPr>
          <p:cNvPr id="10" name="Text 8"/>
          <p:cNvSpPr/>
          <p:nvPr/>
        </p:nvSpPr>
        <p:spPr>
          <a:xfrm>
            <a:off x="320040" y="1673352"/>
            <a:ext cx="292608" cy="749808"/>
          </a:xfrm>
          <a:prstGeom prst="rect">
            <a:avLst/>
          </a:prstGeom>
          <a:noFill/>
          <a:ln/>
        </p:spPr>
        <p:txBody>
          <a:bodyPr wrap="square" lIns="0" tIns="0" rIns="0" bIns="0" rtlCol="0" anchor="ctr"/>
          <a:lstStyle/>
          <a:p>
            <a:pPr marL="0" indent="0" algn="ctr">
              <a:buNone/>
            </a:pPr>
            <a:r>
              <a:rPr lang="en-US" sz="1400" b="1">
                <a:solidFill>
                  <a:srgbClr val="F59E0B"/>
                </a:solidFill>
                <a:latin typeface="Calibri" pitchFamily="34" charset="0"/>
                <a:ea typeface="Calibri" pitchFamily="34" charset="-122"/>
                <a:cs typeface="Calibri" pitchFamily="34" charset="-120"/>
              </a:rPr>
              <a:t>A</a:t>
            </a:r>
            <a:endParaRPr lang="en-US" sz="1400"/>
          </a:p>
        </p:txBody>
      </p:sp>
      <p:sp>
        <p:nvSpPr>
          <p:cNvPr id="11" name="Text 9"/>
          <p:cNvSpPr/>
          <p:nvPr/>
        </p:nvSpPr>
        <p:spPr>
          <a:xfrm>
            <a:off x="731520" y="1380744"/>
            <a:ext cx="7955280" cy="274320"/>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Why is ASR different from accuracy?</a:t>
            </a:r>
            <a:endParaRPr lang="en-US" sz="1100"/>
          </a:p>
        </p:txBody>
      </p:sp>
      <p:sp>
        <p:nvSpPr>
          <p:cNvPr id="12" name="Text 10"/>
          <p:cNvSpPr/>
          <p:nvPr/>
        </p:nvSpPr>
        <p:spPr>
          <a:xfrm>
            <a:off x="731520" y="1691640"/>
            <a:ext cx="7955280" cy="676656"/>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Accuracy measures correct true-label predictions on clean data. ASR measures the fraction of triggered inputs forced to the attacker's target class. These are orthogonal — a model can score high on both simultaneously, which is exactly what makes backdoors dangerous.</a:t>
            </a:r>
            <a:endParaRPr lang="en-US" sz="1000"/>
          </a:p>
        </p:txBody>
      </p:sp>
      <p:sp>
        <p:nvSpPr>
          <p:cNvPr id="13" name="Shape 11"/>
          <p:cNvSpPr/>
          <p:nvPr/>
        </p:nvSpPr>
        <p:spPr>
          <a:xfrm>
            <a:off x="320040" y="2514600"/>
            <a:ext cx="8503920" cy="10972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14" name="Shape 12"/>
          <p:cNvSpPr/>
          <p:nvPr/>
        </p:nvSpPr>
        <p:spPr>
          <a:xfrm>
            <a:off x="320040" y="2514600"/>
            <a:ext cx="292608" cy="1097280"/>
          </a:xfrm>
          <a:prstGeom prst="rect">
            <a:avLst/>
          </a:prstGeom>
          <a:solidFill>
            <a:srgbClr val="7C3AED"/>
          </a:solidFill>
          <a:ln w="12700">
            <a:solidFill>
              <a:srgbClr val="7C3AED"/>
            </a:solidFill>
            <a:prstDash val="solid"/>
          </a:ln>
        </p:spPr>
        <p:txBody>
          <a:bodyPr/>
          <a:lstStyle/>
          <a:p>
            <a:endParaRPr lang="en-SG"/>
          </a:p>
        </p:txBody>
      </p:sp>
      <p:sp>
        <p:nvSpPr>
          <p:cNvPr id="15" name="Text 13"/>
          <p:cNvSpPr/>
          <p:nvPr/>
        </p:nvSpPr>
        <p:spPr>
          <a:xfrm>
            <a:off x="320040" y="2514600"/>
            <a:ext cx="292608" cy="347472"/>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Q</a:t>
            </a:r>
            <a:endParaRPr lang="en-US" sz="1400"/>
          </a:p>
        </p:txBody>
      </p:sp>
      <p:sp>
        <p:nvSpPr>
          <p:cNvPr id="16" name="Text 14"/>
          <p:cNvSpPr/>
          <p:nvPr/>
        </p:nvSpPr>
        <p:spPr>
          <a:xfrm>
            <a:off x="320040" y="2862072"/>
            <a:ext cx="292608" cy="749808"/>
          </a:xfrm>
          <a:prstGeom prst="rect">
            <a:avLst/>
          </a:prstGeom>
          <a:noFill/>
          <a:ln/>
        </p:spPr>
        <p:txBody>
          <a:bodyPr wrap="square" lIns="0" tIns="0" rIns="0" bIns="0" rtlCol="0" anchor="ctr"/>
          <a:lstStyle/>
          <a:p>
            <a:pPr marL="0" indent="0" algn="ctr">
              <a:buNone/>
            </a:pPr>
            <a:r>
              <a:rPr lang="en-US" sz="1400" b="1">
                <a:solidFill>
                  <a:srgbClr val="F59E0B"/>
                </a:solidFill>
                <a:latin typeface="Calibri" pitchFamily="34" charset="0"/>
                <a:ea typeface="Calibri" pitchFamily="34" charset="-122"/>
                <a:cs typeface="Calibri" pitchFamily="34" charset="-120"/>
              </a:rPr>
              <a:t>A</a:t>
            </a:r>
            <a:endParaRPr lang="en-US" sz="1400"/>
          </a:p>
        </p:txBody>
      </p:sp>
      <p:sp>
        <p:nvSpPr>
          <p:cNvPr id="17" name="Text 15"/>
          <p:cNvSpPr/>
          <p:nvPr/>
        </p:nvSpPr>
        <p:spPr>
          <a:xfrm>
            <a:off x="731520" y="2569464"/>
            <a:ext cx="7955280" cy="274320"/>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What does the human see vs what the model sees?</a:t>
            </a:r>
            <a:endParaRPr lang="en-US" sz="1100"/>
          </a:p>
        </p:txBody>
      </p:sp>
      <p:sp>
        <p:nvSpPr>
          <p:cNvPr id="18" name="Text 16"/>
          <p:cNvSpPr/>
          <p:nvPr/>
        </p:nvSpPr>
        <p:spPr>
          <a:xfrm>
            <a:off x="731520" y="2880360"/>
            <a:ext cx="7955280" cy="676656"/>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A human sees a tiny white speck in the corner — barely noticeable and easily dismissed as an artefact. The poisoned model has learned a dominant trigger feature that overrides all other class evidence, forcing a misclassification. This perceptual gap is the core danger of backdoor attacks.</a:t>
            </a:r>
            <a:endParaRPr lang="en-US" sz="1000"/>
          </a:p>
        </p:txBody>
      </p:sp>
      <p:sp>
        <p:nvSpPr>
          <p:cNvPr id="19" name="Shape 17"/>
          <p:cNvSpPr/>
          <p:nvPr/>
        </p:nvSpPr>
        <p:spPr>
          <a:xfrm>
            <a:off x="320040" y="3703320"/>
            <a:ext cx="8503920" cy="109728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en-SG"/>
          </a:p>
        </p:txBody>
      </p:sp>
      <p:sp>
        <p:nvSpPr>
          <p:cNvPr id="20" name="Shape 18"/>
          <p:cNvSpPr/>
          <p:nvPr/>
        </p:nvSpPr>
        <p:spPr>
          <a:xfrm>
            <a:off x="320040" y="3703320"/>
            <a:ext cx="292608" cy="1097280"/>
          </a:xfrm>
          <a:prstGeom prst="rect">
            <a:avLst/>
          </a:prstGeom>
          <a:solidFill>
            <a:srgbClr val="7C3AED"/>
          </a:solidFill>
          <a:ln w="12700">
            <a:solidFill>
              <a:srgbClr val="7C3AED"/>
            </a:solidFill>
            <a:prstDash val="solid"/>
          </a:ln>
        </p:spPr>
        <p:txBody>
          <a:bodyPr/>
          <a:lstStyle/>
          <a:p>
            <a:endParaRPr lang="en-SG"/>
          </a:p>
        </p:txBody>
      </p:sp>
      <p:sp>
        <p:nvSpPr>
          <p:cNvPr id="21" name="Text 19"/>
          <p:cNvSpPr/>
          <p:nvPr/>
        </p:nvSpPr>
        <p:spPr>
          <a:xfrm>
            <a:off x="320040" y="3703320"/>
            <a:ext cx="292608" cy="347472"/>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Q</a:t>
            </a:r>
            <a:endParaRPr lang="en-US" sz="1400"/>
          </a:p>
        </p:txBody>
      </p:sp>
      <p:sp>
        <p:nvSpPr>
          <p:cNvPr id="22" name="Text 20"/>
          <p:cNvSpPr/>
          <p:nvPr/>
        </p:nvSpPr>
        <p:spPr>
          <a:xfrm>
            <a:off x="320040" y="4050792"/>
            <a:ext cx="292608" cy="749808"/>
          </a:xfrm>
          <a:prstGeom prst="rect">
            <a:avLst/>
          </a:prstGeom>
          <a:noFill/>
          <a:ln/>
        </p:spPr>
        <p:txBody>
          <a:bodyPr wrap="square" lIns="0" tIns="0" rIns="0" bIns="0" rtlCol="0" anchor="ctr"/>
          <a:lstStyle/>
          <a:p>
            <a:pPr marL="0" indent="0" algn="ctr">
              <a:buNone/>
            </a:pPr>
            <a:r>
              <a:rPr lang="en-US" sz="1400" b="1">
                <a:solidFill>
                  <a:srgbClr val="F59E0B"/>
                </a:solidFill>
                <a:latin typeface="Calibri" pitchFamily="34" charset="0"/>
                <a:ea typeface="Calibri" pitchFamily="34" charset="-122"/>
                <a:cs typeface="Calibri" pitchFamily="34" charset="-120"/>
              </a:rPr>
              <a:t>A</a:t>
            </a:r>
            <a:endParaRPr lang="en-US" sz="1400"/>
          </a:p>
        </p:txBody>
      </p:sp>
      <p:sp>
        <p:nvSpPr>
          <p:cNvPr id="23" name="Text 21"/>
          <p:cNvSpPr/>
          <p:nvPr/>
        </p:nvSpPr>
        <p:spPr>
          <a:xfrm>
            <a:off x="731520" y="3758184"/>
            <a:ext cx="7955280" cy="274320"/>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Can any defense be perfect?</a:t>
            </a:r>
            <a:endParaRPr lang="en-US" sz="1100"/>
          </a:p>
        </p:txBody>
      </p:sp>
      <p:sp>
        <p:nvSpPr>
          <p:cNvPr id="24" name="Text 22"/>
          <p:cNvSpPr/>
          <p:nvPr/>
        </p:nvSpPr>
        <p:spPr>
          <a:xfrm>
            <a:off x="731520" y="4069080"/>
            <a:ext cx="7955280" cy="676656"/>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No. Data Auditing is simple but misses invisible triggers. Trigger Masking reduces ASR but permanently destroys image content, hurting clean accuracy. Advanced attacks (frequency-domain triggers) evade both. Robust AI security requires layered, complementary defenses.</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3F033-E302-FFF8-E157-3D6DA13F8F9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310BD19-44D8-4A24-4853-4227103A6EED}"/>
              </a:ext>
            </a:extLst>
          </p:cNvPr>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a:extLst>
              <a:ext uri="{FF2B5EF4-FFF2-40B4-BE49-F238E27FC236}">
                <a16:creationId xmlns:a16="http://schemas.microsoft.com/office/drawing/2014/main" id="{A5FA7E1A-A4CD-D224-D8DF-17C1D9F196BE}"/>
              </a:ext>
            </a:extLst>
          </p:cNvPr>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5  ·  REFLECTION &amp; CRITICAL THINKING</a:t>
            </a:r>
            <a:endParaRPr lang="en-US" sz="900"/>
          </a:p>
        </p:txBody>
      </p:sp>
      <p:sp>
        <p:nvSpPr>
          <p:cNvPr id="5" name="Text 3">
            <a:extLst>
              <a:ext uri="{FF2B5EF4-FFF2-40B4-BE49-F238E27FC236}">
                <a16:creationId xmlns:a16="http://schemas.microsoft.com/office/drawing/2014/main" id="{BC1217FF-1237-5DC5-4DC0-EA81B1F5E593}"/>
              </a:ext>
            </a:extLst>
          </p:cNvPr>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Reflection</a:t>
            </a:r>
            <a:endParaRPr lang="en-US" sz="900"/>
          </a:p>
        </p:txBody>
      </p:sp>
      <p:sp>
        <p:nvSpPr>
          <p:cNvPr id="32" name="Text 30">
            <a:extLst>
              <a:ext uri="{FF2B5EF4-FFF2-40B4-BE49-F238E27FC236}">
                <a16:creationId xmlns:a16="http://schemas.microsoft.com/office/drawing/2014/main" id="{7F7FC9B5-C90C-5E52-6AF8-3D64FBEBECBD}"/>
              </a:ext>
            </a:extLst>
          </p:cNvPr>
          <p:cNvSpPr/>
          <p:nvPr/>
        </p:nvSpPr>
        <p:spPr>
          <a:xfrm>
            <a:off x="411480" y="4828032"/>
            <a:ext cx="8321040" cy="18288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Key Takeaway: Trustworthy AI requires defense-in-depth — accuracy alone is not a safety guarantee.</a:t>
            </a:r>
            <a:endParaRPr lang="en-US" sz="900"/>
          </a:p>
        </p:txBody>
      </p:sp>
      <p:graphicFrame>
        <p:nvGraphicFramePr>
          <p:cNvPr id="33" name="Table 32">
            <a:extLst>
              <a:ext uri="{FF2B5EF4-FFF2-40B4-BE49-F238E27FC236}">
                <a16:creationId xmlns:a16="http://schemas.microsoft.com/office/drawing/2014/main" id="{4245A7A6-5CDF-E1D6-74D1-69402A2A90F7}"/>
              </a:ext>
            </a:extLst>
          </p:cNvPr>
          <p:cNvGraphicFramePr>
            <a:graphicFrameLocks noGrp="1"/>
          </p:cNvGraphicFramePr>
          <p:nvPr>
            <p:extLst>
              <p:ext uri="{D42A27DB-BD31-4B8C-83A1-F6EECF244321}">
                <p14:modId xmlns:p14="http://schemas.microsoft.com/office/powerpoint/2010/main" val="1222438742"/>
              </p:ext>
            </p:extLst>
          </p:nvPr>
        </p:nvGraphicFramePr>
        <p:xfrm>
          <a:off x="297180" y="506951"/>
          <a:ext cx="8366760" cy="4478048"/>
        </p:xfrm>
        <a:graphic>
          <a:graphicData uri="http://schemas.openxmlformats.org/drawingml/2006/table">
            <a:tbl>
              <a:tblPr firstRow="1" bandRow="1">
                <a:tableStyleId>{F2DE63D5-997A-4646-A377-4702673A728D}</a:tableStyleId>
              </a:tblPr>
              <a:tblGrid>
                <a:gridCol w="1629954">
                  <a:extLst>
                    <a:ext uri="{9D8B030D-6E8A-4147-A177-3AD203B41FA5}">
                      <a16:colId xmlns:a16="http://schemas.microsoft.com/office/drawing/2014/main" val="2653017136"/>
                    </a:ext>
                  </a:extLst>
                </a:gridCol>
                <a:gridCol w="6736806">
                  <a:extLst>
                    <a:ext uri="{9D8B030D-6E8A-4147-A177-3AD203B41FA5}">
                      <a16:colId xmlns:a16="http://schemas.microsoft.com/office/drawing/2014/main" val="2610257161"/>
                    </a:ext>
                  </a:extLst>
                </a:gridCol>
              </a:tblGrid>
              <a:tr h="363248">
                <a:tc>
                  <a:txBody>
                    <a:bodyPr/>
                    <a:lstStyle/>
                    <a:p>
                      <a:r>
                        <a:rPr lang="en-SG" sz="1200"/>
                        <a:t>Team Member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766E"/>
                    </a:solidFill>
                  </a:tcPr>
                </a:tc>
                <a:tc>
                  <a:txBody>
                    <a:bodyPr/>
                    <a:lstStyle/>
                    <a:p>
                      <a:r>
                        <a:rPr lang="en-US" sz="1200"/>
                        <a:t>Why Backdoors Are Hard to Detect &amp; Real-World Implications</a:t>
                      </a:r>
                      <a:endParaRPr lang="en-SG" sz="12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766E"/>
                    </a:solidFill>
                  </a:tcPr>
                </a:tc>
                <a:extLst>
                  <a:ext uri="{0D108BD9-81ED-4DB2-BD59-A6C34878D82A}">
                    <a16:rowId xmlns:a16="http://schemas.microsoft.com/office/drawing/2014/main" val="2116196310"/>
                  </a:ext>
                </a:extLst>
              </a:tr>
              <a:tr h="3462441">
                <a:tc>
                  <a:txBody>
                    <a:bodyPr/>
                    <a:lstStyle/>
                    <a:p>
                      <a:r>
                        <a:rPr lang="en-SG" sz="1200"/>
                        <a:t>Charles Foo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200"/>
                        <a:t>In real life, we cannot measure ASR directly because </a:t>
                      </a:r>
                      <a:r>
                        <a:rPr lang="en-SG" sz="1200" b="1"/>
                        <a:t>ASR requires knowing the trigger</a:t>
                      </a:r>
                      <a:r>
                        <a:rPr lang="en-SG" sz="1200"/>
                        <a:t>. So the order reverses in deployment: </a:t>
                      </a:r>
                      <a:r>
                        <a:rPr lang="en-SG" sz="1200" b="1"/>
                        <a:t>we have </a:t>
                      </a:r>
                      <a:r>
                        <a:rPr lang="en-SG" sz="1200" b="1" i="0"/>
                        <a:t>to detect first </a:t>
                      </a:r>
                      <a:r>
                        <a:rPr lang="en-SG" sz="1200" b="1"/>
                        <a:t>and measure second </a:t>
                      </a:r>
                      <a:r>
                        <a:rPr lang="en-SG" sz="1200"/>
                        <a:t>(in the lab we plant the trigger and then measure). </a:t>
                      </a:r>
                    </a:p>
                    <a:p>
                      <a:endParaRPr lang="en-SG" sz="1200"/>
                    </a:p>
                    <a:p>
                      <a:r>
                        <a:rPr lang="en-SG" sz="1200"/>
                        <a:t>The </a:t>
                      </a:r>
                      <a:r>
                        <a:rPr lang="en-SG" sz="1200" b="1"/>
                        <a:t>first approach to consider is to try to find the trigger. </a:t>
                      </a:r>
                      <a:r>
                        <a:rPr lang="en-SG" sz="1200"/>
                        <a:t>For each possible target class, search for the smallest consistent trigger pattern that would flip most inputs into that class regardless of their true label. If one class needs a suspiciously tiny pattern compared to all the others, that pattern is very likely the planted trigger. Once we have recovered a candidate trigger this way, we can compute an ASR-</a:t>
                      </a:r>
                      <a:r>
                        <a:rPr lang="en-SG" sz="1200" i="1"/>
                        <a:t>like</a:t>
                      </a:r>
                      <a:r>
                        <a:rPr lang="en-SG" sz="1200"/>
                        <a:t> number (though it estimates rather than measures the attack since it uses our reconstructed trigger, not the attacker's real one). This works for simple patch triggers but tends to struggle against larger, scattered, or feature-space triggers.</a:t>
                      </a:r>
                    </a:p>
                    <a:p>
                      <a:endParaRPr lang="en-SG" sz="1200"/>
                    </a:p>
                    <a:p>
                      <a:r>
                        <a:rPr lang="en-SG" sz="1200"/>
                        <a:t>A </a:t>
                      </a:r>
                      <a:r>
                        <a:rPr lang="en-SG" sz="1200" b="1"/>
                        <a:t>second approach </a:t>
                      </a:r>
                      <a:r>
                        <a:rPr lang="en-SG" sz="1200"/>
                        <a:t>(where trigger reconstruction fails) is to evaluate </a:t>
                      </a:r>
                      <a:r>
                        <a:rPr lang="en-SG" sz="1200" b="1"/>
                        <a:t>what we </a:t>
                      </a:r>
                      <a:r>
                        <a:rPr lang="en-SG" sz="1200" b="1" i="1"/>
                        <a:t>can</a:t>
                      </a:r>
                      <a:r>
                        <a:rPr lang="en-SG" sz="1200" b="1"/>
                        <a:t> observe without the trigger and look for symptoms a backdoor produces</a:t>
                      </a:r>
                      <a:r>
                        <a:rPr lang="en-SG" sz="1200"/>
                        <a:t>. These includes the target class over-firing relative to its expected rate, confident predictions that don't match the input's apparent content etc. drawn from </a:t>
                      </a:r>
                      <a:r>
                        <a:rPr lang="en-SG" sz="1200" b="1"/>
                        <a:t>input-distribution, output-distribution, and behavioural/operational signals</a:t>
                      </a:r>
                      <a:r>
                        <a:rPr lang="en-SG" sz="1200"/>
                        <a:t>. They tell us where to look for further investigation of possible triggers. </a:t>
                      </a:r>
                    </a:p>
                    <a:p>
                      <a:endParaRPr lang="en-SG" sz="1200"/>
                    </a:p>
                    <a:p>
                      <a:r>
                        <a:rPr lang="en-SG" sz="1200"/>
                        <a:t>Given that </a:t>
                      </a:r>
                      <a:r>
                        <a:rPr lang="en-SG" sz="1200" i="1"/>
                        <a:t>trigger detection is hard </a:t>
                      </a:r>
                      <a:r>
                        <a:rPr lang="en-SG" sz="1200"/>
                        <a:t>and </a:t>
                      </a:r>
                      <a:r>
                        <a:rPr lang="en-SG" sz="1200" i="1"/>
                        <a:t>runtime signals are only suggestive</a:t>
                      </a:r>
                      <a:r>
                        <a:rPr lang="en-SG" sz="1200"/>
                        <a:t>, a more </a:t>
                      </a:r>
                      <a:r>
                        <a:rPr lang="en-SG" sz="1200" b="1"/>
                        <a:t>reliable defence shifts upstream to provenance: </a:t>
                      </a:r>
                      <a:r>
                        <a:rPr lang="en-SG" sz="1200"/>
                        <a:t>where the model and training data came from, and who had the access to tamper with them. Our lab shows a 95% backdoor hid behind a clean-accuracy drop of only 4 points. So what we cannot reliably detect, we have to avoid admitting in the first place.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1003769"/>
                  </a:ext>
                </a:extLst>
              </a:tr>
            </a:tbl>
          </a:graphicData>
        </a:graphic>
      </p:graphicFrame>
    </p:spTree>
    <p:extLst>
      <p:ext uri="{BB962C8B-B14F-4D97-AF65-F5344CB8AC3E}">
        <p14:creationId xmlns:p14="http://schemas.microsoft.com/office/powerpoint/2010/main" val="3261778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4D257-A4D0-326C-7276-55CF89A088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4458FE0-315C-04AD-49EC-16700D0CAD54}"/>
              </a:ext>
            </a:extLst>
          </p:cNvPr>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a:extLst>
              <a:ext uri="{FF2B5EF4-FFF2-40B4-BE49-F238E27FC236}">
                <a16:creationId xmlns:a16="http://schemas.microsoft.com/office/drawing/2014/main" id="{70BD6E17-D7D0-B5AF-8C61-7D92C8F30D02}"/>
              </a:ext>
            </a:extLst>
          </p:cNvPr>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5  ·  REFLECTION &amp; CRITICAL THINKING</a:t>
            </a:r>
            <a:endParaRPr lang="en-US" sz="900"/>
          </a:p>
        </p:txBody>
      </p:sp>
      <p:sp>
        <p:nvSpPr>
          <p:cNvPr id="4" name="Shape 2">
            <a:extLst>
              <a:ext uri="{FF2B5EF4-FFF2-40B4-BE49-F238E27FC236}">
                <a16:creationId xmlns:a16="http://schemas.microsoft.com/office/drawing/2014/main" id="{809DE01D-E138-A788-2196-0CEED540BDBF}"/>
              </a:ext>
            </a:extLst>
          </p:cNvPr>
          <p:cNvSpPr/>
          <p:nvPr/>
        </p:nvSpPr>
        <p:spPr>
          <a:xfrm>
            <a:off x="365760" y="384048"/>
            <a:ext cx="1371600" cy="237744"/>
          </a:xfrm>
          <a:prstGeom prst="rect">
            <a:avLst/>
          </a:prstGeom>
          <a:solidFill>
            <a:srgbClr val="0F766E"/>
          </a:solidFill>
          <a:ln w="12700">
            <a:solidFill>
              <a:srgbClr val="0F766E"/>
            </a:solidFill>
            <a:prstDash val="solid"/>
          </a:ln>
        </p:spPr>
        <p:txBody>
          <a:bodyPr/>
          <a:lstStyle/>
          <a:p>
            <a:endParaRPr lang="en-SG"/>
          </a:p>
        </p:txBody>
      </p:sp>
      <p:sp>
        <p:nvSpPr>
          <p:cNvPr id="5" name="Text 3">
            <a:extLst>
              <a:ext uri="{FF2B5EF4-FFF2-40B4-BE49-F238E27FC236}">
                <a16:creationId xmlns:a16="http://schemas.microsoft.com/office/drawing/2014/main" id="{E01EED12-212A-8101-7D62-33B981107545}"/>
              </a:ext>
            </a:extLst>
          </p:cNvPr>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Reflection</a:t>
            </a:r>
            <a:endParaRPr lang="en-US" sz="900"/>
          </a:p>
        </p:txBody>
      </p:sp>
      <p:sp>
        <p:nvSpPr>
          <p:cNvPr id="32" name="Text 30">
            <a:extLst>
              <a:ext uri="{FF2B5EF4-FFF2-40B4-BE49-F238E27FC236}">
                <a16:creationId xmlns:a16="http://schemas.microsoft.com/office/drawing/2014/main" id="{F422CDA6-975D-2B68-1359-69A88AD3C986}"/>
              </a:ext>
            </a:extLst>
          </p:cNvPr>
          <p:cNvSpPr/>
          <p:nvPr/>
        </p:nvSpPr>
        <p:spPr>
          <a:xfrm>
            <a:off x="411480" y="4828032"/>
            <a:ext cx="8321040" cy="18288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Key Takeaway: Trustworthy AI requires defense-in-depth — accuracy alone is not a safety guarantee.</a:t>
            </a:r>
            <a:endParaRPr lang="en-US" sz="900"/>
          </a:p>
        </p:txBody>
      </p:sp>
      <p:graphicFrame>
        <p:nvGraphicFramePr>
          <p:cNvPr id="33" name="Table 32">
            <a:extLst>
              <a:ext uri="{FF2B5EF4-FFF2-40B4-BE49-F238E27FC236}">
                <a16:creationId xmlns:a16="http://schemas.microsoft.com/office/drawing/2014/main" id="{A1D04686-2795-8404-588B-72F948E1B31A}"/>
              </a:ext>
            </a:extLst>
          </p:cNvPr>
          <p:cNvGraphicFramePr>
            <a:graphicFrameLocks noGrp="1"/>
          </p:cNvGraphicFramePr>
          <p:nvPr>
            <p:extLst>
              <p:ext uri="{D42A27DB-BD31-4B8C-83A1-F6EECF244321}">
                <p14:modId xmlns:p14="http://schemas.microsoft.com/office/powerpoint/2010/main" val="1593910580"/>
              </p:ext>
            </p:extLst>
          </p:nvPr>
        </p:nvGraphicFramePr>
        <p:xfrm>
          <a:off x="365760" y="826993"/>
          <a:ext cx="8366760" cy="3825689"/>
        </p:xfrm>
        <a:graphic>
          <a:graphicData uri="http://schemas.openxmlformats.org/drawingml/2006/table">
            <a:tbl>
              <a:tblPr firstRow="1" bandRow="1">
                <a:tableStyleId>{F2DE63D5-997A-4646-A377-4702673A728D}</a:tableStyleId>
              </a:tblPr>
              <a:tblGrid>
                <a:gridCol w="1629954">
                  <a:extLst>
                    <a:ext uri="{9D8B030D-6E8A-4147-A177-3AD203B41FA5}">
                      <a16:colId xmlns:a16="http://schemas.microsoft.com/office/drawing/2014/main" val="2653017136"/>
                    </a:ext>
                  </a:extLst>
                </a:gridCol>
                <a:gridCol w="6736806">
                  <a:extLst>
                    <a:ext uri="{9D8B030D-6E8A-4147-A177-3AD203B41FA5}">
                      <a16:colId xmlns:a16="http://schemas.microsoft.com/office/drawing/2014/main" val="2610257161"/>
                    </a:ext>
                  </a:extLst>
                </a:gridCol>
              </a:tblGrid>
              <a:tr h="363248">
                <a:tc>
                  <a:txBody>
                    <a:bodyPr/>
                    <a:lstStyle/>
                    <a:p>
                      <a:r>
                        <a:rPr lang="en-SG" sz="1200"/>
                        <a:t>Team Member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766E"/>
                    </a:solidFill>
                  </a:tcPr>
                </a:tc>
                <a:tc>
                  <a:txBody>
                    <a:bodyPr/>
                    <a:lstStyle/>
                    <a:p>
                      <a:r>
                        <a:rPr lang="en-US" sz="1200"/>
                        <a:t>Why Backdoors Are Hard to Detect &amp; Real-World Implications</a:t>
                      </a:r>
                      <a:endParaRPr lang="en-SG" sz="12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766E"/>
                    </a:solidFill>
                  </a:tcPr>
                </a:tc>
                <a:extLst>
                  <a:ext uri="{0D108BD9-81ED-4DB2-BD59-A6C34878D82A}">
                    <a16:rowId xmlns:a16="http://schemas.microsoft.com/office/drawing/2014/main" val="2116196310"/>
                  </a:ext>
                </a:extLst>
              </a:tr>
              <a:tr h="3462441">
                <a:tc>
                  <a:txBody>
                    <a:bodyPr/>
                    <a:lstStyle/>
                    <a:p>
                      <a:r>
                        <a:rPr lang="en-SG" sz="1200"/>
                        <a:t>Sagar Pratap Singh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SG" sz="12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1003769"/>
                  </a:ext>
                </a:extLst>
              </a:tr>
            </a:tbl>
          </a:graphicData>
        </a:graphic>
      </p:graphicFrame>
    </p:spTree>
    <p:extLst>
      <p:ext uri="{BB962C8B-B14F-4D97-AF65-F5344CB8AC3E}">
        <p14:creationId xmlns:p14="http://schemas.microsoft.com/office/powerpoint/2010/main" val="4107336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AC257-2958-0D29-CD3E-50C6C5C6FD0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297078C-5F6C-95E8-EF3D-21D5570BE821}"/>
              </a:ext>
            </a:extLst>
          </p:cNvPr>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a:extLst>
              <a:ext uri="{FF2B5EF4-FFF2-40B4-BE49-F238E27FC236}">
                <a16:creationId xmlns:a16="http://schemas.microsoft.com/office/drawing/2014/main" id="{6BDBE21C-3D2C-A019-E76F-2289D8830119}"/>
              </a:ext>
            </a:extLst>
          </p:cNvPr>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5  ·  REFLECTION &amp; CRITICAL THINKING</a:t>
            </a:r>
            <a:endParaRPr lang="en-US" sz="900"/>
          </a:p>
        </p:txBody>
      </p:sp>
      <p:sp>
        <p:nvSpPr>
          <p:cNvPr id="4" name="Shape 2">
            <a:extLst>
              <a:ext uri="{FF2B5EF4-FFF2-40B4-BE49-F238E27FC236}">
                <a16:creationId xmlns:a16="http://schemas.microsoft.com/office/drawing/2014/main" id="{731049A3-4939-30ED-0A53-9F4DEC6216C2}"/>
              </a:ext>
            </a:extLst>
          </p:cNvPr>
          <p:cNvSpPr/>
          <p:nvPr/>
        </p:nvSpPr>
        <p:spPr>
          <a:xfrm>
            <a:off x="365760" y="384048"/>
            <a:ext cx="1371600" cy="237744"/>
          </a:xfrm>
          <a:prstGeom prst="rect">
            <a:avLst/>
          </a:prstGeom>
          <a:solidFill>
            <a:srgbClr val="0F766E"/>
          </a:solidFill>
          <a:ln w="12700">
            <a:solidFill>
              <a:srgbClr val="0F766E"/>
            </a:solidFill>
            <a:prstDash val="solid"/>
          </a:ln>
        </p:spPr>
        <p:txBody>
          <a:bodyPr/>
          <a:lstStyle/>
          <a:p>
            <a:endParaRPr lang="en-SG"/>
          </a:p>
        </p:txBody>
      </p:sp>
      <p:sp>
        <p:nvSpPr>
          <p:cNvPr id="5" name="Text 3">
            <a:extLst>
              <a:ext uri="{FF2B5EF4-FFF2-40B4-BE49-F238E27FC236}">
                <a16:creationId xmlns:a16="http://schemas.microsoft.com/office/drawing/2014/main" id="{513B529F-67A0-348B-83BC-0DAFF516F06C}"/>
              </a:ext>
            </a:extLst>
          </p:cNvPr>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Reflection</a:t>
            </a:r>
            <a:endParaRPr lang="en-US" sz="900"/>
          </a:p>
        </p:txBody>
      </p:sp>
      <p:sp>
        <p:nvSpPr>
          <p:cNvPr id="31" name="Shape 29">
            <a:extLst>
              <a:ext uri="{FF2B5EF4-FFF2-40B4-BE49-F238E27FC236}">
                <a16:creationId xmlns:a16="http://schemas.microsoft.com/office/drawing/2014/main" id="{93EA53DB-BC98-7B9E-535D-25417D80395C}"/>
              </a:ext>
            </a:extLst>
          </p:cNvPr>
          <p:cNvSpPr/>
          <p:nvPr/>
        </p:nvSpPr>
        <p:spPr>
          <a:xfrm>
            <a:off x="320040" y="4828032"/>
            <a:ext cx="8503920" cy="182880"/>
          </a:xfrm>
          <a:prstGeom prst="rect">
            <a:avLst/>
          </a:prstGeom>
          <a:solidFill>
            <a:srgbClr val="0D9488"/>
          </a:solidFill>
          <a:ln w="12700">
            <a:solidFill>
              <a:srgbClr val="0D9488"/>
            </a:solidFill>
            <a:prstDash val="solid"/>
          </a:ln>
        </p:spPr>
        <p:txBody>
          <a:bodyPr/>
          <a:lstStyle/>
          <a:p>
            <a:endParaRPr lang="en-SG"/>
          </a:p>
        </p:txBody>
      </p:sp>
      <p:sp>
        <p:nvSpPr>
          <p:cNvPr id="32" name="Text 30">
            <a:extLst>
              <a:ext uri="{FF2B5EF4-FFF2-40B4-BE49-F238E27FC236}">
                <a16:creationId xmlns:a16="http://schemas.microsoft.com/office/drawing/2014/main" id="{69F7527D-BF04-C96F-827F-C9C4B68BE7F4}"/>
              </a:ext>
            </a:extLst>
          </p:cNvPr>
          <p:cNvSpPr/>
          <p:nvPr/>
        </p:nvSpPr>
        <p:spPr>
          <a:xfrm>
            <a:off x="411480" y="4828032"/>
            <a:ext cx="8321040" cy="18288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Key Takeaway: Trustworthy AI requires defense-in-depth — accuracy alone is not a safety guarantee.</a:t>
            </a:r>
            <a:endParaRPr lang="en-US" sz="900"/>
          </a:p>
        </p:txBody>
      </p:sp>
      <p:graphicFrame>
        <p:nvGraphicFramePr>
          <p:cNvPr id="33" name="Table 32">
            <a:extLst>
              <a:ext uri="{FF2B5EF4-FFF2-40B4-BE49-F238E27FC236}">
                <a16:creationId xmlns:a16="http://schemas.microsoft.com/office/drawing/2014/main" id="{50507744-0867-4055-AC37-E6CC5DC3B996}"/>
              </a:ext>
            </a:extLst>
          </p:cNvPr>
          <p:cNvGraphicFramePr>
            <a:graphicFrameLocks noGrp="1"/>
          </p:cNvGraphicFramePr>
          <p:nvPr>
            <p:extLst>
              <p:ext uri="{D42A27DB-BD31-4B8C-83A1-F6EECF244321}">
                <p14:modId xmlns:p14="http://schemas.microsoft.com/office/powerpoint/2010/main" val="2260315917"/>
              </p:ext>
            </p:extLst>
          </p:nvPr>
        </p:nvGraphicFramePr>
        <p:xfrm>
          <a:off x="365760" y="826993"/>
          <a:ext cx="8366760" cy="3914168"/>
        </p:xfrm>
        <a:graphic>
          <a:graphicData uri="http://schemas.openxmlformats.org/drawingml/2006/table">
            <a:tbl>
              <a:tblPr firstRow="1" bandRow="1">
                <a:tableStyleId>{F2DE63D5-997A-4646-A377-4702673A728D}</a:tableStyleId>
              </a:tblPr>
              <a:tblGrid>
                <a:gridCol w="1622697">
                  <a:extLst>
                    <a:ext uri="{9D8B030D-6E8A-4147-A177-3AD203B41FA5}">
                      <a16:colId xmlns:a16="http://schemas.microsoft.com/office/drawing/2014/main" val="2653017136"/>
                    </a:ext>
                  </a:extLst>
                </a:gridCol>
                <a:gridCol w="6744063">
                  <a:extLst>
                    <a:ext uri="{9D8B030D-6E8A-4147-A177-3AD203B41FA5}">
                      <a16:colId xmlns:a16="http://schemas.microsoft.com/office/drawing/2014/main" val="2610257161"/>
                    </a:ext>
                  </a:extLst>
                </a:gridCol>
              </a:tblGrid>
              <a:tr h="363248">
                <a:tc>
                  <a:txBody>
                    <a:bodyPr/>
                    <a:lstStyle/>
                    <a:p>
                      <a:r>
                        <a:rPr lang="en-SG" sz="1200"/>
                        <a:t>Team Member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766E"/>
                    </a:solidFill>
                  </a:tcPr>
                </a:tc>
                <a:tc>
                  <a:txBody>
                    <a:bodyPr/>
                    <a:lstStyle/>
                    <a:p>
                      <a:r>
                        <a:rPr lang="en-US" sz="1200"/>
                        <a:t>Why Backdoors Are Hard to Detect &amp; Real-World Implications</a:t>
                      </a:r>
                      <a:endParaRPr lang="en-SG" sz="12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766E"/>
                    </a:solidFill>
                  </a:tcPr>
                </a:tc>
                <a:extLst>
                  <a:ext uri="{0D108BD9-81ED-4DB2-BD59-A6C34878D82A}">
                    <a16:rowId xmlns:a16="http://schemas.microsoft.com/office/drawing/2014/main" val="2116196310"/>
                  </a:ext>
                </a:extLst>
              </a:tr>
              <a:tr h="3462441">
                <a:tc>
                  <a:txBody>
                    <a:bodyPr/>
                    <a:lstStyle/>
                    <a:p>
                      <a:r>
                        <a:rPr lang="en-SG" sz="1200"/>
                        <a:t>Sai Chin Kai (Clarence)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200"/>
                        <a:t>This lab changed how I think about model evaluation. The poisoned model looked normal based on standard results. Its final loss was 0.70 compared to 0.77 for the clean model, and its clean accuracy only dropped by 1.96%. But when the trigger appeared, it sent 95.64% of inputs to the attacker’s chosen class. This shows that clean accuracy alone is not enough. A model can look safe and still be compromised.</a:t>
                      </a:r>
                    </a:p>
                    <a:p>
                      <a:endParaRPr lang="en-SG" sz="1200"/>
                    </a:p>
                    <a:p>
                      <a:r>
                        <a:rPr lang="en-SG" sz="1200"/>
                        <a:t>The attack was simple. It used the same white square, in the same corner, linked to the same target class. This was repeated in 10% of the training data. Because the pattern was so consistent, the model learned it as a strong signal. The attack did not need to be complex. It only needed to be repeated.</a:t>
                      </a:r>
                    </a:p>
                    <a:p>
                      <a:endParaRPr lang="en-SG" sz="1200"/>
                    </a:p>
                    <a:p>
                      <a:r>
                        <a:rPr lang="en-SG" sz="1200"/>
                        <a:t>The </a:t>
                      </a:r>
                      <a:r>
                        <a:rPr lang="en-SG" sz="1200" err="1"/>
                        <a:t>defense</a:t>
                      </a:r>
                      <a:r>
                        <a:rPr lang="en-SG" sz="1200"/>
                        <a:t> results also showed a real risk. The data audit only found 3.6% of poisoned samples because the trigger was not saved in the image files. It was added only when the images were loaded. This means the files looked clean, but the training process was not. In real life, this could be dangerous in areas like medical diagnosis or identity checks.</a:t>
                      </a:r>
                    </a:p>
                    <a:p>
                      <a:endParaRPr lang="en-SG" sz="1200"/>
                    </a:p>
                    <a:p>
                      <a:r>
                        <a:rPr lang="en-SG" sz="1200"/>
                        <a:t>No single </a:t>
                      </a:r>
                      <a:r>
                        <a:rPr lang="en-SG" sz="1200" err="1"/>
                        <a:t>defense</a:t>
                      </a:r>
                      <a:r>
                        <a:rPr lang="en-SG" sz="1200"/>
                        <a:t> is enough. Trigger masking reduced the attack success rate from 95.64% to 5.41%, but this worked mainly because the trigger location was already known. In a real attack, the trigger may not be so obvious. Models should be tested using attack success rate, not just clean accuracy, before they are trusted.</a:t>
                      </a:r>
                    </a:p>
                    <a:p>
                      <a:endParaRPr lang="en-SG" sz="11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1003769"/>
                  </a:ext>
                </a:extLst>
              </a:tr>
            </a:tbl>
          </a:graphicData>
        </a:graphic>
      </p:graphicFrame>
    </p:spTree>
    <p:extLst>
      <p:ext uri="{BB962C8B-B14F-4D97-AF65-F5344CB8AC3E}">
        <p14:creationId xmlns:p14="http://schemas.microsoft.com/office/powerpoint/2010/main" val="3675183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747F7-0B75-8BF8-ACB4-D118ED6B39D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34FA99B-CC7C-ECB1-A324-4FEEC89C05C2}"/>
              </a:ext>
            </a:extLst>
          </p:cNvPr>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a:extLst>
              <a:ext uri="{FF2B5EF4-FFF2-40B4-BE49-F238E27FC236}">
                <a16:creationId xmlns:a16="http://schemas.microsoft.com/office/drawing/2014/main" id="{0F4F541B-8FFF-D356-F6C6-7ABBEF022D0C}"/>
              </a:ext>
            </a:extLst>
          </p:cNvPr>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5  ·  REFLECTION &amp; CRITICAL THINKING</a:t>
            </a:r>
            <a:endParaRPr lang="en-US" sz="900"/>
          </a:p>
        </p:txBody>
      </p:sp>
      <p:sp>
        <p:nvSpPr>
          <p:cNvPr id="4" name="Shape 2">
            <a:extLst>
              <a:ext uri="{FF2B5EF4-FFF2-40B4-BE49-F238E27FC236}">
                <a16:creationId xmlns:a16="http://schemas.microsoft.com/office/drawing/2014/main" id="{3ADB8674-EE83-A34A-A715-EF311E03DB78}"/>
              </a:ext>
            </a:extLst>
          </p:cNvPr>
          <p:cNvSpPr/>
          <p:nvPr/>
        </p:nvSpPr>
        <p:spPr>
          <a:xfrm>
            <a:off x="365760" y="384048"/>
            <a:ext cx="1371600" cy="237744"/>
          </a:xfrm>
          <a:prstGeom prst="rect">
            <a:avLst/>
          </a:prstGeom>
          <a:solidFill>
            <a:srgbClr val="0F766E"/>
          </a:solidFill>
          <a:ln w="12700">
            <a:solidFill>
              <a:srgbClr val="0F766E"/>
            </a:solidFill>
            <a:prstDash val="solid"/>
          </a:ln>
        </p:spPr>
        <p:txBody>
          <a:bodyPr/>
          <a:lstStyle/>
          <a:p>
            <a:endParaRPr lang="en-SG"/>
          </a:p>
        </p:txBody>
      </p:sp>
      <p:sp>
        <p:nvSpPr>
          <p:cNvPr id="5" name="Text 3">
            <a:extLst>
              <a:ext uri="{FF2B5EF4-FFF2-40B4-BE49-F238E27FC236}">
                <a16:creationId xmlns:a16="http://schemas.microsoft.com/office/drawing/2014/main" id="{56BA353D-5B98-0B67-F591-A700C4301B62}"/>
              </a:ext>
            </a:extLst>
          </p:cNvPr>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Reflection</a:t>
            </a:r>
            <a:endParaRPr lang="en-US" sz="900"/>
          </a:p>
        </p:txBody>
      </p:sp>
      <p:sp>
        <p:nvSpPr>
          <p:cNvPr id="32" name="Text 30">
            <a:extLst>
              <a:ext uri="{FF2B5EF4-FFF2-40B4-BE49-F238E27FC236}">
                <a16:creationId xmlns:a16="http://schemas.microsoft.com/office/drawing/2014/main" id="{B85C7F9B-56E2-69A5-C354-9FE40F624ABB}"/>
              </a:ext>
            </a:extLst>
          </p:cNvPr>
          <p:cNvSpPr/>
          <p:nvPr/>
        </p:nvSpPr>
        <p:spPr>
          <a:xfrm>
            <a:off x="411480" y="4828032"/>
            <a:ext cx="8321040" cy="18288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Key Takeaway: Trustworthy AI requires defense-in-depth — accuracy alone is not a safety guarantee.</a:t>
            </a:r>
            <a:endParaRPr lang="en-US" sz="900"/>
          </a:p>
        </p:txBody>
      </p:sp>
      <p:graphicFrame>
        <p:nvGraphicFramePr>
          <p:cNvPr id="33" name="Table 32">
            <a:extLst>
              <a:ext uri="{FF2B5EF4-FFF2-40B4-BE49-F238E27FC236}">
                <a16:creationId xmlns:a16="http://schemas.microsoft.com/office/drawing/2014/main" id="{E81C90BB-346B-9DDC-A2AF-946591319534}"/>
              </a:ext>
            </a:extLst>
          </p:cNvPr>
          <p:cNvGraphicFramePr>
            <a:graphicFrameLocks noGrp="1"/>
          </p:cNvGraphicFramePr>
          <p:nvPr>
            <p:extLst>
              <p:ext uri="{D42A27DB-BD31-4B8C-83A1-F6EECF244321}">
                <p14:modId xmlns:p14="http://schemas.microsoft.com/office/powerpoint/2010/main" val="4188089416"/>
              </p:ext>
            </p:extLst>
          </p:nvPr>
        </p:nvGraphicFramePr>
        <p:xfrm>
          <a:off x="365760" y="826993"/>
          <a:ext cx="8366760" cy="3825689"/>
        </p:xfrm>
        <a:graphic>
          <a:graphicData uri="http://schemas.openxmlformats.org/drawingml/2006/table">
            <a:tbl>
              <a:tblPr firstRow="1" bandRow="1">
                <a:tableStyleId>{F2DE63D5-997A-4646-A377-4702673A728D}</a:tableStyleId>
              </a:tblPr>
              <a:tblGrid>
                <a:gridCol w="1622697">
                  <a:extLst>
                    <a:ext uri="{9D8B030D-6E8A-4147-A177-3AD203B41FA5}">
                      <a16:colId xmlns:a16="http://schemas.microsoft.com/office/drawing/2014/main" val="2653017136"/>
                    </a:ext>
                  </a:extLst>
                </a:gridCol>
                <a:gridCol w="6744063">
                  <a:extLst>
                    <a:ext uri="{9D8B030D-6E8A-4147-A177-3AD203B41FA5}">
                      <a16:colId xmlns:a16="http://schemas.microsoft.com/office/drawing/2014/main" val="2610257161"/>
                    </a:ext>
                  </a:extLst>
                </a:gridCol>
              </a:tblGrid>
              <a:tr h="363248">
                <a:tc>
                  <a:txBody>
                    <a:bodyPr/>
                    <a:lstStyle/>
                    <a:p>
                      <a:r>
                        <a:rPr lang="en-SG" sz="1200"/>
                        <a:t>Team Member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766E"/>
                    </a:solidFill>
                  </a:tcPr>
                </a:tc>
                <a:tc>
                  <a:txBody>
                    <a:bodyPr/>
                    <a:lstStyle/>
                    <a:p>
                      <a:r>
                        <a:rPr lang="en-US" sz="1200"/>
                        <a:t>Why Backdoors Are Hard to Detect &amp; Real-World Implications</a:t>
                      </a:r>
                      <a:endParaRPr lang="en-SG" sz="12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766E"/>
                    </a:solidFill>
                  </a:tcPr>
                </a:tc>
                <a:extLst>
                  <a:ext uri="{0D108BD9-81ED-4DB2-BD59-A6C34878D82A}">
                    <a16:rowId xmlns:a16="http://schemas.microsoft.com/office/drawing/2014/main" val="2116196310"/>
                  </a:ext>
                </a:extLst>
              </a:tr>
              <a:tr h="3462441">
                <a:tc>
                  <a:txBody>
                    <a:bodyPr/>
                    <a:lstStyle/>
                    <a:p>
                      <a:r>
                        <a:rPr lang="en-SG" sz="1200"/>
                        <a:t>Tan Ai Kun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SG" sz="1200" b="0" i="0" u="none" strike="noStrike" noProof="0">
                          <a:latin typeface="Calibri"/>
                          <a:ea typeface="Calibri"/>
                          <a:cs typeface="Calibri"/>
                        </a:rPr>
                        <a:t>One of the most surprising insights from this lab was how little visible evidence there was that a model had been compromised. The poisoned model maintained similar clean accuracy to the baseline model, yet a small trigger was able to redirect almost any input to the attacker's chosen class. What stood out to me was that the vulnerability did not arise during inference, but much earlier in the AI lifecycle through the training data itself. A relatively small amount of poisoned data was sufficient for the model to learn a hidden trigger behaviour while continuing to perform normally on clean inputs. This reinforced the idea that trustworthiness depends not only on model design, but also on the integrity of the data, training pipeline, and model supply chain.</a:t>
                      </a:r>
                      <a:endParaRPr lang="en-US"/>
                    </a:p>
                    <a:p>
                      <a:pPr lvl="0" algn="l">
                        <a:lnSpc>
                          <a:spcPct val="100000"/>
                        </a:lnSpc>
                        <a:spcBef>
                          <a:spcPts val="0"/>
                        </a:spcBef>
                        <a:spcAft>
                          <a:spcPts val="0"/>
                        </a:spcAft>
                        <a:buNone/>
                      </a:pPr>
                      <a:endParaRPr lang="en-SG"/>
                    </a:p>
                    <a:p>
                      <a:pPr lvl="0">
                        <a:buNone/>
                      </a:pPr>
                      <a:r>
                        <a:rPr lang="en-SG" sz="1200" b="0" i="0" u="none" strike="noStrike" noProof="0">
                          <a:latin typeface="Calibri"/>
                          <a:ea typeface="Calibri"/>
                          <a:cs typeface="Calibri"/>
                        </a:rPr>
                        <a:t>Although trigger masking could significantly reduce the attack success rate, the defence relied on knowing where the trigger was located. This highlighted the challenge of defending against threats that may not even be visible to defenders. From this exercise, I learned that Trustworthy AI is not only about evaluating how a model behaves under normal conditions, but also about understanding how hidden behaviours can be introduced, how difficult they are to detect, and why strong data governance and defence-in-depth are essential for real-world deployment. A seemingly small lapse in data governance or supply-chain controls can introduce vulnerabilities with potentially far-reaching consequences.</a:t>
                      </a:r>
                      <a:endParaRPr lang="en-SG"/>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1003769"/>
                  </a:ext>
                </a:extLst>
              </a:tr>
            </a:tbl>
          </a:graphicData>
        </a:graphic>
      </p:graphicFrame>
    </p:spTree>
    <p:extLst>
      <p:ext uri="{BB962C8B-B14F-4D97-AF65-F5344CB8AC3E}">
        <p14:creationId xmlns:p14="http://schemas.microsoft.com/office/powerpoint/2010/main" val="4190229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7663E-F8C9-817F-4467-9FD4A7C56F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5418FC-D617-DAF5-B5EB-9E57D8F86DFA}"/>
              </a:ext>
            </a:extLst>
          </p:cNvPr>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a:extLst>
              <a:ext uri="{FF2B5EF4-FFF2-40B4-BE49-F238E27FC236}">
                <a16:creationId xmlns:a16="http://schemas.microsoft.com/office/drawing/2014/main" id="{5F3F6FD0-5AD4-4B20-9552-2C793B3A570D}"/>
              </a:ext>
            </a:extLst>
          </p:cNvPr>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POINT 5  ·  REFLECTION &amp; CRITICAL THINKING</a:t>
            </a:r>
            <a:endParaRPr lang="en-US" sz="900"/>
          </a:p>
        </p:txBody>
      </p:sp>
      <p:sp>
        <p:nvSpPr>
          <p:cNvPr id="4" name="Shape 2">
            <a:extLst>
              <a:ext uri="{FF2B5EF4-FFF2-40B4-BE49-F238E27FC236}">
                <a16:creationId xmlns:a16="http://schemas.microsoft.com/office/drawing/2014/main" id="{60C9E3F8-4C27-11B4-40D2-981971F49F21}"/>
              </a:ext>
            </a:extLst>
          </p:cNvPr>
          <p:cNvSpPr/>
          <p:nvPr/>
        </p:nvSpPr>
        <p:spPr>
          <a:xfrm>
            <a:off x="365760" y="384048"/>
            <a:ext cx="1371600" cy="237744"/>
          </a:xfrm>
          <a:prstGeom prst="rect">
            <a:avLst/>
          </a:prstGeom>
          <a:solidFill>
            <a:srgbClr val="0F766E"/>
          </a:solidFill>
          <a:ln w="12700">
            <a:solidFill>
              <a:srgbClr val="0F766E"/>
            </a:solidFill>
            <a:prstDash val="solid"/>
          </a:ln>
        </p:spPr>
        <p:txBody>
          <a:bodyPr/>
          <a:lstStyle/>
          <a:p>
            <a:endParaRPr lang="en-SG"/>
          </a:p>
        </p:txBody>
      </p:sp>
      <p:sp>
        <p:nvSpPr>
          <p:cNvPr id="5" name="Text 3">
            <a:extLst>
              <a:ext uri="{FF2B5EF4-FFF2-40B4-BE49-F238E27FC236}">
                <a16:creationId xmlns:a16="http://schemas.microsoft.com/office/drawing/2014/main" id="{E319EC69-B0D3-7790-04EE-7BDD33A3D37E}"/>
              </a:ext>
            </a:extLst>
          </p:cNvPr>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Reflection</a:t>
            </a:r>
            <a:endParaRPr lang="en-US" sz="900"/>
          </a:p>
        </p:txBody>
      </p:sp>
      <p:sp>
        <p:nvSpPr>
          <p:cNvPr id="31" name="Shape 29">
            <a:extLst>
              <a:ext uri="{FF2B5EF4-FFF2-40B4-BE49-F238E27FC236}">
                <a16:creationId xmlns:a16="http://schemas.microsoft.com/office/drawing/2014/main" id="{F430FF6E-DCEC-7FAC-344A-9878BA7E6F12}"/>
              </a:ext>
            </a:extLst>
          </p:cNvPr>
          <p:cNvSpPr/>
          <p:nvPr/>
        </p:nvSpPr>
        <p:spPr>
          <a:xfrm>
            <a:off x="320040" y="4828032"/>
            <a:ext cx="8503920" cy="182880"/>
          </a:xfrm>
          <a:prstGeom prst="rect">
            <a:avLst/>
          </a:prstGeom>
          <a:solidFill>
            <a:srgbClr val="0D9488"/>
          </a:solidFill>
          <a:ln w="12700">
            <a:solidFill>
              <a:srgbClr val="0D9488"/>
            </a:solidFill>
            <a:prstDash val="solid"/>
          </a:ln>
        </p:spPr>
        <p:txBody>
          <a:bodyPr/>
          <a:lstStyle/>
          <a:p>
            <a:endParaRPr lang="en-SG"/>
          </a:p>
        </p:txBody>
      </p:sp>
      <p:sp>
        <p:nvSpPr>
          <p:cNvPr id="32" name="Text 30">
            <a:extLst>
              <a:ext uri="{FF2B5EF4-FFF2-40B4-BE49-F238E27FC236}">
                <a16:creationId xmlns:a16="http://schemas.microsoft.com/office/drawing/2014/main" id="{4CD5C580-4073-6190-787A-075012A570D4}"/>
              </a:ext>
            </a:extLst>
          </p:cNvPr>
          <p:cNvSpPr/>
          <p:nvPr/>
        </p:nvSpPr>
        <p:spPr>
          <a:xfrm>
            <a:off x="411480" y="4828032"/>
            <a:ext cx="8321040" cy="18288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Key Takeaway: Trustworthy AI requires defense-in-depth — accuracy alone is not a safety guarantee.</a:t>
            </a:r>
            <a:endParaRPr lang="en-US" sz="900"/>
          </a:p>
        </p:txBody>
      </p:sp>
      <p:graphicFrame>
        <p:nvGraphicFramePr>
          <p:cNvPr id="33" name="Table 32">
            <a:extLst>
              <a:ext uri="{FF2B5EF4-FFF2-40B4-BE49-F238E27FC236}">
                <a16:creationId xmlns:a16="http://schemas.microsoft.com/office/drawing/2014/main" id="{F2BDFEFA-403E-734F-8FBB-F99EC469A2D8}"/>
              </a:ext>
            </a:extLst>
          </p:cNvPr>
          <p:cNvGraphicFramePr>
            <a:graphicFrameLocks noGrp="1"/>
          </p:cNvGraphicFramePr>
          <p:nvPr>
            <p:extLst>
              <p:ext uri="{D42A27DB-BD31-4B8C-83A1-F6EECF244321}">
                <p14:modId xmlns:p14="http://schemas.microsoft.com/office/powerpoint/2010/main" val="3321188859"/>
              </p:ext>
            </p:extLst>
          </p:nvPr>
        </p:nvGraphicFramePr>
        <p:xfrm>
          <a:off x="365760" y="826993"/>
          <a:ext cx="8366760" cy="3825689"/>
        </p:xfrm>
        <a:graphic>
          <a:graphicData uri="http://schemas.openxmlformats.org/drawingml/2006/table">
            <a:tbl>
              <a:tblPr firstRow="1" bandRow="1">
                <a:tableStyleId>{F2DE63D5-997A-4646-A377-4702673A728D}</a:tableStyleId>
              </a:tblPr>
              <a:tblGrid>
                <a:gridCol w="1622697">
                  <a:extLst>
                    <a:ext uri="{9D8B030D-6E8A-4147-A177-3AD203B41FA5}">
                      <a16:colId xmlns:a16="http://schemas.microsoft.com/office/drawing/2014/main" val="2653017136"/>
                    </a:ext>
                  </a:extLst>
                </a:gridCol>
                <a:gridCol w="6744063">
                  <a:extLst>
                    <a:ext uri="{9D8B030D-6E8A-4147-A177-3AD203B41FA5}">
                      <a16:colId xmlns:a16="http://schemas.microsoft.com/office/drawing/2014/main" val="2610257161"/>
                    </a:ext>
                  </a:extLst>
                </a:gridCol>
              </a:tblGrid>
              <a:tr h="363248">
                <a:tc>
                  <a:txBody>
                    <a:bodyPr/>
                    <a:lstStyle/>
                    <a:p>
                      <a:r>
                        <a:rPr lang="en-SG" sz="1200"/>
                        <a:t>Team Member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766E"/>
                    </a:solidFill>
                  </a:tcPr>
                </a:tc>
                <a:tc>
                  <a:txBody>
                    <a:bodyPr/>
                    <a:lstStyle/>
                    <a:p>
                      <a:r>
                        <a:rPr lang="en-US" sz="1200"/>
                        <a:t>Why Backdoors Are Hard to Detect &amp; Real-World Implications</a:t>
                      </a:r>
                      <a:endParaRPr lang="en-SG" sz="12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766E"/>
                    </a:solidFill>
                  </a:tcPr>
                </a:tc>
                <a:extLst>
                  <a:ext uri="{0D108BD9-81ED-4DB2-BD59-A6C34878D82A}">
                    <a16:rowId xmlns:a16="http://schemas.microsoft.com/office/drawing/2014/main" val="2116196310"/>
                  </a:ext>
                </a:extLst>
              </a:tr>
              <a:tr h="3462441">
                <a:tc>
                  <a:txBody>
                    <a:bodyPr/>
                    <a:lstStyle/>
                    <a:p>
                      <a:r>
                        <a:rPr lang="en-SG" sz="1200"/>
                        <a:t>Lee Kai Boo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a:t>This lab made it clear to me that evaluating a model on clean test accuracy alone is dangerously insufficient. A backdoored model achieving 60% accuracy looks indistinguishable from a healthy one, yet it secretly redirects any triggered input to the attacker's chosen class with a 95% success rate.</a:t>
                      </a:r>
                    </a:p>
                    <a:p>
                      <a:endParaRPr lang="en-US" sz="1200"/>
                    </a:p>
                    <a:p>
                      <a:r>
                        <a:rPr lang="en-US" sz="1200"/>
                        <a:t>What struck me most was how deliberately inconspicuous the attack is — a 4×4 white square occupying just 1.56% of an image can be dismissed as a JPEG artefact by any human reviewer, yet the model has learned to treat it as an absolute override signal. </a:t>
                      </a:r>
                    </a:p>
                    <a:p>
                      <a:endParaRPr lang="en-US" sz="1200"/>
                    </a:p>
                    <a:p>
                      <a:r>
                        <a:rPr lang="en-US" sz="1200"/>
                        <a:t>The real-world implications are sobering: the same principle could compromise safety-critical systems in autonomous vehicles, medical imaging, or biometric access control, where misclassification carries life-or-death consequences. </a:t>
                      </a:r>
                    </a:p>
                    <a:p>
                      <a:endParaRPr lang="en-US" sz="1200"/>
                    </a:p>
                    <a:p>
                      <a:r>
                        <a:rPr lang="en-US" sz="1200"/>
                        <a:t>The lab also taught me that defenses are not a solved problem — trigger masking worked here because we knew exactly where the trigger was, but a more sophisticated attacker using frequency-domain perturbations would evade it entirely. This arms-race dynamic reinforces that trustworthy AI cannot rely on a single safeguard; it demands layered technical controls, rigorous supply-chain auditing, and governance frameworks that mandate third-party model verification before deployment.</a:t>
                      </a:r>
                      <a:endParaRPr lang="en-SG" sz="12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1003769"/>
                  </a:ext>
                </a:extLst>
              </a:tr>
            </a:tbl>
          </a:graphicData>
        </a:graphic>
      </p:graphicFrame>
    </p:spTree>
    <p:extLst>
      <p:ext uri="{BB962C8B-B14F-4D97-AF65-F5344CB8AC3E}">
        <p14:creationId xmlns:p14="http://schemas.microsoft.com/office/powerpoint/2010/main" val="2605342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SG"/>
          </a:p>
        </p:txBody>
      </p:sp>
      <p:sp>
        <p:nvSpPr>
          <p:cNvPr id="3" name="Shape 1"/>
          <p:cNvSpPr/>
          <p:nvPr/>
        </p:nvSpPr>
        <p:spPr>
          <a:xfrm>
            <a:off x="0" y="4754880"/>
            <a:ext cx="9144000" cy="388620"/>
          </a:xfrm>
          <a:prstGeom prst="rect">
            <a:avLst/>
          </a:prstGeom>
          <a:solidFill>
            <a:srgbClr val="F59E0B"/>
          </a:solidFill>
          <a:ln w="12700">
            <a:solidFill>
              <a:srgbClr val="F59E0B"/>
            </a:solidFill>
            <a:prstDash val="solid"/>
          </a:ln>
        </p:spPr>
        <p:txBody>
          <a:bodyPr/>
          <a:lstStyle/>
          <a:p>
            <a:endParaRPr lang="en-SG"/>
          </a:p>
        </p:txBody>
      </p:sp>
      <p:sp>
        <p:nvSpPr>
          <p:cNvPr id="4" name="Text 2"/>
          <p:cNvSpPr/>
          <p:nvPr/>
        </p:nvSpPr>
        <p:spPr>
          <a:xfrm>
            <a:off x="411480" y="365760"/>
            <a:ext cx="8229600" cy="502920"/>
          </a:xfrm>
          <a:prstGeom prst="rect">
            <a:avLst/>
          </a:prstGeom>
          <a:noFill/>
          <a:ln/>
        </p:spPr>
        <p:txBody>
          <a:bodyPr wrap="square" lIns="0" tIns="0" rIns="0" bIns="0" rtlCol="0" anchor="ctr"/>
          <a:lstStyle/>
          <a:p>
            <a:pPr marL="0" indent="0">
              <a:buNone/>
            </a:pPr>
            <a:r>
              <a:rPr lang="en-US" sz="3000" b="1">
                <a:solidFill>
                  <a:srgbClr val="FFFFFF"/>
                </a:solidFill>
                <a:latin typeface="Calibri" pitchFamily="34" charset="0"/>
                <a:ea typeface="Calibri" pitchFamily="34" charset="-122"/>
                <a:cs typeface="Calibri" pitchFamily="34" charset="-120"/>
              </a:rPr>
              <a:t>Final Results Summary</a:t>
            </a:r>
            <a:endParaRPr lang="en-US" sz="3000"/>
          </a:p>
        </p:txBody>
      </p:sp>
      <p:sp>
        <p:nvSpPr>
          <p:cNvPr id="5" name="Shape 3"/>
          <p:cNvSpPr/>
          <p:nvPr/>
        </p:nvSpPr>
        <p:spPr>
          <a:xfrm>
            <a:off x="320040" y="1005840"/>
            <a:ext cx="8503920" cy="621792"/>
          </a:xfrm>
          <a:prstGeom prst="rect">
            <a:avLst/>
          </a:prstGeom>
          <a:solidFill>
            <a:srgbClr val="162032"/>
          </a:solidFill>
          <a:ln w="12700">
            <a:solidFill>
              <a:srgbClr val="1E3A5F"/>
            </a:solidFill>
            <a:prstDash val="solid"/>
          </a:ln>
        </p:spPr>
        <p:txBody>
          <a:bodyPr/>
          <a:lstStyle/>
          <a:p>
            <a:endParaRPr lang="en-SG"/>
          </a:p>
        </p:txBody>
      </p:sp>
      <p:sp>
        <p:nvSpPr>
          <p:cNvPr id="6" name="Shape 4"/>
          <p:cNvSpPr/>
          <p:nvPr/>
        </p:nvSpPr>
        <p:spPr>
          <a:xfrm>
            <a:off x="320040" y="1005840"/>
            <a:ext cx="502920" cy="621792"/>
          </a:xfrm>
          <a:prstGeom prst="rect">
            <a:avLst/>
          </a:prstGeom>
          <a:solidFill>
            <a:srgbClr val="0D9488"/>
          </a:solidFill>
          <a:ln w="12700">
            <a:solidFill>
              <a:srgbClr val="0D9488"/>
            </a:solidFill>
            <a:prstDash val="solid"/>
          </a:ln>
        </p:spPr>
        <p:txBody>
          <a:bodyPr/>
          <a:lstStyle/>
          <a:p>
            <a:endParaRPr lang="en-SG"/>
          </a:p>
        </p:txBody>
      </p:sp>
      <p:sp>
        <p:nvSpPr>
          <p:cNvPr id="7" name="Text 5"/>
          <p:cNvSpPr/>
          <p:nvPr/>
        </p:nvSpPr>
        <p:spPr>
          <a:xfrm>
            <a:off x="320040" y="1005840"/>
            <a:ext cx="502920" cy="621792"/>
          </a:xfrm>
          <a:prstGeom prst="rect">
            <a:avLst/>
          </a:prstGeom>
          <a:noFill/>
          <a:ln/>
        </p:spPr>
        <p:txBody>
          <a:bodyPr wrap="square" lIns="0" tIns="0" rIns="0" bIns="0" rtlCol="0" anchor="ctr"/>
          <a:lstStyle/>
          <a:p>
            <a:pPr marL="0" indent="0" algn="ctr">
              <a:buNone/>
            </a:pPr>
            <a:endParaRPr lang="en-US" sz="1800"/>
          </a:p>
        </p:txBody>
      </p:sp>
      <p:sp>
        <p:nvSpPr>
          <p:cNvPr id="8" name="Text 6"/>
          <p:cNvSpPr/>
          <p:nvPr/>
        </p:nvSpPr>
        <p:spPr>
          <a:xfrm>
            <a:off x="960120" y="1060704"/>
            <a:ext cx="502920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1. Technical Completion</a:t>
            </a:r>
            <a:endParaRPr lang="en-US" sz="1200"/>
          </a:p>
        </p:txBody>
      </p:sp>
      <p:sp>
        <p:nvSpPr>
          <p:cNvPr id="9" name="Text 7"/>
          <p:cNvSpPr/>
          <p:nvPr/>
        </p:nvSpPr>
        <p:spPr>
          <a:xfrm>
            <a:off x="960120" y="1335024"/>
            <a:ext cx="7132320" cy="219456"/>
          </a:xfrm>
          <a:prstGeom prst="rect">
            <a:avLst/>
          </a:prstGeom>
          <a:noFill/>
          <a:ln/>
        </p:spPr>
        <p:txBody>
          <a:bodyPr wrap="square" lIns="0" tIns="0" rIns="0" bIns="0" rtlCol="0" anchor="ctr"/>
          <a:lstStyle/>
          <a:p>
            <a:pPr marL="0" indent="0">
              <a:buNone/>
            </a:pPr>
            <a:r>
              <a:rPr lang="en-US" sz="950">
                <a:solidFill>
                  <a:srgbClr val="94A3B8"/>
                </a:solidFill>
                <a:latin typeface="Calibri" pitchFamily="34" charset="0"/>
                <a:ea typeface="Calibri" pitchFamily="34" charset="-122"/>
                <a:cs typeface="Calibri" pitchFamily="34" charset="-120"/>
              </a:rPr>
              <a:t>All 9 steps executed, seed=42, GPU, full workflow</a:t>
            </a:r>
            <a:endParaRPr lang="en-US" sz="950"/>
          </a:p>
        </p:txBody>
      </p:sp>
      <p:sp>
        <p:nvSpPr>
          <p:cNvPr id="11" name="Shape 9"/>
          <p:cNvSpPr/>
          <p:nvPr/>
        </p:nvSpPr>
        <p:spPr>
          <a:xfrm>
            <a:off x="320040" y="1719072"/>
            <a:ext cx="8503920" cy="621792"/>
          </a:xfrm>
          <a:prstGeom prst="rect">
            <a:avLst/>
          </a:prstGeom>
          <a:solidFill>
            <a:srgbClr val="162032"/>
          </a:solidFill>
          <a:ln w="12700">
            <a:solidFill>
              <a:srgbClr val="1E3A5F"/>
            </a:solidFill>
            <a:prstDash val="solid"/>
          </a:ln>
        </p:spPr>
        <p:txBody>
          <a:bodyPr/>
          <a:lstStyle/>
          <a:p>
            <a:endParaRPr lang="en-SG"/>
          </a:p>
        </p:txBody>
      </p:sp>
      <p:sp>
        <p:nvSpPr>
          <p:cNvPr id="12" name="Shape 10"/>
          <p:cNvSpPr/>
          <p:nvPr/>
        </p:nvSpPr>
        <p:spPr>
          <a:xfrm>
            <a:off x="320040" y="1719072"/>
            <a:ext cx="502920" cy="621792"/>
          </a:xfrm>
          <a:prstGeom prst="rect">
            <a:avLst/>
          </a:prstGeom>
          <a:solidFill>
            <a:srgbClr val="0D9488"/>
          </a:solidFill>
          <a:ln w="12700">
            <a:solidFill>
              <a:srgbClr val="0D9488"/>
            </a:solidFill>
            <a:prstDash val="solid"/>
          </a:ln>
        </p:spPr>
        <p:txBody>
          <a:bodyPr/>
          <a:lstStyle/>
          <a:p>
            <a:endParaRPr lang="en-SG"/>
          </a:p>
        </p:txBody>
      </p:sp>
      <p:sp>
        <p:nvSpPr>
          <p:cNvPr id="13" name="Text 11"/>
          <p:cNvSpPr/>
          <p:nvPr/>
        </p:nvSpPr>
        <p:spPr>
          <a:xfrm>
            <a:off x="320040" y="1719072"/>
            <a:ext cx="502920" cy="621792"/>
          </a:xfrm>
          <a:prstGeom prst="rect">
            <a:avLst/>
          </a:prstGeom>
          <a:noFill/>
          <a:ln/>
        </p:spPr>
        <p:txBody>
          <a:bodyPr wrap="square" lIns="0" tIns="0" rIns="0" bIns="0" rtlCol="0" anchor="ctr"/>
          <a:lstStyle/>
          <a:p>
            <a:pPr marL="0" indent="0" algn="ctr">
              <a:buNone/>
            </a:pPr>
            <a:endParaRPr lang="en-US" sz="1800"/>
          </a:p>
        </p:txBody>
      </p:sp>
      <p:sp>
        <p:nvSpPr>
          <p:cNvPr id="14" name="Text 12"/>
          <p:cNvSpPr/>
          <p:nvPr/>
        </p:nvSpPr>
        <p:spPr>
          <a:xfrm>
            <a:off x="960120" y="1773936"/>
            <a:ext cx="502920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2. Experimentation &amp; Analysis</a:t>
            </a:r>
            <a:endParaRPr lang="en-US" sz="1200"/>
          </a:p>
        </p:txBody>
      </p:sp>
      <p:sp>
        <p:nvSpPr>
          <p:cNvPr id="15" name="Text 13"/>
          <p:cNvSpPr/>
          <p:nvPr/>
        </p:nvSpPr>
        <p:spPr>
          <a:xfrm>
            <a:off x="960120" y="2048256"/>
            <a:ext cx="7132320" cy="219456"/>
          </a:xfrm>
          <a:prstGeom prst="rect">
            <a:avLst/>
          </a:prstGeom>
          <a:noFill/>
          <a:ln/>
        </p:spPr>
        <p:txBody>
          <a:bodyPr wrap="square" lIns="0" tIns="0" rIns="0" bIns="0" rtlCol="0" anchor="ctr"/>
          <a:lstStyle/>
          <a:p>
            <a:pPr marL="0" indent="0">
              <a:buNone/>
            </a:pPr>
            <a:r>
              <a:rPr lang="en-US" sz="950">
                <a:solidFill>
                  <a:srgbClr val="94A3B8"/>
                </a:solidFill>
                <a:latin typeface="Calibri" pitchFamily="34" charset="0"/>
                <a:ea typeface="Calibri" pitchFamily="34" charset="-122"/>
                <a:cs typeface="Calibri" pitchFamily="34" charset="-120"/>
              </a:rPr>
              <a:t>Parameter sweep: trigger size, placement, poison fraction</a:t>
            </a:r>
            <a:endParaRPr lang="en-US" sz="950"/>
          </a:p>
        </p:txBody>
      </p:sp>
      <p:sp>
        <p:nvSpPr>
          <p:cNvPr id="17" name="Shape 15"/>
          <p:cNvSpPr/>
          <p:nvPr/>
        </p:nvSpPr>
        <p:spPr>
          <a:xfrm>
            <a:off x="320040" y="2432304"/>
            <a:ext cx="8503920" cy="621792"/>
          </a:xfrm>
          <a:prstGeom prst="rect">
            <a:avLst/>
          </a:prstGeom>
          <a:solidFill>
            <a:srgbClr val="162032"/>
          </a:solidFill>
          <a:ln w="12700">
            <a:solidFill>
              <a:srgbClr val="1E3A5F"/>
            </a:solidFill>
            <a:prstDash val="solid"/>
          </a:ln>
        </p:spPr>
        <p:txBody>
          <a:bodyPr/>
          <a:lstStyle/>
          <a:p>
            <a:endParaRPr lang="en-SG"/>
          </a:p>
        </p:txBody>
      </p:sp>
      <p:sp>
        <p:nvSpPr>
          <p:cNvPr id="18" name="Shape 16"/>
          <p:cNvSpPr/>
          <p:nvPr/>
        </p:nvSpPr>
        <p:spPr>
          <a:xfrm>
            <a:off x="320040" y="2432304"/>
            <a:ext cx="502920" cy="621792"/>
          </a:xfrm>
          <a:prstGeom prst="rect">
            <a:avLst/>
          </a:prstGeom>
          <a:solidFill>
            <a:srgbClr val="0D9488"/>
          </a:solidFill>
          <a:ln w="12700">
            <a:solidFill>
              <a:srgbClr val="0D9488"/>
            </a:solidFill>
            <a:prstDash val="solid"/>
          </a:ln>
        </p:spPr>
        <p:txBody>
          <a:bodyPr/>
          <a:lstStyle/>
          <a:p>
            <a:endParaRPr lang="en-SG"/>
          </a:p>
        </p:txBody>
      </p:sp>
      <p:sp>
        <p:nvSpPr>
          <p:cNvPr id="19" name="Text 17"/>
          <p:cNvSpPr/>
          <p:nvPr/>
        </p:nvSpPr>
        <p:spPr>
          <a:xfrm>
            <a:off x="320040" y="2432304"/>
            <a:ext cx="502920" cy="621792"/>
          </a:xfrm>
          <a:prstGeom prst="rect">
            <a:avLst/>
          </a:prstGeom>
          <a:noFill/>
          <a:ln/>
        </p:spPr>
        <p:txBody>
          <a:bodyPr wrap="square" lIns="0" tIns="0" rIns="0" bIns="0" rtlCol="0" anchor="ctr"/>
          <a:lstStyle/>
          <a:p>
            <a:pPr marL="0" indent="0" algn="ctr">
              <a:buNone/>
            </a:pPr>
            <a:endParaRPr lang="en-US" sz="1800"/>
          </a:p>
        </p:txBody>
      </p:sp>
      <p:sp>
        <p:nvSpPr>
          <p:cNvPr id="20" name="Text 18"/>
          <p:cNvSpPr/>
          <p:nvPr/>
        </p:nvSpPr>
        <p:spPr>
          <a:xfrm>
            <a:off x="960120" y="2487168"/>
            <a:ext cx="502920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3. Results &amp; Visualization</a:t>
            </a:r>
            <a:endParaRPr lang="en-US" sz="1200"/>
          </a:p>
        </p:txBody>
      </p:sp>
      <p:sp>
        <p:nvSpPr>
          <p:cNvPr id="21" name="Text 19"/>
          <p:cNvSpPr/>
          <p:nvPr/>
        </p:nvSpPr>
        <p:spPr>
          <a:xfrm>
            <a:off x="960120" y="2761488"/>
            <a:ext cx="7132320" cy="219456"/>
          </a:xfrm>
          <a:prstGeom prst="rect">
            <a:avLst/>
          </a:prstGeom>
          <a:noFill/>
          <a:ln/>
        </p:spPr>
        <p:txBody>
          <a:bodyPr wrap="square" lIns="0" tIns="0" rIns="0" bIns="0" rtlCol="0" anchor="ctr"/>
          <a:lstStyle/>
          <a:p>
            <a:pPr marL="0" indent="0">
              <a:buNone/>
            </a:pPr>
            <a:r>
              <a:rPr lang="en-US" sz="950">
                <a:solidFill>
                  <a:srgbClr val="94A3B8"/>
                </a:solidFill>
                <a:latin typeface="Calibri" pitchFamily="34" charset="0"/>
                <a:ea typeface="Calibri" pitchFamily="34" charset="-122"/>
                <a:cs typeface="Calibri" pitchFamily="34" charset="-120"/>
              </a:rPr>
              <a:t>5 notebook visualizations embedded, comparison tables</a:t>
            </a:r>
            <a:endParaRPr lang="en-US" sz="950"/>
          </a:p>
        </p:txBody>
      </p:sp>
      <p:sp>
        <p:nvSpPr>
          <p:cNvPr id="23" name="Shape 21"/>
          <p:cNvSpPr/>
          <p:nvPr/>
        </p:nvSpPr>
        <p:spPr>
          <a:xfrm>
            <a:off x="320040" y="3145536"/>
            <a:ext cx="8503920" cy="621792"/>
          </a:xfrm>
          <a:prstGeom prst="rect">
            <a:avLst/>
          </a:prstGeom>
          <a:solidFill>
            <a:srgbClr val="162032"/>
          </a:solidFill>
          <a:ln w="12700">
            <a:solidFill>
              <a:srgbClr val="1E3A5F"/>
            </a:solidFill>
            <a:prstDash val="solid"/>
          </a:ln>
        </p:spPr>
        <p:txBody>
          <a:bodyPr/>
          <a:lstStyle/>
          <a:p>
            <a:endParaRPr lang="en-SG"/>
          </a:p>
        </p:txBody>
      </p:sp>
      <p:sp>
        <p:nvSpPr>
          <p:cNvPr id="24" name="Shape 22"/>
          <p:cNvSpPr/>
          <p:nvPr/>
        </p:nvSpPr>
        <p:spPr>
          <a:xfrm>
            <a:off x="320040" y="3145536"/>
            <a:ext cx="502920" cy="621792"/>
          </a:xfrm>
          <a:prstGeom prst="rect">
            <a:avLst/>
          </a:prstGeom>
          <a:solidFill>
            <a:srgbClr val="0D9488"/>
          </a:solidFill>
          <a:ln w="12700">
            <a:solidFill>
              <a:srgbClr val="0D9488"/>
            </a:solidFill>
            <a:prstDash val="solid"/>
          </a:ln>
        </p:spPr>
        <p:txBody>
          <a:bodyPr/>
          <a:lstStyle/>
          <a:p>
            <a:endParaRPr lang="en-SG"/>
          </a:p>
        </p:txBody>
      </p:sp>
      <p:sp>
        <p:nvSpPr>
          <p:cNvPr id="25" name="Text 23"/>
          <p:cNvSpPr/>
          <p:nvPr/>
        </p:nvSpPr>
        <p:spPr>
          <a:xfrm>
            <a:off x="320040" y="3145536"/>
            <a:ext cx="502920" cy="621792"/>
          </a:xfrm>
          <a:prstGeom prst="rect">
            <a:avLst/>
          </a:prstGeom>
          <a:noFill/>
          <a:ln/>
        </p:spPr>
        <p:txBody>
          <a:bodyPr wrap="square" lIns="0" tIns="0" rIns="0" bIns="0" rtlCol="0" anchor="ctr"/>
          <a:lstStyle/>
          <a:p>
            <a:pPr marL="0" indent="0" algn="ctr">
              <a:buNone/>
            </a:pPr>
            <a:endParaRPr lang="en-US" sz="1800"/>
          </a:p>
        </p:txBody>
      </p:sp>
      <p:sp>
        <p:nvSpPr>
          <p:cNvPr id="26" name="Text 24"/>
          <p:cNvSpPr/>
          <p:nvPr/>
        </p:nvSpPr>
        <p:spPr>
          <a:xfrm>
            <a:off x="960120" y="3200400"/>
            <a:ext cx="502920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4. Conceptual Understanding</a:t>
            </a:r>
            <a:endParaRPr lang="en-US" sz="1200"/>
          </a:p>
        </p:txBody>
      </p:sp>
      <p:sp>
        <p:nvSpPr>
          <p:cNvPr id="27" name="Text 25"/>
          <p:cNvSpPr/>
          <p:nvPr/>
        </p:nvSpPr>
        <p:spPr>
          <a:xfrm>
            <a:off x="960120" y="3474720"/>
            <a:ext cx="7132320" cy="219456"/>
          </a:xfrm>
          <a:prstGeom prst="rect">
            <a:avLst/>
          </a:prstGeom>
          <a:noFill/>
          <a:ln/>
        </p:spPr>
        <p:txBody>
          <a:bodyPr wrap="square" lIns="0" tIns="0" rIns="0" bIns="0" rtlCol="0" anchor="ctr"/>
          <a:lstStyle/>
          <a:p>
            <a:pPr marL="0" indent="0">
              <a:buNone/>
            </a:pPr>
            <a:r>
              <a:rPr lang="en-US" sz="950">
                <a:solidFill>
                  <a:srgbClr val="94A3B8"/>
                </a:solidFill>
                <a:latin typeface="Calibri" pitchFamily="34" charset="0"/>
                <a:ea typeface="Calibri" pitchFamily="34" charset="-122"/>
                <a:cs typeface="Calibri" pitchFamily="34" charset="-120"/>
              </a:rPr>
              <a:t>All step Q&amp;As answered: accuracy, ASR, stealth, defenses</a:t>
            </a:r>
            <a:endParaRPr lang="en-US" sz="950"/>
          </a:p>
        </p:txBody>
      </p:sp>
      <p:sp>
        <p:nvSpPr>
          <p:cNvPr id="28" name="Text 26"/>
          <p:cNvSpPr/>
          <p:nvPr/>
        </p:nvSpPr>
        <p:spPr>
          <a:xfrm>
            <a:off x="320040" y="3529584"/>
            <a:ext cx="502920" cy="182880"/>
          </a:xfrm>
          <a:prstGeom prst="rect">
            <a:avLst/>
          </a:prstGeom>
          <a:noFill/>
          <a:ln/>
        </p:spPr>
        <p:txBody>
          <a:bodyPr wrap="square" lIns="0" tIns="0" rIns="0" bIns="0" rtlCol="0" anchor="ctr"/>
          <a:lstStyle/>
          <a:p>
            <a:pPr marL="0" indent="0" algn="ctr">
              <a:buNone/>
            </a:pPr>
            <a:endParaRPr lang="en-US" sz="800"/>
          </a:p>
        </p:txBody>
      </p:sp>
      <p:sp>
        <p:nvSpPr>
          <p:cNvPr id="29" name="Shape 27"/>
          <p:cNvSpPr/>
          <p:nvPr/>
        </p:nvSpPr>
        <p:spPr>
          <a:xfrm>
            <a:off x="320040" y="3858768"/>
            <a:ext cx="8503920" cy="621792"/>
          </a:xfrm>
          <a:prstGeom prst="rect">
            <a:avLst/>
          </a:prstGeom>
          <a:solidFill>
            <a:srgbClr val="162032"/>
          </a:solidFill>
          <a:ln w="12700">
            <a:solidFill>
              <a:srgbClr val="1E3A5F"/>
            </a:solidFill>
            <a:prstDash val="solid"/>
          </a:ln>
        </p:spPr>
        <p:txBody>
          <a:bodyPr/>
          <a:lstStyle/>
          <a:p>
            <a:endParaRPr lang="en-SG"/>
          </a:p>
        </p:txBody>
      </p:sp>
      <p:sp>
        <p:nvSpPr>
          <p:cNvPr id="30" name="Shape 28"/>
          <p:cNvSpPr/>
          <p:nvPr/>
        </p:nvSpPr>
        <p:spPr>
          <a:xfrm>
            <a:off x="320040" y="3858768"/>
            <a:ext cx="502920" cy="621792"/>
          </a:xfrm>
          <a:prstGeom prst="rect">
            <a:avLst/>
          </a:prstGeom>
          <a:solidFill>
            <a:srgbClr val="0D9488"/>
          </a:solidFill>
          <a:ln w="12700">
            <a:solidFill>
              <a:srgbClr val="0D9488"/>
            </a:solidFill>
            <a:prstDash val="solid"/>
          </a:ln>
        </p:spPr>
        <p:txBody>
          <a:bodyPr/>
          <a:lstStyle/>
          <a:p>
            <a:endParaRPr lang="en-SG"/>
          </a:p>
        </p:txBody>
      </p:sp>
      <p:sp>
        <p:nvSpPr>
          <p:cNvPr id="31" name="Text 29"/>
          <p:cNvSpPr/>
          <p:nvPr/>
        </p:nvSpPr>
        <p:spPr>
          <a:xfrm>
            <a:off x="320040" y="3858768"/>
            <a:ext cx="502920" cy="621792"/>
          </a:xfrm>
          <a:prstGeom prst="rect">
            <a:avLst/>
          </a:prstGeom>
          <a:noFill/>
          <a:ln/>
        </p:spPr>
        <p:txBody>
          <a:bodyPr wrap="square" lIns="0" tIns="0" rIns="0" bIns="0" rtlCol="0" anchor="ctr"/>
          <a:lstStyle/>
          <a:p>
            <a:pPr marL="0" indent="0" algn="ctr">
              <a:buNone/>
            </a:pPr>
            <a:endParaRPr lang="en-US" sz="1800"/>
          </a:p>
        </p:txBody>
      </p:sp>
      <p:sp>
        <p:nvSpPr>
          <p:cNvPr id="32" name="Text 30"/>
          <p:cNvSpPr/>
          <p:nvPr/>
        </p:nvSpPr>
        <p:spPr>
          <a:xfrm>
            <a:off x="960120" y="3913632"/>
            <a:ext cx="5029200" cy="27432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5. Reflection &amp; Critical Thinking</a:t>
            </a:r>
            <a:endParaRPr lang="en-US" sz="1200"/>
          </a:p>
        </p:txBody>
      </p:sp>
      <p:sp>
        <p:nvSpPr>
          <p:cNvPr id="33" name="Text 31"/>
          <p:cNvSpPr/>
          <p:nvPr/>
        </p:nvSpPr>
        <p:spPr>
          <a:xfrm>
            <a:off x="960120" y="4187952"/>
            <a:ext cx="7132320" cy="219456"/>
          </a:xfrm>
          <a:prstGeom prst="rect">
            <a:avLst/>
          </a:prstGeom>
          <a:noFill/>
          <a:ln/>
        </p:spPr>
        <p:txBody>
          <a:bodyPr wrap="square" lIns="0" tIns="0" rIns="0" bIns="0" rtlCol="0" anchor="ctr"/>
          <a:lstStyle/>
          <a:p>
            <a:pPr marL="0" indent="0">
              <a:buNone/>
            </a:pPr>
            <a:r>
              <a:rPr lang="en-US" sz="950">
                <a:solidFill>
                  <a:srgbClr val="94A3B8"/>
                </a:solidFill>
                <a:latin typeface="Calibri" pitchFamily="34" charset="0"/>
                <a:ea typeface="Calibri" pitchFamily="34" charset="-122"/>
                <a:cs typeface="Calibri" pitchFamily="34" charset="-120"/>
              </a:rPr>
              <a:t>Real-world risks, governance, defense trade-offs</a:t>
            </a:r>
            <a:endParaRPr lang="en-US" sz="950"/>
          </a:p>
        </p:txBody>
      </p:sp>
      <p:sp>
        <p:nvSpPr>
          <p:cNvPr id="34" name="Text 32"/>
          <p:cNvSpPr/>
          <p:nvPr/>
        </p:nvSpPr>
        <p:spPr>
          <a:xfrm>
            <a:off x="320040" y="4242816"/>
            <a:ext cx="502920" cy="182880"/>
          </a:xfrm>
          <a:prstGeom prst="rect">
            <a:avLst/>
          </a:prstGeom>
          <a:noFill/>
          <a:ln/>
        </p:spPr>
        <p:txBody>
          <a:bodyPr wrap="square" lIns="0" tIns="0" rIns="0" bIns="0" rtlCol="0" anchor="ctr"/>
          <a:lstStyle/>
          <a:p>
            <a:pPr marL="0" indent="0" algn="ctr">
              <a:buNone/>
            </a:pPr>
            <a:endParaRPr lang="en-US" sz="800"/>
          </a:p>
        </p:txBody>
      </p:sp>
      <p:sp>
        <p:nvSpPr>
          <p:cNvPr id="35" name="Text 33"/>
          <p:cNvSpPr/>
          <p:nvPr/>
        </p:nvSpPr>
        <p:spPr>
          <a:xfrm>
            <a:off x="411480" y="4764024"/>
            <a:ext cx="8321040" cy="320040"/>
          </a:xfrm>
          <a:prstGeom prst="rect">
            <a:avLst/>
          </a:prstGeom>
          <a:noFill/>
          <a:ln/>
        </p:spPr>
        <p:txBody>
          <a:bodyPr wrap="square" lIns="0" tIns="0" rIns="0" bIns="0" rtlCol="0" anchor="ctr"/>
          <a:lstStyle/>
          <a:p>
            <a:pPr algn="ctr"/>
            <a:r>
              <a:rPr lang="en-US" sz="1100" b="1">
                <a:solidFill>
                  <a:srgbClr val="0F1F3D"/>
                </a:solidFill>
                <a:latin typeface="Calibri"/>
                <a:ea typeface="Calibri"/>
                <a:cs typeface="Calibri"/>
              </a:rPr>
              <a:t>Week 3 — Backdoor Attack on CIFAR-10</a:t>
            </a:r>
            <a:endParaRPr lang="en-US" sz="1100">
              <a:latin typeface="Calibri"/>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SG"/>
          </a:p>
        </p:txBody>
      </p:sp>
      <p:sp>
        <p:nvSpPr>
          <p:cNvPr id="3" name="Text 1"/>
          <p:cNvSpPr/>
          <p:nvPr/>
        </p:nvSpPr>
        <p:spPr>
          <a:xfrm>
            <a:off x="365760" y="109728"/>
            <a:ext cx="8229600" cy="256032"/>
          </a:xfrm>
          <a:prstGeom prst="rect">
            <a:avLst/>
          </a:prstGeom>
          <a:noFill/>
          <a:ln/>
        </p:spPr>
        <p:txBody>
          <a:bodyPr wrap="square" lIns="0" tIns="0" rIns="0" bIns="0" rtlCol="0" anchor="ctr"/>
          <a:lstStyle/>
          <a:p>
            <a:pPr marL="0" indent="0">
              <a:buNone/>
            </a:pPr>
            <a:r>
              <a:rPr lang="en-US" sz="900" b="1" kern="0" spc="300">
                <a:solidFill>
                  <a:srgbClr val="0D9488"/>
                </a:solidFill>
                <a:latin typeface="Calibri" pitchFamily="34" charset="0"/>
                <a:ea typeface="Calibri" pitchFamily="34" charset="-122"/>
                <a:cs typeface="Calibri" pitchFamily="34" charset="-120"/>
              </a:rPr>
              <a:t>REFERENCES</a:t>
            </a:r>
            <a:endParaRPr lang="en-US" sz="900"/>
          </a:p>
        </p:txBody>
      </p:sp>
      <p:sp>
        <p:nvSpPr>
          <p:cNvPr id="4" name="Shape 2"/>
          <p:cNvSpPr/>
          <p:nvPr/>
        </p:nvSpPr>
        <p:spPr>
          <a:xfrm>
            <a:off x="365760" y="384048"/>
            <a:ext cx="1371600" cy="237744"/>
          </a:xfrm>
          <a:prstGeom prst="rect">
            <a:avLst/>
          </a:prstGeom>
          <a:solidFill>
            <a:srgbClr val="0F1F3D"/>
          </a:solidFill>
          <a:ln w="12700">
            <a:solidFill>
              <a:srgbClr val="0F1F3D"/>
            </a:solidFill>
            <a:prstDash val="solid"/>
          </a:ln>
        </p:spPr>
        <p:txBody>
          <a:bodyPr/>
          <a:lstStyle/>
          <a:p>
            <a:endParaRPr lang="en-SG"/>
          </a:p>
        </p:txBody>
      </p:sp>
      <p:sp>
        <p:nvSpPr>
          <p:cNvPr id="5" name="Text 3"/>
          <p:cNvSpPr/>
          <p:nvPr/>
        </p:nvSpPr>
        <p:spPr>
          <a:xfrm>
            <a:off x="365760" y="384048"/>
            <a:ext cx="1371600" cy="237744"/>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Sources</a:t>
            </a:r>
            <a:endParaRPr lang="en-US" sz="900"/>
          </a:p>
        </p:txBody>
      </p:sp>
      <p:sp>
        <p:nvSpPr>
          <p:cNvPr id="6" name="Text 4"/>
          <p:cNvSpPr/>
          <p:nvPr/>
        </p:nvSpPr>
        <p:spPr>
          <a:xfrm>
            <a:off x="365760" y="694944"/>
            <a:ext cx="8412480" cy="502920"/>
          </a:xfrm>
          <a:prstGeom prst="rect">
            <a:avLst/>
          </a:prstGeom>
          <a:noFill/>
          <a:ln/>
        </p:spPr>
        <p:txBody>
          <a:bodyPr wrap="square" lIns="0" tIns="0" rIns="0" bIns="0" rtlCol="0" anchor="ctr"/>
          <a:lstStyle/>
          <a:p>
            <a:pPr marL="0" indent="0">
              <a:buNone/>
            </a:pPr>
            <a:r>
              <a:rPr lang="en-US" sz="2600" b="1">
                <a:solidFill>
                  <a:srgbClr val="1E293B"/>
                </a:solidFill>
                <a:latin typeface="Calibri" pitchFamily="34" charset="0"/>
                <a:ea typeface="Calibri" pitchFamily="34" charset="-122"/>
                <a:cs typeface="Calibri" pitchFamily="34" charset="-120"/>
              </a:rPr>
              <a:t>References</a:t>
            </a:r>
            <a:endParaRPr lang="en-US" sz="2600"/>
          </a:p>
        </p:txBody>
      </p:sp>
      <p:sp>
        <p:nvSpPr>
          <p:cNvPr id="7" name="Shape 5"/>
          <p:cNvSpPr/>
          <p:nvPr/>
        </p:nvSpPr>
        <p:spPr>
          <a:xfrm>
            <a:off x="320040" y="1325880"/>
            <a:ext cx="292608" cy="292608"/>
          </a:xfrm>
          <a:prstGeom prst="rect">
            <a:avLst/>
          </a:prstGeom>
          <a:solidFill>
            <a:srgbClr val="0D9488"/>
          </a:solidFill>
          <a:ln w="12700">
            <a:solidFill>
              <a:srgbClr val="0D9488"/>
            </a:solidFill>
            <a:prstDash val="solid"/>
          </a:ln>
        </p:spPr>
        <p:txBody>
          <a:bodyPr/>
          <a:lstStyle/>
          <a:p>
            <a:endParaRPr lang="en-SG"/>
          </a:p>
        </p:txBody>
      </p:sp>
      <p:sp>
        <p:nvSpPr>
          <p:cNvPr id="8" name="Text 6"/>
          <p:cNvSpPr/>
          <p:nvPr/>
        </p:nvSpPr>
        <p:spPr>
          <a:xfrm>
            <a:off x="320040" y="1325880"/>
            <a:ext cx="292608"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1</a:t>
            </a:r>
            <a:endParaRPr lang="en-US" sz="1100"/>
          </a:p>
        </p:txBody>
      </p:sp>
      <p:sp>
        <p:nvSpPr>
          <p:cNvPr id="9" name="Text 7"/>
          <p:cNvSpPr/>
          <p:nvPr/>
        </p:nvSpPr>
        <p:spPr>
          <a:xfrm>
            <a:off x="713232" y="1277550"/>
            <a:ext cx="8110728" cy="304368"/>
          </a:xfrm>
          <a:prstGeom prst="rect">
            <a:avLst/>
          </a:prstGeom>
          <a:noFill/>
          <a:ln/>
        </p:spPr>
        <p:txBody>
          <a:bodyPr wrap="square" lIns="0" tIns="0" rIns="0" bIns="0" rtlCol="0" anchor="ctr"/>
          <a:lstStyle/>
          <a:p>
            <a:pPr marL="0" indent="0">
              <a:buNone/>
            </a:pPr>
            <a:r>
              <a:rPr lang="en-US" sz="1050">
                <a:solidFill>
                  <a:srgbClr val="1E293B"/>
                </a:solidFill>
                <a:latin typeface="Calibri" pitchFamily="34" charset="0"/>
                <a:ea typeface="Calibri" pitchFamily="34" charset="-122"/>
                <a:cs typeface="Calibri" pitchFamily="34" charset="-120"/>
              </a:rPr>
              <a:t>Krizhevsky, A. (2009). Learning multiple layers of features from tiny images. Technical Report, University of Toronto.</a:t>
            </a:r>
            <a:endParaRPr lang="en-US" sz="1050"/>
          </a:p>
        </p:txBody>
      </p:sp>
      <p:sp>
        <p:nvSpPr>
          <p:cNvPr id="10" name="Text 8">
            <a:hlinkClick r:id="rId3"/>
          </p:cNvPr>
          <p:cNvSpPr/>
          <p:nvPr/>
        </p:nvSpPr>
        <p:spPr>
          <a:xfrm>
            <a:off x="713232" y="1493093"/>
            <a:ext cx="8110728" cy="201168"/>
          </a:xfrm>
          <a:prstGeom prst="rect">
            <a:avLst/>
          </a:prstGeom>
          <a:noFill/>
          <a:ln/>
        </p:spPr>
        <p:txBody>
          <a:bodyPr wrap="square" lIns="0" tIns="0" rIns="0" bIns="0" rtlCol="0" anchor="ctr"/>
          <a:lstStyle/>
          <a:p>
            <a:pPr marL="0" indent="0">
              <a:buNone/>
            </a:pPr>
            <a:r>
              <a:rPr lang="en-US" sz="900" u="sng">
                <a:solidFill>
                  <a:srgbClr val="0D948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https://www.cs.toronto.edu/~kriz/cifar.html</a:t>
            </a:r>
            <a:endParaRPr lang="en-US" sz="900"/>
          </a:p>
        </p:txBody>
      </p:sp>
      <p:sp>
        <p:nvSpPr>
          <p:cNvPr id="11" name="Shape 9"/>
          <p:cNvSpPr/>
          <p:nvPr/>
        </p:nvSpPr>
        <p:spPr>
          <a:xfrm>
            <a:off x="320040" y="1938528"/>
            <a:ext cx="292608" cy="292608"/>
          </a:xfrm>
          <a:prstGeom prst="rect">
            <a:avLst/>
          </a:prstGeom>
          <a:solidFill>
            <a:srgbClr val="0D9488"/>
          </a:solidFill>
          <a:ln w="12700">
            <a:solidFill>
              <a:srgbClr val="0D9488"/>
            </a:solidFill>
            <a:prstDash val="solid"/>
          </a:ln>
        </p:spPr>
        <p:txBody>
          <a:bodyPr/>
          <a:lstStyle/>
          <a:p>
            <a:endParaRPr lang="en-SG"/>
          </a:p>
        </p:txBody>
      </p:sp>
      <p:sp>
        <p:nvSpPr>
          <p:cNvPr id="12" name="Text 10"/>
          <p:cNvSpPr/>
          <p:nvPr/>
        </p:nvSpPr>
        <p:spPr>
          <a:xfrm>
            <a:off x="320040" y="1938528"/>
            <a:ext cx="292608"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a:t>
            </a:r>
            <a:endParaRPr lang="en-US" sz="1100"/>
          </a:p>
        </p:txBody>
      </p:sp>
      <p:sp>
        <p:nvSpPr>
          <p:cNvPr id="15" name="Shape 13"/>
          <p:cNvSpPr/>
          <p:nvPr/>
        </p:nvSpPr>
        <p:spPr>
          <a:xfrm>
            <a:off x="320040" y="2551176"/>
            <a:ext cx="292608" cy="292608"/>
          </a:xfrm>
          <a:prstGeom prst="rect">
            <a:avLst/>
          </a:prstGeom>
          <a:solidFill>
            <a:srgbClr val="0D9488"/>
          </a:solidFill>
          <a:ln w="12700">
            <a:solidFill>
              <a:srgbClr val="0D9488"/>
            </a:solidFill>
            <a:prstDash val="solid"/>
          </a:ln>
        </p:spPr>
        <p:txBody>
          <a:bodyPr/>
          <a:lstStyle/>
          <a:p>
            <a:endParaRPr lang="en-SG"/>
          </a:p>
        </p:txBody>
      </p:sp>
      <p:sp>
        <p:nvSpPr>
          <p:cNvPr id="16" name="Text 14"/>
          <p:cNvSpPr/>
          <p:nvPr/>
        </p:nvSpPr>
        <p:spPr>
          <a:xfrm>
            <a:off x="320040" y="2551176"/>
            <a:ext cx="292608"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3</a:t>
            </a:r>
            <a:endParaRPr lang="en-US" sz="1100"/>
          </a:p>
        </p:txBody>
      </p:sp>
      <p:sp>
        <p:nvSpPr>
          <p:cNvPr id="17" name="Text 15"/>
          <p:cNvSpPr/>
          <p:nvPr/>
        </p:nvSpPr>
        <p:spPr>
          <a:xfrm>
            <a:off x="713232" y="1921551"/>
            <a:ext cx="8110728" cy="265176"/>
          </a:xfrm>
          <a:prstGeom prst="rect">
            <a:avLst/>
          </a:prstGeom>
          <a:noFill/>
          <a:ln/>
        </p:spPr>
        <p:txBody>
          <a:bodyPr wrap="square" lIns="0" tIns="0" rIns="0" bIns="0" rtlCol="0" anchor="ctr"/>
          <a:lstStyle/>
          <a:p>
            <a:pPr marL="0" indent="0">
              <a:buNone/>
            </a:pPr>
            <a:r>
              <a:rPr lang="en-US" sz="1050">
                <a:solidFill>
                  <a:srgbClr val="1E293B"/>
                </a:solidFill>
                <a:latin typeface="Calibri" pitchFamily="34" charset="0"/>
                <a:ea typeface="Calibri" pitchFamily="34" charset="-122"/>
                <a:cs typeface="Calibri" pitchFamily="34" charset="-120"/>
              </a:rPr>
              <a:t>Gu, T., Dolan-Gavitt, B., &amp; Garg, S. (2017). BadNets: Identifying vulnerabilities in the machine learning model supply chain. arXiv:1708.06733.</a:t>
            </a:r>
            <a:endParaRPr lang="en-US" sz="1050"/>
          </a:p>
        </p:txBody>
      </p:sp>
      <p:sp>
        <p:nvSpPr>
          <p:cNvPr id="18" name="Text 16">
            <a:hlinkClick r:id="rId4"/>
          </p:cNvPr>
          <p:cNvSpPr/>
          <p:nvPr/>
        </p:nvSpPr>
        <p:spPr>
          <a:xfrm>
            <a:off x="713232" y="2110969"/>
            <a:ext cx="8110728" cy="201168"/>
          </a:xfrm>
          <a:prstGeom prst="rect">
            <a:avLst/>
          </a:prstGeom>
          <a:noFill/>
          <a:ln/>
        </p:spPr>
        <p:txBody>
          <a:bodyPr wrap="square" lIns="0" tIns="0" rIns="0" bIns="0" rtlCol="0" anchor="ctr"/>
          <a:lstStyle/>
          <a:p>
            <a:pPr marL="0" indent="0">
              <a:buNone/>
            </a:pPr>
            <a:r>
              <a:rPr lang="en-US" sz="900" u="sng">
                <a:solidFill>
                  <a:srgbClr val="0D948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https://arxiv.org/abs/1708.06733</a:t>
            </a:r>
            <a:endParaRPr lang="en-US" sz="900"/>
          </a:p>
        </p:txBody>
      </p:sp>
      <p:sp>
        <p:nvSpPr>
          <p:cNvPr id="28" name="Text 26"/>
          <p:cNvSpPr/>
          <p:nvPr/>
        </p:nvSpPr>
        <p:spPr>
          <a:xfrm>
            <a:off x="320040" y="4389120"/>
            <a:ext cx="292608"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6</a:t>
            </a:r>
            <a:endParaRPr lang="en-US" sz="1100"/>
          </a:p>
        </p:txBody>
      </p:sp>
      <p:sp>
        <p:nvSpPr>
          <p:cNvPr id="29" name="Text 27"/>
          <p:cNvSpPr/>
          <p:nvPr/>
        </p:nvSpPr>
        <p:spPr>
          <a:xfrm>
            <a:off x="713232" y="2521141"/>
            <a:ext cx="8110728" cy="347472"/>
          </a:xfrm>
          <a:prstGeom prst="rect">
            <a:avLst/>
          </a:prstGeom>
          <a:noFill/>
          <a:ln/>
        </p:spPr>
        <p:txBody>
          <a:bodyPr wrap="square" lIns="0" tIns="0" rIns="0" bIns="0" rtlCol="0" anchor="ctr"/>
          <a:lstStyle/>
          <a:p>
            <a:pPr marL="0" indent="0">
              <a:buNone/>
            </a:pPr>
            <a:r>
              <a:rPr lang="en-US" sz="1050">
                <a:solidFill>
                  <a:srgbClr val="1E293B"/>
                </a:solidFill>
                <a:latin typeface="Calibri" pitchFamily="34" charset="0"/>
                <a:ea typeface="Calibri" pitchFamily="34" charset="-122"/>
                <a:cs typeface="Calibri" pitchFamily="34" charset="-120"/>
              </a:rPr>
              <a:t>Anthropic. (2026). Claude Sonnet 4.6 (claude-sonnet-4-6). Python code generation for backdoor attack lab implementation, including data poisoning pipeline, SimpleCNN architecture, training loops, attack success rate evaluation, and masking defense.</a:t>
            </a:r>
            <a:endParaRPr lang="en-US" sz="1050"/>
          </a:p>
        </p:txBody>
      </p:sp>
      <p:sp>
        <p:nvSpPr>
          <p:cNvPr id="30" name="Text 28">
            <a:hlinkClick r:id="rId5"/>
          </p:cNvPr>
          <p:cNvSpPr/>
          <p:nvPr/>
        </p:nvSpPr>
        <p:spPr>
          <a:xfrm>
            <a:off x="713232" y="2832031"/>
            <a:ext cx="8110728" cy="201168"/>
          </a:xfrm>
          <a:prstGeom prst="rect">
            <a:avLst/>
          </a:prstGeom>
          <a:noFill/>
          <a:ln/>
        </p:spPr>
        <p:txBody>
          <a:bodyPr wrap="square" lIns="0" tIns="0" rIns="0" bIns="0" rtlCol="0" anchor="ctr"/>
          <a:lstStyle/>
          <a:p>
            <a:pPr marL="0" indent="0">
              <a:buNone/>
            </a:pPr>
            <a:r>
              <a:rPr lang="en-US" sz="900" u="sng">
                <a:solidFill>
                  <a:srgbClr val="0D948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https://claude.ai</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0DAD8E17DB1D6489C9F8E466F16B9AB" ma:contentTypeVersion="3" ma:contentTypeDescription="Create a new document." ma:contentTypeScope="" ma:versionID="1e322549a38500241100de457bd948cc">
  <xsd:schema xmlns:xsd="http://www.w3.org/2001/XMLSchema" xmlns:xs="http://www.w3.org/2001/XMLSchema" xmlns:p="http://schemas.microsoft.com/office/2006/metadata/properties" xmlns:ns2="63227951-1c8e-4598-94ad-0eb8f159cf89" targetNamespace="http://schemas.microsoft.com/office/2006/metadata/properties" ma:root="true" ma:fieldsID="4755908b3b1f474a8a4d71a332ae00df" ns2:_="">
    <xsd:import namespace="63227951-1c8e-4598-94ad-0eb8f159cf8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227951-1c8e-4598-94ad-0eb8f159cf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FBF90F-93B5-4E39-9F31-3F17E63A6381}">
  <ds:schemaRefs>
    <ds:schemaRef ds:uri="http://purl.org/dc/elements/1.1/"/>
    <ds:schemaRef ds:uri="http://purl.org/dc/terms/"/>
    <ds:schemaRef ds:uri="http://schemas.microsoft.com/office/2006/metadata/propertie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63227951-1c8e-4598-94ad-0eb8f159cf89"/>
    <ds:schemaRef ds:uri="http://www.w3.org/XML/1998/namespace"/>
  </ds:schemaRefs>
</ds:datastoreItem>
</file>

<file path=customXml/itemProps2.xml><?xml version="1.0" encoding="utf-8"?>
<ds:datastoreItem xmlns:ds="http://schemas.openxmlformats.org/officeDocument/2006/customXml" ds:itemID="{9BB46D53-8379-4098-9231-90507A8AC710}">
  <ds:schemaRefs>
    <ds:schemaRef ds:uri="http://schemas.microsoft.com/sharepoint/v3/contenttype/forms"/>
  </ds:schemaRefs>
</ds:datastoreItem>
</file>

<file path=customXml/itemProps3.xml><?xml version="1.0" encoding="utf-8"?>
<ds:datastoreItem xmlns:ds="http://schemas.openxmlformats.org/officeDocument/2006/customXml" ds:itemID="{D9BB11D6-32D6-48BF-B79B-3430F55C0E9C}">
  <ds:schemaRefs>
    <ds:schemaRef ds:uri="63227951-1c8e-4598-94ad-0eb8f159cf8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4381</Words>
  <Application>Microsoft Macintosh PowerPoint</Application>
  <PresentationFormat>On-screen Show (16:9)</PresentationFormat>
  <Paragraphs>345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Lab – Backdoor Attack on CIFAR-10</dc:title>
  <dc:subject>PptxGenJS Presentation</dc:subject>
  <dc:creator>SUTD Trustworthy AI</dc:creator>
  <cp:lastModifiedBy>MSTR - Sagar Pratap Singh</cp:lastModifiedBy>
  <cp:revision>2</cp:revision>
  <dcterms:created xsi:type="dcterms:W3CDTF">2026-06-06T16:38:38Z</dcterms:created>
  <dcterms:modified xsi:type="dcterms:W3CDTF">2026-06-09T10:59:06Z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0x01010020DAD8E17DB1D6489C9F8E466F16B9AB</vt:lpwstr>
  </property>
</Properties>
</file>